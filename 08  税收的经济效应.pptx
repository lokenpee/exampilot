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0" r:id="rId1"/>
  </p:sldMasterIdLst>
  <p:notesMasterIdLst>
    <p:notesMasterId r:id="rId56"/>
  </p:notesMasterIdLst>
  <p:handoutMasterIdLst>
    <p:handoutMasterId r:id="rId57"/>
  </p:handoutMasterIdLst>
  <p:sldIdLst>
    <p:sldId id="256" r:id="rId2"/>
    <p:sldId id="299" r:id="rId3"/>
    <p:sldId id="593" r:id="rId4"/>
    <p:sldId id="393" r:id="rId5"/>
    <p:sldId id="560" r:id="rId6"/>
    <p:sldId id="611" r:id="rId7"/>
    <p:sldId id="561" r:id="rId8"/>
    <p:sldId id="612" r:id="rId9"/>
    <p:sldId id="562" r:id="rId10"/>
    <p:sldId id="563" r:id="rId11"/>
    <p:sldId id="564" r:id="rId12"/>
    <p:sldId id="582" r:id="rId13"/>
    <p:sldId id="595" r:id="rId14"/>
    <p:sldId id="583" r:id="rId15"/>
    <p:sldId id="596" r:id="rId16"/>
    <p:sldId id="591" r:id="rId17"/>
    <p:sldId id="597" r:id="rId18"/>
    <p:sldId id="584" r:id="rId19"/>
    <p:sldId id="566" r:id="rId20"/>
    <p:sldId id="585" r:id="rId21"/>
    <p:sldId id="598" r:id="rId22"/>
    <p:sldId id="586" r:id="rId23"/>
    <p:sldId id="599" r:id="rId24"/>
    <p:sldId id="600" r:id="rId25"/>
    <p:sldId id="613" r:id="rId26"/>
    <p:sldId id="601" r:id="rId27"/>
    <p:sldId id="614" r:id="rId28"/>
    <p:sldId id="615" r:id="rId29"/>
    <p:sldId id="616" r:id="rId30"/>
    <p:sldId id="617" r:id="rId31"/>
    <p:sldId id="567" r:id="rId32"/>
    <p:sldId id="587" r:id="rId33"/>
    <p:sldId id="588" r:id="rId34"/>
    <p:sldId id="568" r:id="rId35"/>
    <p:sldId id="569" r:id="rId36"/>
    <p:sldId id="589" r:id="rId37"/>
    <p:sldId id="570" r:id="rId38"/>
    <p:sldId id="603" r:id="rId39"/>
    <p:sldId id="604" r:id="rId40"/>
    <p:sldId id="605" r:id="rId41"/>
    <p:sldId id="606" r:id="rId42"/>
    <p:sldId id="571" r:id="rId43"/>
    <p:sldId id="572" r:id="rId44"/>
    <p:sldId id="573" r:id="rId45"/>
    <p:sldId id="608" r:id="rId46"/>
    <p:sldId id="590" r:id="rId47"/>
    <p:sldId id="575" r:id="rId48"/>
    <p:sldId id="607" r:id="rId49"/>
    <p:sldId id="576" r:id="rId50"/>
    <p:sldId id="577" r:id="rId51"/>
    <p:sldId id="609" r:id="rId52"/>
    <p:sldId id="610" r:id="rId53"/>
    <p:sldId id="578" r:id="rId54"/>
    <p:sldId id="579" r:id="rId55"/>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6301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16" autoAdjust="0"/>
    <p:restoredTop sz="94660"/>
  </p:normalViewPr>
  <p:slideViewPr>
    <p:cSldViewPr>
      <p:cViewPr varScale="1">
        <p:scale>
          <a:sx n="64" d="100"/>
          <a:sy n="64" d="100"/>
        </p:scale>
        <p:origin x="1332"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7" d="100"/>
          <a:sy n="67" d="100"/>
        </p:scale>
        <p:origin x="3120"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190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200"/>
            </a:lvl1pPr>
          </a:lstStyle>
          <a:p>
            <a:pPr>
              <a:defRPr/>
            </a:pPr>
            <a:endParaRPr lang="en-US" altLang="zh-CN"/>
          </a:p>
        </p:txBody>
      </p:sp>
      <p:sp>
        <p:nvSpPr>
          <p:cNvPr id="251907"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251908"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sz="1200"/>
            </a:lvl1pPr>
          </a:lstStyle>
          <a:p>
            <a:pPr>
              <a:defRPr/>
            </a:pPr>
            <a:endParaRPr lang="en-US" altLang="zh-CN"/>
          </a:p>
        </p:txBody>
      </p:sp>
      <p:sp>
        <p:nvSpPr>
          <p:cNvPr id="251909"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7DEA5536-B97D-4ABC-9E7B-AE233C461BE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32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200"/>
            </a:lvl1pPr>
          </a:lstStyle>
          <a:p>
            <a:pPr>
              <a:defRPr/>
            </a:pPr>
            <a:endParaRPr lang="en-US" altLang="zh-CN"/>
          </a:p>
        </p:txBody>
      </p:sp>
      <p:sp>
        <p:nvSpPr>
          <p:cNvPr id="18329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3076"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8330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8330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sz="1200"/>
            </a:lvl1pPr>
          </a:lstStyle>
          <a:p>
            <a:pPr>
              <a:defRPr/>
            </a:pPr>
            <a:endParaRPr lang="en-US" altLang="zh-CN"/>
          </a:p>
        </p:txBody>
      </p:sp>
      <p:sp>
        <p:nvSpPr>
          <p:cNvPr id="18330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DF70D271-9B81-41F6-B7F0-7526BC830E0A}"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927100"/>
            <a:ext cx="8991600" cy="4495800"/>
            <a:chOff x="0" y="584"/>
            <a:chExt cx="5664" cy="2832"/>
          </a:xfrm>
        </p:grpSpPr>
        <p:sp>
          <p:nvSpPr>
            <p:cNvPr id="5" name="AutoShape 3"/>
            <p:cNvSpPr>
              <a:spLocks noChangeArrowheads="1"/>
            </p:cNvSpPr>
            <p:nvPr userDrawn="1"/>
          </p:nvSpPr>
          <p:spPr bwMode="auto">
            <a:xfrm>
              <a:off x="432" y="1304"/>
              <a:ext cx="4656" cy="2112"/>
            </a:xfrm>
            <a:prstGeom prst="roundRect">
              <a:avLst>
                <a:gd name="adj" fmla="val 1666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sp>
          <p:nvSpPr>
            <p:cNvPr id="6" name="Rectangle 4"/>
            <p:cNvSpPr>
              <a:spLocks noChangeArrowheads="1"/>
            </p:cNvSpPr>
            <p:nvPr userDrawn="1"/>
          </p:nvSpPr>
          <p:spPr bwMode="blackWhite">
            <a:xfrm>
              <a:off x="144" y="584"/>
              <a:ext cx="4512" cy="624"/>
            </a:xfrm>
            <a:prstGeom prst="rect">
              <a:avLst/>
            </a:prstGeom>
            <a:solidFill>
              <a:schemeClr val="bg1"/>
            </a:solidFill>
            <a:ln w="5715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sp>
          <p:nvSpPr>
            <p:cNvPr id="7" name="AutoShape 5"/>
            <p:cNvSpPr>
              <a:spLocks noChangeArrowheads="1"/>
            </p:cNvSpPr>
            <p:nvPr userDrawn="1"/>
          </p:nvSpPr>
          <p:spPr bwMode="blackWhite">
            <a:xfrm>
              <a:off x="0" y="872"/>
              <a:ext cx="5664" cy="1152"/>
            </a:xfrm>
            <a:custGeom>
              <a:avLst/>
              <a:gdLst>
                <a:gd name="T0" fmla="*/ 0 w 4917"/>
                <a:gd name="T1" fmla="*/ 0 h 1000"/>
                <a:gd name="T2" fmla="*/ 319051 w 4917"/>
                <a:gd name="T3" fmla="*/ 0 h 1000"/>
                <a:gd name="T4" fmla="*/ 355172 w 4917"/>
                <a:gd name="T5" fmla="*/ 7364 h 1000"/>
                <a:gd name="T6" fmla="*/ 319051 w 4917"/>
                <a:gd name="T7" fmla="*/ 14702 h 1000"/>
                <a:gd name="T8" fmla="*/ 0 w 4917"/>
                <a:gd name="T9" fmla="*/ 14702 h 1000"/>
                <a:gd name="T10" fmla="*/ 0 60000 65536"/>
                <a:gd name="T11" fmla="*/ 0 60000 65536"/>
                <a:gd name="T12" fmla="*/ 0 60000 65536"/>
                <a:gd name="T13" fmla="*/ 0 60000 65536"/>
                <a:gd name="T14" fmla="*/ 0 60000 65536"/>
                <a:gd name="T15" fmla="*/ 0 w 4917"/>
                <a:gd name="T16" fmla="*/ 0 h 1000"/>
                <a:gd name="T17" fmla="*/ 2459 w 4917"/>
                <a:gd name="T18" fmla="*/ 1000 h 1000"/>
              </a:gdLst>
              <a:ahLst/>
              <a:cxnLst>
                <a:cxn ang="T10">
                  <a:pos x="T0" y="T1"/>
                </a:cxn>
                <a:cxn ang="T11">
                  <a:pos x="T2" y="T3"/>
                </a:cxn>
                <a:cxn ang="T12">
                  <a:pos x="T4" y="T5"/>
                </a:cxn>
                <a:cxn ang="T13">
                  <a:pos x="T6" y="T7"/>
                </a:cxn>
                <a:cxn ang="T14">
                  <a:pos x="T8" y="T9"/>
                </a:cxn>
              </a:cxnLst>
              <a:rect l="T15" t="T16" r="T17" b="T18"/>
              <a:pathLst>
                <a:path w="4917" h="1000">
                  <a:moveTo>
                    <a:pt x="0" y="0"/>
                  </a:moveTo>
                  <a:lnTo>
                    <a:pt x="4417" y="0"/>
                  </a:lnTo>
                  <a:cubicBezTo>
                    <a:pt x="4693" y="0"/>
                    <a:pt x="4917" y="223"/>
                    <a:pt x="4917" y="500"/>
                  </a:cubicBezTo>
                  <a:cubicBezTo>
                    <a:pt x="4917" y="776"/>
                    <a:pt x="4693" y="999"/>
                    <a:pt x="4417" y="1000"/>
                  </a:cubicBezTo>
                  <a:lnTo>
                    <a:pt x="0" y="100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 name="Line 6"/>
            <p:cNvSpPr>
              <a:spLocks noChangeShapeType="1"/>
            </p:cNvSpPr>
            <p:nvPr userDrawn="1"/>
          </p:nvSpPr>
          <p:spPr bwMode="auto">
            <a:xfrm>
              <a:off x="0" y="1928"/>
              <a:ext cx="5232" cy="0"/>
            </a:xfrm>
            <a:prstGeom prst="line">
              <a:avLst/>
            </a:prstGeom>
            <a:noFill/>
            <a:ln w="508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9" name="Text Box 12"/>
          <p:cNvSpPr txBox="1">
            <a:spLocks noChangeArrowheads="1"/>
          </p:cNvSpPr>
          <p:nvPr userDrawn="1"/>
        </p:nvSpPr>
        <p:spPr bwMode="auto">
          <a:xfrm>
            <a:off x="7343775" y="6613525"/>
            <a:ext cx="180022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spcBef>
                <a:spcPct val="20000"/>
              </a:spcBef>
              <a:spcAft>
                <a:spcPct val="20000"/>
              </a:spcAft>
              <a:defRPr/>
            </a:pPr>
            <a:r>
              <a:rPr lang="zh-CN" altLang="en-US" sz="1000" smtClean="0"/>
              <a:t>南京理工大学经济管理学院</a:t>
            </a:r>
          </a:p>
        </p:txBody>
      </p:sp>
      <p:sp>
        <p:nvSpPr>
          <p:cNvPr id="163847" name="Rectangle 7"/>
          <p:cNvSpPr>
            <a:spLocks noGrp="1" noChangeArrowheads="1"/>
          </p:cNvSpPr>
          <p:nvPr>
            <p:ph type="ctrTitle"/>
          </p:nvPr>
        </p:nvSpPr>
        <p:spPr>
          <a:xfrm>
            <a:off x="228600" y="1427163"/>
            <a:ext cx="8077200" cy="1609725"/>
          </a:xfrm>
        </p:spPr>
        <p:txBody>
          <a:bodyPr/>
          <a:lstStyle>
            <a:lvl1pPr>
              <a:defRPr sz="4600"/>
            </a:lvl1pPr>
          </a:lstStyle>
          <a:p>
            <a:pPr lvl="0"/>
            <a:r>
              <a:rPr lang="zh-CN" altLang="en-US" noProof="0" smtClean="0"/>
              <a:t>单击此处编辑母版标题样式</a:t>
            </a:r>
          </a:p>
        </p:txBody>
      </p:sp>
      <p:sp>
        <p:nvSpPr>
          <p:cNvPr id="163848" name="Rectangle 8"/>
          <p:cNvSpPr>
            <a:spLocks noGrp="1" noChangeArrowheads="1"/>
          </p:cNvSpPr>
          <p:nvPr>
            <p:ph type="subTitle" idx="1"/>
          </p:nvPr>
        </p:nvSpPr>
        <p:spPr>
          <a:xfrm>
            <a:off x="1066800" y="3441700"/>
            <a:ext cx="6629400" cy="1676400"/>
          </a:xfrm>
        </p:spPr>
        <p:txBody>
          <a:bodyPr/>
          <a:lstStyle>
            <a:lvl1pPr marL="0" indent="0">
              <a:buFont typeface="Wingdings" panose="05000000000000000000" pitchFamily="2" charset="2"/>
              <a:buNone/>
              <a:defRPr/>
            </a:lvl1pPr>
          </a:lstStyle>
          <a:p>
            <a:pPr lvl="0"/>
            <a:r>
              <a:rPr lang="zh-CN" altLang="en-US" noProof="0" smtClean="0"/>
              <a:t>单击此处编辑母版副标题样式</a:t>
            </a:r>
          </a:p>
        </p:txBody>
      </p:sp>
      <p:sp>
        <p:nvSpPr>
          <p:cNvPr id="10" name="Rectangle 9"/>
          <p:cNvSpPr>
            <a:spLocks noGrp="1" noChangeArrowheads="1"/>
          </p:cNvSpPr>
          <p:nvPr>
            <p:ph type="dt" sz="half" idx="10"/>
          </p:nvPr>
        </p:nvSpPr>
        <p:spPr>
          <a:xfrm>
            <a:off x="457200" y="6248400"/>
            <a:ext cx="2133600" cy="471488"/>
          </a:xfrm>
        </p:spPr>
        <p:txBody>
          <a:bodyPr/>
          <a:lstStyle>
            <a:lvl1pPr>
              <a:defRPr/>
            </a:lvl1pPr>
          </a:lstStyle>
          <a:p>
            <a:pPr>
              <a:defRPr/>
            </a:pPr>
            <a:endParaRPr lang="en-US" altLang="zh-CN"/>
          </a:p>
        </p:txBody>
      </p:sp>
      <p:sp>
        <p:nvSpPr>
          <p:cNvPr id="11" name="Rectangle 10"/>
          <p:cNvSpPr>
            <a:spLocks noGrp="1" noChangeArrowheads="1"/>
          </p:cNvSpPr>
          <p:nvPr>
            <p:ph type="ftr" sz="quarter" idx="11"/>
          </p:nvPr>
        </p:nvSpPr>
        <p:spPr>
          <a:xfrm>
            <a:off x="3124200" y="6253163"/>
            <a:ext cx="2895600" cy="457200"/>
          </a:xfrm>
        </p:spPr>
        <p:txBody>
          <a:bodyPr/>
          <a:lstStyle>
            <a:lvl1pPr>
              <a:defRPr/>
            </a:lvl1pPr>
          </a:lstStyle>
          <a:p>
            <a:pPr>
              <a:defRPr/>
            </a:pPr>
            <a:endParaRPr lang="en-US" altLang="zh-CN"/>
          </a:p>
        </p:txBody>
      </p:sp>
      <p:sp>
        <p:nvSpPr>
          <p:cNvPr id="12" name="Rectangle 11"/>
          <p:cNvSpPr>
            <a:spLocks noGrp="1" noChangeArrowheads="1"/>
          </p:cNvSpPr>
          <p:nvPr>
            <p:ph type="sldNum" sz="quarter" idx="12"/>
          </p:nvPr>
        </p:nvSpPr>
        <p:spPr>
          <a:xfrm>
            <a:off x="6553200" y="6248400"/>
            <a:ext cx="2133600" cy="471488"/>
          </a:xfrm>
        </p:spPr>
        <p:txBody>
          <a:bodyPr/>
          <a:lstStyle>
            <a:lvl1pPr>
              <a:defRPr/>
            </a:lvl1pPr>
          </a:lstStyle>
          <a:p>
            <a:pPr>
              <a:defRPr/>
            </a:pPr>
            <a:fld id="{4C576A4E-7105-47CE-BF49-4A698C7108C1}" type="slidenum">
              <a:rPr lang="en-US" altLang="zh-CN"/>
              <a:pPr>
                <a:defRPr/>
              </a:pPr>
              <a:t>‹#›</a:t>
            </a:fld>
            <a:endParaRPr lang="en-US" altLang="zh-CN"/>
          </a:p>
        </p:txBody>
      </p:sp>
    </p:spTree>
    <p:extLst>
      <p:ext uri="{BB962C8B-B14F-4D97-AF65-F5344CB8AC3E}">
        <p14:creationId xmlns:p14="http://schemas.microsoft.com/office/powerpoint/2010/main" val="426721582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
          <p:cNvSpPr>
            <a:spLocks noGrp="1" noChangeArrowheads="1"/>
          </p:cNvSpPr>
          <p:nvPr>
            <p:ph type="sldNum" sz="quarter" idx="12"/>
          </p:nvPr>
        </p:nvSpPr>
        <p:spPr>
          <a:ln/>
        </p:spPr>
        <p:txBody>
          <a:bodyPr/>
          <a:lstStyle>
            <a:lvl1pPr>
              <a:defRPr/>
            </a:lvl1pPr>
          </a:lstStyle>
          <a:p>
            <a:pPr>
              <a:defRPr/>
            </a:pPr>
            <a:fld id="{30865828-10BE-4CFA-A9A0-62C7DA0857E2}" type="slidenum">
              <a:rPr lang="en-US" altLang="zh-CN"/>
              <a:pPr>
                <a:defRPr/>
              </a:pPr>
              <a:t>‹#›</a:t>
            </a:fld>
            <a:endParaRPr lang="en-US" altLang="zh-CN"/>
          </a:p>
        </p:txBody>
      </p:sp>
    </p:spTree>
    <p:extLst>
      <p:ext uri="{BB962C8B-B14F-4D97-AF65-F5344CB8AC3E}">
        <p14:creationId xmlns:p14="http://schemas.microsoft.com/office/powerpoint/2010/main" val="275770887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p>
        </p:txBody>
      </p:sp>
      <p:sp>
        <p:nvSpPr>
          <p:cNvPr id="4"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
          <p:cNvSpPr>
            <a:spLocks noGrp="1" noChangeArrowheads="1"/>
          </p:cNvSpPr>
          <p:nvPr>
            <p:ph type="sldNum" sz="quarter" idx="12"/>
          </p:nvPr>
        </p:nvSpPr>
        <p:spPr>
          <a:ln/>
        </p:spPr>
        <p:txBody>
          <a:bodyPr/>
          <a:lstStyle>
            <a:lvl1pPr>
              <a:defRPr/>
            </a:lvl1pPr>
          </a:lstStyle>
          <a:p>
            <a:pPr>
              <a:defRPr/>
            </a:pPr>
            <a:fld id="{D28E6AA9-5995-4A5B-AF7B-6454FC0B9263}" type="slidenum">
              <a:rPr lang="en-US" altLang="zh-CN"/>
              <a:pPr>
                <a:defRPr/>
              </a:pPr>
              <a:t>‹#›</a:t>
            </a:fld>
            <a:endParaRPr lang="en-US" altLang="zh-CN"/>
          </a:p>
        </p:txBody>
      </p:sp>
    </p:spTree>
    <p:extLst>
      <p:ext uri="{BB962C8B-B14F-4D97-AF65-F5344CB8AC3E}">
        <p14:creationId xmlns:p14="http://schemas.microsoft.com/office/powerpoint/2010/main" val="340482648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0"/>
            <a:ext cx="3886200" cy="44196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3886200" cy="44196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
          <p:cNvSpPr>
            <a:spLocks noGrp="1" noChangeArrowheads="1"/>
          </p:cNvSpPr>
          <p:nvPr>
            <p:ph type="sldNum" sz="quarter" idx="12"/>
          </p:nvPr>
        </p:nvSpPr>
        <p:spPr>
          <a:ln/>
        </p:spPr>
        <p:txBody>
          <a:bodyPr/>
          <a:lstStyle>
            <a:lvl1pPr>
              <a:defRPr/>
            </a:lvl1pPr>
          </a:lstStyle>
          <a:p>
            <a:pPr>
              <a:defRPr/>
            </a:pPr>
            <a:fld id="{D0E3C9E5-84A8-4187-B578-1478790C4A92}" type="slidenum">
              <a:rPr lang="en-US" altLang="zh-CN"/>
              <a:pPr>
                <a:defRPr/>
              </a:pPr>
              <a:t>‹#›</a:t>
            </a:fld>
            <a:endParaRPr lang="en-US" altLang="zh-CN"/>
          </a:p>
        </p:txBody>
      </p:sp>
    </p:spTree>
    <p:extLst>
      <p:ext uri="{BB962C8B-B14F-4D97-AF65-F5344CB8AC3E}">
        <p14:creationId xmlns:p14="http://schemas.microsoft.com/office/powerpoint/2010/main" val="300227505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0"/>
          <p:cNvSpPr>
            <a:spLocks noGrp="1" noChangeArrowheads="1"/>
          </p:cNvSpPr>
          <p:nvPr>
            <p:ph type="sldNum" sz="quarter" idx="12"/>
          </p:nvPr>
        </p:nvSpPr>
        <p:spPr>
          <a:ln/>
        </p:spPr>
        <p:txBody>
          <a:bodyPr/>
          <a:lstStyle>
            <a:lvl1pPr>
              <a:defRPr/>
            </a:lvl1pPr>
          </a:lstStyle>
          <a:p>
            <a:pPr>
              <a:defRPr/>
            </a:pPr>
            <a:fld id="{3AEBD738-991E-4E1A-AA1F-6CEB1B9117CF}" type="slidenum">
              <a:rPr lang="en-US" altLang="zh-CN"/>
              <a:pPr>
                <a:defRPr/>
              </a:pPr>
              <a:t>‹#›</a:t>
            </a:fld>
            <a:endParaRPr lang="en-US" altLang="zh-CN"/>
          </a:p>
        </p:txBody>
      </p:sp>
    </p:spTree>
    <p:extLst>
      <p:ext uri="{BB962C8B-B14F-4D97-AF65-F5344CB8AC3E}">
        <p14:creationId xmlns:p14="http://schemas.microsoft.com/office/powerpoint/2010/main" val="266732944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0"/>
          <p:cNvSpPr>
            <a:spLocks noGrp="1" noChangeArrowheads="1"/>
          </p:cNvSpPr>
          <p:nvPr>
            <p:ph type="sldNum" sz="quarter" idx="12"/>
          </p:nvPr>
        </p:nvSpPr>
        <p:spPr>
          <a:ln/>
        </p:spPr>
        <p:txBody>
          <a:bodyPr/>
          <a:lstStyle>
            <a:lvl1pPr>
              <a:defRPr/>
            </a:lvl1pPr>
          </a:lstStyle>
          <a:p>
            <a:pPr>
              <a:defRPr/>
            </a:pPr>
            <a:fld id="{2E89D326-5B74-4845-82A8-14A9B5E2D222}" type="slidenum">
              <a:rPr lang="en-US" altLang="zh-CN"/>
              <a:pPr>
                <a:defRPr/>
              </a:pPr>
              <a:t>‹#›</a:t>
            </a:fld>
            <a:endParaRPr lang="en-US" altLang="zh-CN"/>
          </a:p>
        </p:txBody>
      </p:sp>
    </p:spTree>
    <p:extLst>
      <p:ext uri="{BB962C8B-B14F-4D97-AF65-F5344CB8AC3E}">
        <p14:creationId xmlns:p14="http://schemas.microsoft.com/office/powerpoint/2010/main" val="352232610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0"/>
          <p:cNvSpPr>
            <a:spLocks noGrp="1" noChangeArrowheads="1"/>
          </p:cNvSpPr>
          <p:nvPr>
            <p:ph type="sldNum" sz="quarter" idx="12"/>
          </p:nvPr>
        </p:nvSpPr>
        <p:spPr>
          <a:ln/>
        </p:spPr>
        <p:txBody>
          <a:bodyPr/>
          <a:lstStyle>
            <a:lvl1pPr>
              <a:defRPr/>
            </a:lvl1pPr>
          </a:lstStyle>
          <a:p>
            <a:pPr>
              <a:defRPr/>
            </a:pPr>
            <a:fld id="{AA0F170C-530B-421F-BB5F-908FE949CFD4}" type="slidenum">
              <a:rPr lang="en-US" altLang="zh-CN"/>
              <a:pPr>
                <a:defRPr/>
              </a:pPr>
              <a:t>‹#›</a:t>
            </a:fld>
            <a:endParaRPr lang="en-US" altLang="zh-CN"/>
          </a:p>
        </p:txBody>
      </p:sp>
    </p:spTree>
    <p:extLst>
      <p:ext uri="{BB962C8B-B14F-4D97-AF65-F5344CB8AC3E}">
        <p14:creationId xmlns:p14="http://schemas.microsoft.com/office/powerpoint/2010/main" val="416959364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
          <p:cNvSpPr>
            <a:spLocks noGrp="1" noChangeArrowheads="1"/>
          </p:cNvSpPr>
          <p:nvPr>
            <p:ph type="sldNum" sz="quarter" idx="12"/>
          </p:nvPr>
        </p:nvSpPr>
        <p:spPr>
          <a:ln/>
        </p:spPr>
        <p:txBody>
          <a:bodyPr/>
          <a:lstStyle>
            <a:lvl1pPr>
              <a:defRPr/>
            </a:lvl1pPr>
          </a:lstStyle>
          <a:p>
            <a:pPr>
              <a:defRPr/>
            </a:pPr>
            <a:fld id="{354C3626-7419-4CC4-A159-81BA2250F965}" type="slidenum">
              <a:rPr lang="en-US" altLang="zh-CN"/>
              <a:pPr>
                <a:defRPr/>
              </a:pPr>
              <a:t>‹#›</a:t>
            </a:fld>
            <a:endParaRPr lang="en-US" altLang="zh-CN"/>
          </a:p>
        </p:txBody>
      </p:sp>
    </p:spTree>
    <p:extLst>
      <p:ext uri="{BB962C8B-B14F-4D97-AF65-F5344CB8AC3E}">
        <p14:creationId xmlns:p14="http://schemas.microsoft.com/office/powerpoint/2010/main" val="183620918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
          <p:cNvSpPr>
            <a:spLocks noGrp="1" noChangeArrowheads="1"/>
          </p:cNvSpPr>
          <p:nvPr>
            <p:ph type="sldNum" sz="quarter" idx="12"/>
          </p:nvPr>
        </p:nvSpPr>
        <p:spPr>
          <a:ln/>
        </p:spPr>
        <p:txBody>
          <a:bodyPr/>
          <a:lstStyle>
            <a:lvl1pPr>
              <a:defRPr/>
            </a:lvl1pPr>
          </a:lstStyle>
          <a:p>
            <a:pPr>
              <a:defRPr/>
            </a:pPr>
            <a:fld id="{0E63CA61-0D6E-4A4A-8E13-CBE2471B765A}" type="slidenum">
              <a:rPr lang="en-US" altLang="zh-CN"/>
              <a:pPr>
                <a:defRPr/>
              </a:pPr>
              <a:t>‹#›</a:t>
            </a:fld>
            <a:endParaRPr lang="en-US" altLang="zh-CN"/>
          </a:p>
        </p:txBody>
      </p:sp>
    </p:spTree>
    <p:extLst>
      <p:ext uri="{BB962C8B-B14F-4D97-AF65-F5344CB8AC3E}">
        <p14:creationId xmlns:p14="http://schemas.microsoft.com/office/powerpoint/2010/main" val="3761091703"/>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
          <p:cNvSpPr>
            <a:spLocks noGrp="1" noChangeArrowheads="1"/>
          </p:cNvSpPr>
          <p:nvPr>
            <p:ph type="sldNum" sz="quarter" idx="12"/>
          </p:nvPr>
        </p:nvSpPr>
        <p:spPr>
          <a:ln/>
        </p:spPr>
        <p:txBody>
          <a:bodyPr/>
          <a:lstStyle>
            <a:lvl1pPr>
              <a:defRPr/>
            </a:lvl1pPr>
          </a:lstStyle>
          <a:p>
            <a:pPr>
              <a:defRPr/>
            </a:pPr>
            <a:fld id="{3E3863EA-FD11-401D-A9E0-F6690A233AF4}" type="slidenum">
              <a:rPr lang="en-US" altLang="zh-CN"/>
              <a:pPr>
                <a:defRPr/>
              </a:pPr>
              <a:t>‹#›</a:t>
            </a:fld>
            <a:endParaRPr lang="en-US" altLang="zh-CN"/>
          </a:p>
        </p:txBody>
      </p:sp>
    </p:spTree>
    <p:extLst>
      <p:ext uri="{BB962C8B-B14F-4D97-AF65-F5344CB8AC3E}">
        <p14:creationId xmlns:p14="http://schemas.microsoft.com/office/powerpoint/2010/main" val="297154524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0013" y="228600"/>
            <a:ext cx="2084387" cy="5791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95263" y="228600"/>
            <a:ext cx="6102350" cy="57912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
          <p:cNvSpPr>
            <a:spLocks noGrp="1" noChangeArrowheads="1"/>
          </p:cNvSpPr>
          <p:nvPr>
            <p:ph type="sldNum" sz="quarter" idx="12"/>
          </p:nvPr>
        </p:nvSpPr>
        <p:spPr>
          <a:ln/>
        </p:spPr>
        <p:txBody>
          <a:bodyPr/>
          <a:lstStyle>
            <a:lvl1pPr>
              <a:defRPr/>
            </a:lvl1pPr>
          </a:lstStyle>
          <a:p>
            <a:pPr>
              <a:defRPr/>
            </a:pPr>
            <a:fld id="{3B655899-8FC4-4EC9-B49B-CC1388262A09}" type="slidenum">
              <a:rPr lang="en-US" altLang="zh-CN"/>
              <a:pPr>
                <a:defRPr/>
              </a:pPr>
              <a:t>‹#›</a:t>
            </a:fld>
            <a:endParaRPr lang="en-US" altLang="zh-CN"/>
          </a:p>
        </p:txBody>
      </p:sp>
    </p:spTree>
    <p:extLst>
      <p:ext uri="{BB962C8B-B14F-4D97-AF65-F5344CB8AC3E}">
        <p14:creationId xmlns:p14="http://schemas.microsoft.com/office/powerpoint/2010/main" val="101513823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152400"/>
            <a:ext cx="8686800" cy="6096000"/>
            <a:chOff x="0" y="96"/>
            <a:chExt cx="5472" cy="3840"/>
          </a:xfrm>
        </p:grpSpPr>
        <p:sp>
          <p:nvSpPr>
            <p:cNvPr id="1033" name="AutoShape 3"/>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latin typeface="Times New Roman" panose="02020603050405020304" pitchFamily="18" charset="0"/>
              </a:endParaRPr>
            </a:p>
          </p:txBody>
        </p:sp>
        <p:sp>
          <p:nvSpPr>
            <p:cNvPr id="1034" name="AutoShape 4"/>
            <p:cNvSpPr>
              <a:spLocks noChangeArrowheads="1"/>
            </p:cNvSpPr>
            <p:nvPr/>
          </p:nvSpPr>
          <p:spPr bwMode="blackWhite">
            <a:xfrm>
              <a:off x="0" y="96"/>
              <a:ext cx="5376" cy="768"/>
            </a:xfrm>
            <a:custGeom>
              <a:avLst/>
              <a:gdLst>
                <a:gd name="T0" fmla="*/ 0 w 7000"/>
                <a:gd name="T1" fmla="*/ 0 h 1000"/>
                <a:gd name="T2" fmla="*/ 302 w 7000"/>
                <a:gd name="T3" fmla="*/ 0 h 1000"/>
                <a:gd name="T4" fmla="*/ 325 w 7000"/>
                <a:gd name="T5" fmla="*/ 4 h 1000"/>
                <a:gd name="T6" fmla="*/ 302 w 7000"/>
                <a:gd name="T7" fmla="*/ 7 h 1000"/>
                <a:gd name="T8" fmla="*/ 0 w 7000"/>
                <a:gd name="T9" fmla="*/ 7 h 1000"/>
                <a:gd name="T10" fmla="*/ 0 60000 65536"/>
                <a:gd name="T11" fmla="*/ 0 60000 65536"/>
                <a:gd name="T12" fmla="*/ 0 60000 65536"/>
                <a:gd name="T13" fmla="*/ 0 60000 65536"/>
                <a:gd name="T14" fmla="*/ 0 60000 65536"/>
                <a:gd name="T15" fmla="*/ 0 w 7000"/>
                <a:gd name="T16" fmla="*/ 0 h 1000"/>
                <a:gd name="T17" fmla="*/ 3500 w 7000"/>
                <a:gd name="T18" fmla="*/ 1000 h 1000"/>
              </a:gdLst>
              <a:ahLst/>
              <a:cxnLst>
                <a:cxn ang="T10">
                  <a:pos x="T0" y="T1"/>
                </a:cxn>
                <a:cxn ang="T11">
                  <a:pos x="T2" y="T3"/>
                </a:cxn>
                <a:cxn ang="T12">
                  <a:pos x="T4" y="T5"/>
                </a:cxn>
                <a:cxn ang="T13">
                  <a:pos x="T6" y="T7"/>
                </a:cxn>
                <a:cxn ang="T14">
                  <a:pos x="T8" y="T9"/>
                </a:cxn>
              </a:cxnLst>
              <a:rect l="T15" t="T16" r="T17" b="T18"/>
              <a:pathLst>
                <a:path w="7000" h="1000">
                  <a:moveTo>
                    <a:pt x="0" y="0"/>
                  </a:moveTo>
                  <a:lnTo>
                    <a:pt x="6500" y="0"/>
                  </a:lnTo>
                  <a:cubicBezTo>
                    <a:pt x="6776" y="0"/>
                    <a:pt x="7000" y="223"/>
                    <a:pt x="7000" y="500"/>
                  </a:cubicBezTo>
                  <a:cubicBezTo>
                    <a:pt x="7000" y="776"/>
                    <a:pt x="6776" y="999"/>
                    <a:pt x="6500" y="1000"/>
                  </a:cubicBezTo>
                  <a:lnTo>
                    <a:pt x="0" y="100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5" name="Line 5"/>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27" name="Rectangle 6"/>
          <p:cNvSpPr>
            <a:spLocks noGrp="1" noChangeArrowheads="1"/>
          </p:cNvSpPr>
          <p:nvPr>
            <p:ph type="title"/>
          </p:nvPr>
        </p:nvSpPr>
        <p:spPr bwMode="auto">
          <a:xfrm>
            <a:off x="195263" y="228600"/>
            <a:ext cx="801528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8" name="Rectangle 7"/>
          <p:cNvSpPr>
            <a:spLocks noGrp="1" noChangeArrowheads="1"/>
          </p:cNvSpPr>
          <p:nvPr>
            <p:ph type="body" idx="1"/>
          </p:nvPr>
        </p:nvSpPr>
        <p:spPr bwMode="auto">
          <a:xfrm>
            <a:off x="609600" y="1600200"/>
            <a:ext cx="79248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62824" name="Rectangle 8"/>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sz="1200"/>
            </a:lvl1pPr>
          </a:lstStyle>
          <a:p>
            <a:pPr>
              <a:defRPr/>
            </a:pPr>
            <a:endParaRPr lang="en-US" altLang="zh-CN"/>
          </a:p>
        </p:txBody>
      </p:sp>
      <p:sp>
        <p:nvSpPr>
          <p:cNvPr id="162825" name="Rectangle 9"/>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lvl1pPr>
          </a:lstStyle>
          <a:p>
            <a:pPr>
              <a:defRPr/>
            </a:pPr>
            <a:endParaRPr lang="en-US" altLang="zh-CN"/>
          </a:p>
        </p:txBody>
      </p:sp>
      <p:sp>
        <p:nvSpPr>
          <p:cNvPr id="162826" name="Rectangle 10"/>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pPr>
              <a:defRPr/>
            </a:pPr>
            <a:fld id="{D4EBDA52-3E10-41F1-A6F1-48518F0D1143}" type="slidenum">
              <a:rPr lang="en-US" altLang="zh-CN"/>
              <a:pPr>
                <a:defRPr/>
              </a:pPr>
              <a:t>‹#›</a:t>
            </a:fld>
            <a:endParaRPr lang="en-US" altLang="zh-CN"/>
          </a:p>
        </p:txBody>
      </p:sp>
      <p:sp>
        <p:nvSpPr>
          <p:cNvPr id="1032" name="Text Box 11"/>
          <p:cNvSpPr txBox="1">
            <a:spLocks noChangeArrowheads="1"/>
          </p:cNvSpPr>
          <p:nvPr userDrawn="1"/>
        </p:nvSpPr>
        <p:spPr bwMode="auto">
          <a:xfrm>
            <a:off x="7415213" y="6613525"/>
            <a:ext cx="1728787"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spcBef>
                <a:spcPct val="20000"/>
              </a:spcBef>
              <a:spcAft>
                <a:spcPct val="20000"/>
              </a:spcAft>
              <a:defRPr/>
            </a:pPr>
            <a:r>
              <a:rPr lang="zh-CN" altLang="en-US" sz="1000" smtClean="0"/>
              <a:t>南京理工大学经济管理学院</a:t>
            </a:r>
          </a:p>
        </p:txBody>
      </p:sp>
    </p:spTree>
  </p:cSld>
  <p:clrMap bg1="dk2" tx1="lt1" bg2="dk1" tx2="lt2" accent1="accent1" accent2="accent2" accent3="accent3" accent4="accent4" accent5="accent5" accent6="accent6" hlink="hlink" folHlink="folHlink"/>
  <p:sldLayoutIdLst>
    <p:sldLayoutId id="2147483999" r:id="rId1"/>
    <p:sldLayoutId id="2147483989" r:id="rId2"/>
    <p:sldLayoutId id="2147483990" r:id="rId3"/>
    <p:sldLayoutId id="2147483991" r:id="rId4"/>
    <p:sldLayoutId id="2147483992" r:id="rId5"/>
    <p:sldLayoutId id="2147483993" r:id="rId6"/>
    <p:sldLayoutId id="2147483994" r:id="rId7"/>
    <p:sldLayoutId id="2147483995" r:id="rId8"/>
    <p:sldLayoutId id="2147483996" r:id="rId9"/>
    <p:sldLayoutId id="2147483997" r:id="rId10"/>
    <p:sldLayoutId id="2147483998" r:id="rId11"/>
  </p:sldLayoutIdLst>
  <p:transition/>
  <p:timing>
    <p:tnLst>
      <p:par>
        <p:cTn id="1" dur="indefinite" restart="never" nodeType="tmRoot"/>
      </p:par>
    </p:tnLst>
  </p:timing>
  <p:txStyles>
    <p:titleStyle>
      <a:lvl1pPr algn="l" rtl="0" eaLnBrk="0" fontAlgn="base" hangingPunct="0">
        <a:spcBef>
          <a:spcPct val="0"/>
        </a:spcBef>
        <a:spcAft>
          <a:spcPct val="0"/>
        </a:spcAft>
        <a:defRPr sz="4200" kern="1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200">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200">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200">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200">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200">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200">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2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0000"/>
        <a:buFont typeface="Wingdings" panose="05000000000000000000" pitchFamily="2" charset="2"/>
        <a:buChar char="l"/>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hlink"/>
        </a:buClr>
        <a:buSzPct val="60000"/>
        <a:buFont typeface="Wingdings" panose="05000000000000000000" pitchFamily="2" charset="2"/>
        <a:buChar char="l"/>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bg2"/>
        </a:buClr>
        <a:buSzPct val="40000"/>
        <a:buFont typeface="Wingdings" panose="05000000000000000000" pitchFamily="2" charset="2"/>
        <a:buChar char="l"/>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5.xml"/><Relationship Id="rId1" Type="http://schemas.openxmlformats.org/officeDocument/2006/relationships/slideLayout" Target="../slideLayouts/slideLayout2.xml"/><Relationship Id="rId5" Type="http://schemas.openxmlformats.org/officeDocument/2006/relationships/slide" Target="slide42.xml"/><Relationship Id="rId4" Type="http://schemas.openxmlformats.org/officeDocument/2006/relationships/slide" Target="slide10.xml"/></Relationships>
</file>

<file path=ppt/slides/_rels/slide5.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7.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slide" Target="slide11.xml"/><Relationship Id="rId1" Type="http://schemas.openxmlformats.org/officeDocument/2006/relationships/slideLayout" Target="../slideLayouts/slideLayout2.xml"/><Relationship Id="rId5" Type="http://schemas.openxmlformats.org/officeDocument/2006/relationships/slide" Target="slide37.xml"/><Relationship Id="rId4" Type="http://schemas.openxmlformats.org/officeDocument/2006/relationships/slide" Target="slide3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eaLnBrk="1" hangingPunct="1">
              <a:defRPr/>
            </a:pPr>
            <a:r>
              <a:rPr lang="en-US" altLang="zh-CN" sz="4200" b="1" smtClean="0"/>
              <a:t>                    </a:t>
            </a:r>
            <a:br>
              <a:rPr lang="en-US" altLang="zh-CN" sz="4200" b="1" smtClean="0"/>
            </a:br>
            <a:r>
              <a:rPr lang="en-US" altLang="zh-CN" sz="4200" b="1" smtClean="0"/>
              <a:t>     </a:t>
            </a:r>
            <a:r>
              <a:rPr lang="zh-CN" altLang="en-US" sz="6600" b="1" smtClean="0">
                <a:solidFill>
                  <a:schemeClr val="hlink"/>
                </a:solidFill>
              </a:rPr>
              <a:t>财政学</a:t>
            </a:r>
            <a:endParaRPr lang="zh-CN" altLang="en-US" sz="4200" b="1" smtClean="0">
              <a:solidFill>
                <a:schemeClr val="hlink"/>
              </a:solidFill>
              <a:effectLst>
                <a:outerShdw blurRad="38100" dist="38100" dir="2700000" algn="tl">
                  <a:srgbClr val="000000"/>
                </a:outerShdw>
              </a:effectLst>
            </a:endParaRPr>
          </a:p>
        </p:txBody>
      </p:sp>
      <p:sp>
        <p:nvSpPr>
          <p:cNvPr id="5123" name="Rectangle 9"/>
          <p:cNvSpPr>
            <a:spLocks noChangeArrowheads="1"/>
          </p:cNvSpPr>
          <p:nvPr/>
        </p:nvSpPr>
        <p:spPr bwMode="auto">
          <a:xfrm>
            <a:off x="3059113" y="3716338"/>
            <a:ext cx="4826000" cy="160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4600">
                <a:solidFill>
                  <a:schemeClr val="tx2"/>
                </a:solidFill>
              </a:rPr>
              <a:t>                    </a:t>
            </a:r>
            <a:br>
              <a:rPr lang="en-US" altLang="zh-CN" sz="4600">
                <a:solidFill>
                  <a:schemeClr val="tx2"/>
                </a:solidFill>
              </a:rPr>
            </a:br>
            <a:r>
              <a:rPr lang="en-US" altLang="zh-CN" sz="4600">
                <a:solidFill>
                  <a:schemeClr val="tx2"/>
                </a:solidFill>
              </a:rPr>
              <a:t>    </a:t>
            </a:r>
            <a:r>
              <a:rPr lang="en-US" altLang="zh-CN" sz="4400">
                <a:solidFill>
                  <a:schemeClr val="hlink"/>
                </a:solidFill>
              </a:rPr>
              <a:t>Public Finance</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1250" name="Rectangle 2"/>
          <p:cNvSpPr>
            <a:spLocks noGrp="1" noChangeArrowheads="1"/>
          </p:cNvSpPr>
          <p:nvPr>
            <p:ph type="ctrTitle"/>
          </p:nvPr>
        </p:nvSpPr>
        <p:spPr/>
        <p:txBody>
          <a:bodyPr/>
          <a:lstStyle/>
          <a:p>
            <a:pPr eaLnBrk="1" hangingPunct="1">
              <a:defRPr/>
            </a:pPr>
            <a:r>
              <a:rPr lang="en-US" altLang="zh-CN" sz="4200" smtClean="0"/>
              <a:t>                    </a:t>
            </a:r>
            <a:r>
              <a:rPr lang="en-US" altLang="zh-CN" sz="4200" b="1" smtClean="0">
                <a:solidFill>
                  <a:schemeClr val="hlink"/>
                </a:solidFill>
              </a:rPr>
              <a:t/>
            </a:r>
            <a:br>
              <a:rPr lang="en-US" altLang="zh-CN" sz="4200" b="1" smtClean="0">
                <a:solidFill>
                  <a:schemeClr val="hlink"/>
                </a:solidFill>
              </a:rPr>
            </a:br>
            <a:r>
              <a:rPr lang="en-US" altLang="zh-CN" sz="4200" b="1" smtClean="0">
                <a:solidFill>
                  <a:schemeClr val="hlink"/>
                </a:solidFill>
              </a:rPr>
              <a:t>     </a:t>
            </a:r>
            <a:r>
              <a:rPr lang="zh-CN" altLang="en-US" sz="6600" b="1" smtClean="0">
                <a:solidFill>
                  <a:schemeClr val="hlink"/>
                </a:solidFill>
              </a:rPr>
              <a:t>第九章</a:t>
            </a:r>
            <a:endParaRPr lang="zh-CN" altLang="en-US" sz="4200" b="1" smtClean="0">
              <a:solidFill>
                <a:schemeClr val="hlink"/>
              </a:solidFill>
              <a:effectLst>
                <a:outerShdw blurRad="38100" dist="38100" dir="2700000" algn="tl">
                  <a:srgbClr val="000000"/>
                </a:outerShdw>
              </a:effectLst>
            </a:endParaRPr>
          </a:p>
        </p:txBody>
      </p:sp>
      <p:sp>
        <p:nvSpPr>
          <p:cNvPr id="6147" name="Rectangle 4"/>
          <p:cNvSpPr>
            <a:spLocks noChangeArrowheads="1"/>
          </p:cNvSpPr>
          <p:nvPr/>
        </p:nvSpPr>
        <p:spPr bwMode="auto">
          <a:xfrm>
            <a:off x="827088" y="3716338"/>
            <a:ext cx="7058025" cy="160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4600">
                <a:solidFill>
                  <a:schemeClr val="hlink"/>
                </a:solidFill>
              </a:rPr>
              <a:t>                    </a:t>
            </a:r>
            <a:r>
              <a:rPr lang="en-US" altLang="zh-CN" sz="4600" b="1">
                <a:solidFill>
                  <a:schemeClr val="hlink"/>
                </a:solidFill>
              </a:rPr>
              <a:t/>
            </a:r>
            <a:br>
              <a:rPr lang="en-US" altLang="zh-CN" sz="4600" b="1">
                <a:solidFill>
                  <a:schemeClr val="hlink"/>
                </a:solidFill>
              </a:rPr>
            </a:br>
            <a:r>
              <a:rPr lang="en-US" altLang="zh-CN" sz="4600" b="1">
                <a:solidFill>
                  <a:schemeClr val="hlink"/>
                </a:solidFill>
              </a:rPr>
              <a:t>                </a:t>
            </a:r>
            <a:r>
              <a:rPr lang="zh-CN" altLang="en-US" sz="4400" b="1">
                <a:solidFill>
                  <a:schemeClr val="hlink"/>
                </a:solidFill>
              </a:rPr>
              <a:t>税收的经济效应</a:t>
            </a: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endParaRPr lang="zh-CN" altLang="en-US" smtClean="0"/>
          </a:p>
        </p:txBody>
      </p:sp>
      <p:sp>
        <p:nvSpPr>
          <p:cNvPr id="3" name="内容占位符 2"/>
          <p:cNvSpPr>
            <a:spLocks noGrp="1"/>
          </p:cNvSpPr>
          <p:nvPr>
            <p:ph idx="1"/>
          </p:nvPr>
        </p:nvSpPr>
        <p:spPr/>
        <p:txBody>
          <a:bodyPr/>
          <a:lstStyle/>
          <a:p>
            <a:r>
              <a:rPr lang="zh-CN" altLang="en-US" b="1" smtClean="0">
                <a:solidFill>
                  <a:srgbClr val="FFC000"/>
                </a:solidFill>
              </a:rPr>
              <a:t>税收的经济效应，是指纳税人因国家课税而在其经济选择或行为方式方面做出的反映，或者从另一个角度讲，是指国家课税对消费者的选择乃至生产者决策的影响，即税收的调节作用。</a:t>
            </a:r>
            <a:endParaRPr lang="en-US" altLang="zh-CN" b="1" smtClean="0">
              <a:solidFill>
                <a:srgbClr val="FFC000"/>
              </a:solidFill>
            </a:endParaRPr>
          </a:p>
          <a:p>
            <a:r>
              <a:rPr lang="zh-CN" altLang="en-US" b="1" smtClean="0">
                <a:solidFill>
                  <a:srgbClr val="FFC000"/>
                </a:solidFill>
              </a:rPr>
              <a:t>税收的经济效应表现为税收的收入效应和税收的替代效应两个方面。</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zh-CN" altLang="en-US" sz="4400" b="1" smtClean="0">
                <a:solidFill>
                  <a:schemeClr val="hlink"/>
                </a:solidFill>
                <a:latin typeface="幼圆" panose="02010509060101010101" pitchFamily="49" charset="-122"/>
                <a:ea typeface="幼圆" panose="02010509060101010101" pitchFamily="49" charset="-122"/>
              </a:rPr>
              <a:t>第九章 </a:t>
            </a:r>
            <a:r>
              <a:rPr lang="zh-CN" altLang="en-US" sz="4000" b="1" smtClean="0">
                <a:solidFill>
                  <a:schemeClr val="hlink"/>
                </a:solidFill>
              </a:rPr>
              <a:t>税收的经济效应</a:t>
            </a:r>
          </a:p>
        </p:txBody>
      </p:sp>
      <p:sp>
        <p:nvSpPr>
          <p:cNvPr id="8195" name="Rectangle 3"/>
          <p:cNvSpPr>
            <a:spLocks noGrp="1" noChangeArrowheads="1"/>
          </p:cNvSpPr>
          <p:nvPr>
            <p:ph idx="1"/>
          </p:nvPr>
        </p:nvSpPr>
        <p:spPr/>
        <p:txBody>
          <a:bodyPr/>
          <a:lstStyle/>
          <a:p>
            <a:pPr eaLnBrk="1" hangingPunct="1"/>
            <a:r>
              <a:rPr lang="zh-CN" altLang="en-US" sz="4000" b="1" smtClean="0">
                <a:latin typeface="幼圆" panose="02010509060101010101" pitchFamily="49" charset="-122"/>
                <a:ea typeface="幼圆" panose="02010509060101010101" pitchFamily="49" charset="-122"/>
                <a:hlinkClick r:id="rId2" action="ppaction://hlinksldjump"/>
              </a:rPr>
              <a:t>第一节 税收经济效应</a:t>
            </a:r>
            <a:r>
              <a:rPr lang="zh-CN" altLang="en-US" sz="4000" b="1" smtClean="0">
                <a:latin typeface="幼圆" panose="02010509060101010101" pitchFamily="49" charset="-122"/>
                <a:ea typeface="幼圆" panose="02010509060101010101" pitchFamily="49" charset="-122"/>
                <a:hlinkClick r:id="rId3" action="ppaction://hlinksldjump"/>
              </a:rPr>
              <a:t>的</a:t>
            </a:r>
            <a:r>
              <a:rPr lang="zh-CN" altLang="en-US" sz="4000" b="1" smtClean="0">
                <a:latin typeface="幼圆" panose="02010509060101010101" pitchFamily="49" charset="-122"/>
                <a:ea typeface="幼圆" panose="02010509060101010101" pitchFamily="49" charset="-122"/>
                <a:hlinkClick r:id="rId2" action="ppaction://hlinksldjump"/>
              </a:rPr>
              <a:t>作用机制  </a:t>
            </a:r>
            <a:endParaRPr lang="zh-CN" altLang="en-US" sz="4000" b="1" smtClean="0">
              <a:latin typeface="幼圆" panose="02010509060101010101" pitchFamily="49" charset="-122"/>
              <a:ea typeface="幼圆" panose="02010509060101010101" pitchFamily="49" charset="-122"/>
            </a:endParaRPr>
          </a:p>
          <a:p>
            <a:pPr eaLnBrk="1" hangingPunct="1"/>
            <a:r>
              <a:rPr lang="zh-CN" altLang="en-US" sz="4000" b="1" smtClean="0">
                <a:latin typeface="幼圆" panose="02010509060101010101" pitchFamily="49" charset="-122"/>
                <a:ea typeface="幼圆" panose="02010509060101010101" pitchFamily="49" charset="-122"/>
                <a:hlinkClick r:id="rId4" action="ppaction://hlinksldjump"/>
              </a:rPr>
              <a:t>第二节 税收的经济影响</a:t>
            </a:r>
            <a:endParaRPr lang="zh-CN" altLang="en-US" sz="4000" b="1" smtClean="0">
              <a:latin typeface="幼圆" panose="02010509060101010101" pitchFamily="49" charset="-122"/>
              <a:ea typeface="幼圆" panose="02010509060101010101" pitchFamily="49" charset="-122"/>
            </a:endParaRPr>
          </a:p>
          <a:p>
            <a:pPr eaLnBrk="1" hangingPunct="1"/>
            <a:r>
              <a:rPr lang="zh-CN" altLang="en-US" sz="4000" b="1" smtClean="0">
                <a:latin typeface="幼圆" panose="02010509060101010101" pitchFamily="49" charset="-122"/>
                <a:ea typeface="幼圆" panose="02010509060101010101" pitchFamily="49" charset="-122"/>
                <a:hlinkClick r:id="rId5" action="ppaction://hlinksldjump"/>
              </a:rPr>
              <a:t>第三节 税收与经济发展</a:t>
            </a:r>
            <a:endParaRPr lang="zh-CN" altLang="en-US" sz="4000" b="1" smtClean="0">
              <a:latin typeface="幼圆" panose="02010509060101010101" pitchFamily="49" charset="-122"/>
              <a:ea typeface="幼圆" panose="02010509060101010101" pitchFamily="49" charset="-122"/>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noFill/>
        </p:spPr>
        <p:txBody>
          <a:bodyPr/>
          <a:lstStyle/>
          <a:p>
            <a:pPr eaLnBrk="1" hangingPunct="1"/>
            <a:r>
              <a:rPr lang="zh-CN" altLang="en-US" b="1" smtClean="0">
                <a:solidFill>
                  <a:schemeClr val="hlink"/>
                </a:solidFill>
              </a:rPr>
              <a:t>第一节  税收的经济效应作用机制</a:t>
            </a:r>
          </a:p>
        </p:txBody>
      </p:sp>
      <p:sp>
        <p:nvSpPr>
          <p:cNvPr id="9219" name="Rectangle 3"/>
          <p:cNvSpPr>
            <a:spLocks noGrp="1" noChangeArrowheads="1"/>
          </p:cNvSpPr>
          <p:nvPr>
            <p:ph idx="1"/>
          </p:nvPr>
        </p:nvSpPr>
        <p:spPr>
          <a:xfrm>
            <a:off x="395288" y="1412875"/>
            <a:ext cx="8229600" cy="4411663"/>
          </a:xfrm>
        </p:spPr>
        <p:txBody>
          <a:bodyPr/>
          <a:lstStyle/>
          <a:p>
            <a:pPr eaLnBrk="1" hangingPunct="1"/>
            <a:r>
              <a:rPr lang="zh-CN" altLang="en-US" b="1" smtClean="0">
                <a:hlinkClick r:id="rId2" action="ppaction://hlinksldjump"/>
              </a:rPr>
              <a:t>一、税收的收入效应</a:t>
            </a:r>
            <a:endParaRPr lang="zh-CN" altLang="en-US" b="1" smtClean="0"/>
          </a:p>
          <a:p>
            <a:pPr lvl="1" eaLnBrk="1" hangingPunct="1"/>
            <a:r>
              <a:rPr lang="en-US" altLang="zh-CN" b="1" smtClean="0">
                <a:latin typeface="Times New Roman" panose="02020603050405020304" pitchFamily="18" charset="0"/>
              </a:rPr>
              <a:t>(the income effect</a:t>
            </a:r>
            <a:r>
              <a:rPr lang="en-US" altLang="zh-CN" smtClean="0">
                <a:latin typeface="Times New Roman" panose="02020603050405020304" pitchFamily="18" charset="0"/>
              </a:rPr>
              <a:t> )</a:t>
            </a:r>
            <a:endParaRPr lang="en-US" altLang="zh-CN" b="1" smtClean="0">
              <a:latin typeface="Times New Roman" panose="02020603050405020304" pitchFamily="18" charset="0"/>
            </a:endParaRPr>
          </a:p>
          <a:p>
            <a:pPr eaLnBrk="1" hangingPunct="1"/>
            <a:r>
              <a:rPr lang="zh-CN" altLang="en-US" b="1" smtClean="0">
                <a:hlinkClick r:id="rId3" action="ppaction://hlinksldjump"/>
              </a:rPr>
              <a:t>二、税收的替代效应</a:t>
            </a:r>
            <a:endParaRPr lang="zh-CN" altLang="en-US" b="1" smtClean="0"/>
          </a:p>
          <a:p>
            <a:pPr lvl="1" eaLnBrk="1" hangingPunct="1"/>
            <a:r>
              <a:rPr lang="en-US" altLang="zh-CN" b="1" smtClean="0">
                <a:latin typeface="Times New Roman" panose="02020603050405020304" pitchFamily="18" charset="0"/>
              </a:rPr>
              <a:t>(the substitution effect</a:t>
            </a:r>
            <a:r>
              <a:rPr lang="en-US" altLang="zh-CN" smtClean="0">
                <a:latin typeface="Times New Roman" panose="02020603050405020304" pitchFamily="18" charset="0"/>
              </a:rPr>
              <a:t> )</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endParaRPr lang="zh-CN" altLang="zh-CN" smtClean="0"/>
          </a:p>
        </p:txBody>
      </p:sp>
      <p:sp>
        <p:nvSpPr>
          <p:cNvPr id="483331" name="Rectangle 3"/>
          <p:cNvSpPr>
            <a:spLocks noGrp="1" noChangeArrowheads="1"/>
          </p:cNvSpPr>
          <p:nvPr>
            <p:ph idx="1"/>
          </p:nvPr>
        </p:nvSpPr>
        <p:spPr/>
        <p:txBody>
          <a:bodyPr/>
          <a:lstStyle/>
          <a:p>
            <a:pPr eaLnBrk="1" hangingPunct="1"/>
            <a:r>
              <a:rPr lang="zh-CN" altLang="en-US" b="1" smtClean="0"/>
              <a:t>税收的收入效应是指税收将纳税人的一部分收入转移到政府手中，使纳税人的收入下降，从而降低商品购买量和消费水平。</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83331">
                                            <p:txEl>
                                              <p:pRg st="0" end="0"/>
                                            </p:txEl>
                                          </p:spTgt>
                                        </p:tgtEl>
                                        <p:attrNameLst>
                                          <p:attrName>style.visibility</p:attrName>
                                        </p:attrNameLst>
                                      </p:cBhvr>
                                      <p:to>
                                        <p:strVal val="visible"/>
                                      </p:to>
                                    </p:set>
                                    <p:animEffect transition="in" filter="box(in)">
                                      <p:cBhvr>
                                        <p:cTn id="7" dur="500"/>
                                        <p:tgtEl>
                                          <p:spTgt spid="4833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333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95288" y="0"/>
            <a:ext cx="8229600" cy="1143000"/>
          </a:xfrm>
          <a:noFill/>
        </p:spPr>
        <p:txBody>
          <a:bodyPr/>
          <a:lstStyle/>
          <a:p>
            <a:pPr eaLnBrk="1" hangingPunct="1"/>
            <a:r>
              <a:rPr lang="zh-CN" altLang="en-US" sz="3800" b="1" smtClean="0"/>
              <a:t>一、税收的收入效应</a:t>
            </a:r>
            <a:endParaRPr lang="zh-CN" altLang="en-US" smtClean="0"/>
          </a:p>
        </p:txBody>
      </p:sp>
      <p:sp>
        <p:nvSpPr>
          <p:cNvPr id="11267" name="Text Box 4"/>
          <p:cNvSpPr txBox="1">
            <a:spLocks noChangeArrowheads="1"/>
          </p:cNvSpPr>
          <p:nvPr/>
        </p:nvSpPr>
        <p:spPr bwMode="auto">
          <a:xfrm>
            <a:off x="6605588" y="5151438"/>
            <a:ext cx="1328737" cy="490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zh-CN" altLang="en-US" sz="1600" b="1">
                <a:latin typeface="Times New Roman" panose="02020603050405020304" pitchFamily="18" charset="0"/>
              </a:rPr>
              <a:t>食品</a:t>
            </a:r>
          </a:p>
        </p:txBody>
      </p:sp>
      <p:sp>
        <p:nvSpPr>
          <p:cNvPr id="11268" name="Text Box 5"/>
          <p:cNvSpPr txBox="1">
            <a:spLocks noChangeArrowheads="1"/>
          </p:cNvSpPr>
          <p:nvPr/>
        </p:nvSpPr>
        <p:spPr bwMode="auto">
          <a:xfrm>
            <a:off x="4211638" y="3033713"/>
            <a:ext cx="476250" cy="301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1600" b="1">
                <a:latin typeface="Times New Roman" panose="02020603050405020304" pitchFamily="18" charset="0"/>
              </a:rPr>
              <a:t>P1</a:t>
            </a:r>
          </a:p>
          <a:p>
            <a:pPr algn="just" eaLnBrk="1" hangingPunct="1">
              <a:spcBef>
                <a:spcPct val="0"/>
              </a:spcBef>
              <a:buClrTx/>
              <a:buSzTx/>
              <a:buFontTx/>
              <a:buNone/>
            </a:pPr>
            <a:endParaRPr lang="en-US" altLang="zh-CN" sz="1600" b="1">
              <a:latin typeface="Times New Roman" panose="02020603050405020304" pitchFamily="18" charset="0"/>
            </a:endParaRPr>
          </a:p>
        </p:txBody>
      </p:sp>
      <p:sp>
        <p:nvSpPr>
          <p:cNvPr id="11269" name="Text Box 6"/>
          <p:cNvSpPr txBox="1">
            <a:spLocks noChangeArrowheads="1"/>
          </p:cNvSpPr>
          <p:nvPr/>
        </p:nvSpPr>
        <p:spPr bwMode="auto">
          <a:xfrm>
            <a:off x="2206625" y="1963738"/>
            <a:ext cx="4191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1600" b="1">
                <a:latin typeface="Times New Roman" panose="02020603050405020304" pitchFamily="18" charset="0"/>
              </a:rPr>
              <a:t>A</a:t>
            </a:r>
          </a:p>
        </p:txBody>
      </p:sp>
      <p:sp>
        <p:nvSpPr>
          <p:cNvPr id="11270" name="Text Box 7"/>
          <p:cNvSpPr txBox="1">
            <a:spLocks noChangeArrowheads="1"/>
          </p:cNvSpPr>
          <p:nvPr/>
        </p:nvSpPr>
        <p:spPr bwMode="auto">
          <a:xfrm>
            <a:off x="2159000" y="4948238"/>
            <a:ext cx="796925" cy="493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1600" b="1">
                <a:latin typeface="Times New Roman" panose="02020603050405020304" pitchFamily="18" charset="0"/>
              </a:rPr>
              <a:t>O</a:t>
            </a:r>
          </a:p>
        </p:txBody>
      </p:sp>
      <p:sp>
        <p:nvSpPr>
          <p:cNvPr id="11271" name="Text Box 8"/>
          <p:cNvSpPr txBox="1">
            <a:spLocks noChangeArrowheads="1"/>
          </p:cNvSpPr>
          <p:nvPr/>
        </p:nvSpPr>
        <p:spPr bwMode="auto">
          <a:xfrm>
            <a:off x="1878013" y="1373188"/>
            <a:ext cx="80168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zh-CN" altLang="en-US" sz="1600" b="1">
                <a:latin typeface="Times New Roman" panose="02020603050405020304" pitchFamily="18" charset="0"/>
              </a:rPr>
              <a:t>衣物</a:t>
            </a:r>
            <a:endParaRPr lang="zh-CN" altLang="en-US" sz="1600" b="1"/>
          </a:p>
        </p:txBody>
      </p:sp>
      <p:sp>
        <p:nvSpPr>
          <p:cNvPr id="11272" name="Line 9"/>
          <p:cNvSpPr>
            <a:spLocks noChangeShapeType="1"/>
          </p:cNvSpPr>
          <p:nvPr/>
        </p:nvSpPr>
        <p:spPr bwMode="auto">
          <a:xfrm flipV="1">
            <a:off x="2606675" y="1462088"/>
            <a:ext cx="0" cy="3608387"/>
          </a:xfrm>
          <a:prstGeom prst="line">
            <a:avLst/>
          </a:prstGeom>
          <a:noFill/>
          <a:ln w="412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273" name="Line 10"/>
          <p:cNvSpPr>
            <a:spLocks noChangeShapeType="1"/>
          </p:cNvSpPr>
          <p:nvPr/>
        </p:nvSpPr>
        <p:spPr bwMode="auto">
          <a:xfrm flipV="1">
            <a:off x="2606675" y="5054600"/>
            <a:ext cx="4510088" cy="15875"/>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74" name="Line 11"/>
          <p:cNvSpPr>
            <a:spLocks noChangeShapeType="1"/>
          </p:cNvSpPr>
          <p:nvPr/>
        </p:nvSpPr>
        <p:spPr bwMode="auto">
          <a:xfrm>
            <a:off x="2606675" y="2117725"/>
            <a:ext cx="3721100" cy="2952750"/>
          </a:xfrm>
          <a:prstGeom prst="line">
            <a:avLst/>
          </a:prstGeom>
          <a:noFill/>
          <a:ln w="349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275" name="Freeform 12"/>
          <p:cNvSpPr>
            <a:spLocks/>
          </p:cNvSpPr>
          <p:nvPr/>
        </p:nvSpPr>
        <p:spPr bwMode="auto">
          <a:xfrm>
            <a:off x="3290888" y="1857375"/>
            <a:ext cx="3455987" cy="2625725"/>
          </a:xfrm>
          <a:custGeom>
            <a:avLst/>
            <a:gdLst>
              <a:gd name="T0" fmla="*/ 0 w 2340"/>
              <a:gd name="T1" fmla="*/ 0 h 2496"/>
              <a:gd name="T2" fmla="*/ 2147483646 w 2340"/>
              <a:gd name="T3" fmla="*/ 2147483646 h 2496"/>
              <a:gd name="T4" fmla="*/ 2147483646 w 2340"/>
              <a:gd name="T5" fmla="*/ 2147483646 h 2496"/>
              <a:gd name="T6" fmla="*/ 0 60000 65536"/>
              <a:gd name="T7" fmla="*/ 0 60000 65536"/>
              <a:gd name="T8" fmla="*/ 0 60000 65536"/>
            </a:gdLst>
            <a:ahLst/>
            <a:cxnLst>
              <a:cxn ang="T6">
                <a:pos x="T0" y="T1"/>
              </a:cxn>
              <a:cxn ang="T7">
                <a:pos x="T2" y="T3"/>
              </a:cxn>
              <a:cxn ang="T8">
                <a:pos x="T4" y="T5"/>
              </a:cxn>
            </a:cxnLst>
            <a:rect l="0" t="0" r="r" b="b"/>
            <a:pathLst>
              <a:path w="2340" h="2496">
                <a:moveTo>
                  <a:pt x="0" y="0"/>
                </a:moveTo>
                <a:cubicBezTo>
                  <a:pt x="165" y="572"/>
                  <a:pt x="330" y="1144"/>
                  <a:pt x="720" y="1560"/>
                </a:cubicBezTo>
                <a:cubicBezTo>
                  <a:pt x="1110" y="1976"/>
                  <a:pt x="2070" y="2340"/>
                  <a:pt x="2340" y="2496"/>
                </a:cubicBezTo>
              </a:path>
            </a:pathLst>
          </a:custGeom>
          <a:noFill/>
          <a:ln w="3492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276" name="Text Box 13"/>
          <p:cNvSpPr txBox="1">
            <a:spLocks noChangeArrowheads="1"/>
          </p:cNvSpPr>
          <p:nvPr/>
        </p:nvSpPr>
        <p:spPr bwMode="auto">
          <a:xfrm>
            <a:off x="6156325" y="5100638"/>
            <a:ext cx="379413" cy="57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1600" b="1">
                <a:latin typeface="Times New Roman" panose="02020603050405020304" pitchFamily="18" charset="0"/>
              </a:rPr>
              <a:t>B</a:t>
            </a:r>
          </a:p>
        </p:txBody>
      </p:sp>
      <p:sp>
        <p:nvSpPr>
          <p:cNvPr id="11277" name="Rectangle 14"/>
          <p:cNvSpPr>
            <a:spLocks noChangeArrowheads="1"/>
          </p:cNvSpPr>
          <p:nvPr/>
        </p:nvSpPr>
        <p:spPr bwMode="auto">
          <a:xfrm>
            <a:off x="2828925" y="5495925"/>
            <a:ext cx="22177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b="1"/>
              <a:t>图</a:t>
            </a:r>
            <a:r>
              <a:rPr lang="en-US" altLang="zh-CN" sz="1600" b="1"/>
              <a:t>9-1  </a:t>
            </a:r>
            <a:r>
              <a:rPr lang="zh-CN" altLang="en-US" sz="1600" b="1"/>
              <a:t>税收的收入效应</a:t>
            </a:r>
          </a:p>
        </p:txBody>
      </p:sp>
      <p:sp>
        <p:nvSpPr>
          <p:cNvPr id="463887" name="Text Box 15"/>
          <p:cNvSpPr txBox="1">
            <a:spLocks noChangeArrowheads="1"/>
          </p:cNvSpPr>
          <p:nvPr/>
        </p:nvSpPr>
        <p:spPr bwMode="auto">
          <a:xfrm>
            <a:off x="3659188" y="3738563"/>
            <a:ext cx="796925" cy="398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1600" b="1">
                <a:latin typeface="Times New Roman" panose="02020603050405020304" pitchFamily="18" charset="0"/>
              </a:rPr>
              <a:t>P2</a:t>
            </a:r>
          </a:p>
          <a:p>
            <a:pPr algn="just" eaLnBrk="1" hangingPunct="1">
              <a:spcBef>
                <a:spcPct val="0"/>
              </a:spcBef>
              <a:buClrTx/>
              <a:buSzTx/>
              <a:buFontTx/>
              <a:buNone/>
            </a:pPr>
            <a:endParaRPr lang="en-US" altLang="zh-CN" sz="1600" b="1">
              <a:latin typeface="Times New Roman" panose="02020603050405020304" pitchFamily="18" charset="0"/>
            </a:endParaRPr>
          </a:p>
        </p:txBody>
      </p:sp>
      <p:sp>
        <p:nvSpPr>
          <p:cNvPr id="463888" name="Line 16"/>
          <p:cNvSpPr>
            <a:spLocks noChangeShapeType="1"/>
          </p:cNvSpPr>
          <p:nvPr/>
        </p:nvSpPr>
        <p:spPr bwMode="auto">
          <a:xfrm>
            <a:off x="2606675" y="3101975"/>
            <a:ext cx="2390775" cy="1968500"/>
          </a:xfrm>
          <a:prstGeom prst="line">
            <a:avLst/>
          </a:prstGeom>
          <a:noFill/>
          <a:ln w="34925">
            <a:solidFill>
              <a:srgbClr val="FFC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889" name="Freeform 17"/>
          <p:cNvSpPr>
            <a:spLocks/>
          </p:cNvSpPr>
          <p:nvPr/>
        </p:nvSpPr>
        <p:spPr bwMode="auto">
          <a:xfrm>
            <a:off x="2870200" y="2925763"/>
            <a:ext cx="3457575" cy="1968500"/>
          </a:xfrm>
          <a:custGeom>
            <a:avLst/>
            <a:gdLst>
              <a:gd name="T0" fmla="*/ 0 w 2340"/>
              <a:gd name="T1" fmla="*/ 0 h 2496"/>
              <a:gd name="T2" fmla="*/ 2147483646 w 2340"/>
              <a:gd name="T3" fmla="*/ 2147483646 h 2496"/>
              <a:gd name="T4" fmla="*/ 2147483646 w 2340"/>
              <a:gd name="T5" fmla="*/ 2147483646 h 2496"/>
              <a:gd name="T6" fmla="*/ 0 60000 65536"/>
              <a:gd name="T7" fmla="*/ 0 60000 65536"/>
              <a:gd name="T8" fmla="*/ 0 60000 65536"/>
            </a:gdLst>
            <a:ahLst/>
            <a:cxnLst>
              <a:cxn ang="T6">
                <a:pos x="T0" y="T1"/>
              </a:cxn>
              <a:cxn ang="T7">
                <a:pos x="T2" y="T3"/>
              </a:cxn>
              <a:cxn ang="T8">
                <a:pos x="T4" y="T5"/>
              </a:cxn>
            </a:cxnLst>
            <a:rect l="0" t="0" r="r" b="b"/>
            <a:pathLst>
              <a:path w="2340" h="2496">
                <a:moveTo>
                  <a:pt x="0" y="0"/>
                </a:moveTo>
                <a:cubicBezTo>
                  <a:pt x="165" y="572"/>
                  <a:pt x="330" y="1144"/>
                  <a:pt x="720" y="1560"/>
                </a:cubicBezTo>
                <a:cubicBezTo>
                  <a:pt x="1110" y="1976"/>
                  <a:pt x="2070" y="2340"/>
                  <a:pt x="2340" y="2496"/>
                </a:cubicBezTo>
              </a:path>
            </a:pathLst>
          </a:custGeom>
          <a:noFill/>
          <a:ln w="34925" cap="flat" cmpd="sng">
            <a:solidFill>
              <a:srgbClr val="FFC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63890" name="Text Box 18"/>
          <p:cNvSpPr txBox="1">
            <a:spLocks noChangeArrowheads="1"/>
          </p:cNvSpPr>
          <p:nvPr/>
        </p:nvSpPr>
        <p:spPr bwMode="auto">
          <a:xfrm>
            <a:off x="2235200" y="2911475"/>
            <a:ext cx="388938"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1600" b="1">
                <a:latin typeface="Times New Roman" panose="02020603050405020304" pitchFamily="18" charset="0"/>
              </a:rPr>
              <a:t>C</a:t>
            </a:r>
          </a:p>
        </p:txBody>
      </p:sp>
      <p:sp>
        <p:nvSpPr>
          <p:cNvPr id="463891" name="Text Box 19"/>
          <p:cNvSpPr txBox="1">
            <a:spLocks noChangeArrowheads="1"/>
          </p:cNvSpPr>
          <p:nvPr/>
        </p:nvSpPr>
        <p:spPr bwMode="auto">
          <a:xfrm>
            <a:off x="4852988" y="5133975"/>
            <a:ext cx="387350"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1600" b="1">
                <a:latin typeface="Times New Roman" panose="02020603050405020304" pitchFamily="18" charset="0"/>
              </a:rPr>
              <a:t>D</a:t>
            </a:r>
          </a:p>
        </p:txBody>
      </p:sp>
      <p:cxnSp>
        <p:nvCxnSpPr>
          <p:cNvPr id="3" name="直接连接符 2"/>
          <p:cNvCxnSpPr>
            <a:cxnSpLocks noChangeShapeType="1"/>
          </p:cNvCxnSpPr>
          <p:nvPr/>
        </p:nvCxnSpPr>
        <p:spPr bwMode="auto">
          <a:xfrm>
            <a:off x="2557463" y="3937000"/>
            <a:ext cx="1101725" cy="0"/>
          </a:xfrm>
          <a:prstGeom prst="line">
            <a:avLst/>
          </a:prstGeom>
          <a:noFill/>
          <a:ln w="28575" algn="ctr">
            <a:solidFill>
              <a:srgbClr val="FFC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 name="直接连接符 4"/>
          <p:cNvCxnSpPr>
            <a:cxnSpLocks noChangeShapeType="1"/>
          </p:cNvCxnSpPr>
          <p:nvPr/>
        </p:nvCxnSpPr>
        <p:spPr bwMode="auto">
          <a:xfrm>
            <a:off x="3659188" y="3937000"/>
            <a:ext cx="0" cy="1163638"/>
          </a:xfrm>
          <a:prstGeom prst="line">
            <a:avLst/>
          </a:prstGeom>
          <a:noFill/>
          <a:ln w="28575" algn="ctr">
            <a:solidFill>
              <a:srgbClr val="FFC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7" name="直接连接符 6"/>
          <p:cNvCxnSpPr>
            <a:cxnSpLocks noChangeShapeType="1"/>
          </p:cNvCxnSpPr>
          <p:nvPr/>
        </p:nvCxnSpPr>
        <p:spPr bwMode="auto">
          <a:xfrm>
            <a:off x="2606675" y="3328988"/>
            <a:ext cx="1604963" cy="0"/>
          </a:xfrm>
          <a:prstGeom prst="line">
            <a:avLst/>
          </a:prstGeom>
          <a:noFill/>
          <a:ln w="28575" algn="ctr">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9" name="直接连接符 8"/>
          <p:cNvCxnSpPr>
            <a:cxnSpLocks noChangeShapeType="1"/>
          </p:cNvCxnSpPr>
          <p:nvPr/>
        </p:nvCxnSpPr>
        <p:spPr bwMode="auto">
          <a:xfrm>
            <a:off x="4140200" y="3328988"/>
            <a:ext cx="0" cy="1741487"/>
          </a:xfrm>
          <a:prstGeom prst="line">
            <a:avLst/>
          </a:prstGeom>
          <a:noFill/>
          <a:ln w="28575" algn="ctr">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0" name="左箭头 9"/>
          <p:cNvSpPr>
            <a:spLocks noChangeArrowheads="1"/>
          </p:cNvSpPr>
          <p:nvPr/>
        </p:nvSpPr>
        <p:spPr bwMode="auto">
          <a:xfrm>
            <a:off x="3659188" y="4581525"/>
            <a:ext cx="481012" cy="312738"/>
          </a:xfrm>
          <a:prstGeom prst="leftArrow">
            <a:avLst>
              <a:gd name="adj1" fmla="val 50000"/>
              <a:gd name="adj2" fmla="val 50030"/>
            </a:avLst>
          </a:prstGeom>
          <a:solidFill>
            <a:srgbClr val="FFC000"/>
          </a:solidFill>
          <a:ln w="9525" algn="ctr">
            <a:solidFill>
              <a:srgbClr val="000000"/>
            </a:solidFill>
            <a:round/>
            <a:headEnd/>
            <a:tailEnd type="triangle" w="med" len="me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p>
        </p:txBody>
      </p:sp>
      <p:sp>
        <p:nvSpPr>
          <p:cNvPr id="11" name="下箭头 10"/>
          <p:cNvSpPr>
            <a:spLocks noChangeArrowheads="1"/>
          </p:cNvSpPr>
          <p:nvPr/>
        </p:nvSpPr>
        <p:spPr bwMode="auto">
          <a:xfrm>
            <a:off x="2655888" y="3360738"/>
            <a:ext cx="279400" cy="581025"/>
          </a:xfrm>
          <a:prstGeom prst="downArrow">
            <a:avLst>
              <a:gd name="adj1" fmla="val 50000"/>
              <a:gd name="adj2" fmla="val 50015"/>
            </a:avLst>
          </a:prstGeom>
          <a:solidFill>
            <a:srgbClr val="FFC000"/>
          </a:solidFill>
          <a:ln w="9525" algn="ctr">
            <a:solidFill>
              <a:srgbClr val="000000"/>
            </a:solidFill>
            <a:round/>
            <a:headEnd/>
            <a:tailEnd type="triangle" w="med" len="me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heel(1)">
                                      <p:cBhvr>
                                        <p:cTn id="12" dur="20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0" presetClass="entr" presetSubtype="0" fill="hold" nodeType="clickEffect">
                                  <p:stCondLst>
                                    <p:cond delay="0"/>
                                  </p:stCondLst>
                                  <p:childTnLst>
                                    <p:set>
                                      <p:cBhvr>
                                        <p:cTn id="16" dur="1" fill="hold">
                                          <p:stCondLst>
                                            <p:cond delay="0"/>
                                          </p:stCondLst>
                                        </p:cTn>
                                        <p:tgtEl>
                                          <p:spTgt spid="463888"/>
                                        </p:tgtEl>
                                        <p:attrNameLst>
                                          <p:attrName>style.visibility</p:attrName>
                                        </p:attrNameLst>
                                      </p:cBhvr>
                                      <p:to>
                                        <p:strVal val="visible"/>
                                      </p:to>
                                    </p:set>
                                    <p:animEffect transition="in" filter="wedge">
                                      <p:cBhvr>
                                        <p:cTn id="17" dur="2000"/>
                                        <p:tgtEl>
                                          <p:spTgt spid="4638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463890"/>
                                        </p:tgtEl>
                                        <p:attrNameLst>
                                          <p:attrName>style.visibility</p:attrName>
                                        </p:attrNameLst>
                                      </p:cBhvr>
                                      <p:to>
                                        <p:strVal val="visible"/>
                                      </p:to>
                                    </p:set>
                                    <p:anim calcmode="lin" valueType="num">
                                      <p:cBhvr additive="base">
                                        <p:cTn id="22" dur="500" fill="hold"/>
                                        <p:tgtEl>
                                          <p:spTgt spid="463890"/>
                                        </p:tgtEl>
                                        <p:attrNameLst>
                                          <p:attrName>ppt_x</p:attrName>
                                        </p:attrNameLst>
                                      </p:cBhvr>
                                      <p:tavLst>
                                        <p:tav tm="0">
                                          <p:val>
                                            <p:strVal val="#ppt_x"/>
                                          </p:val>
                                        </p:tav>
                                        <p:tav tm="100000">
                                          <p:val>
                                            <p:strVal val="#ppt_x"/>
                                          </p:val>
                                        </p:tav>
                                      </p:tavLst>
                                    </p:anim>
                                    <p:anim calcmode="lin" valueType="num">
                                      <p:cBhvr additive="base">
                                        <p:cTn id="23" dur="500" fill="hold"/>
                                        <p:tgtEl>
                                          <p:spTgt spid="463890"/>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463891"/>
                                        </p:tgtEl>
                                        <p:attrNameLst>
                                          <p:attrName>style.visibility</p:attrName>
                                        </p:attrNameLst>
                                      </p:cBhvr>
                                      <p:to>
                                        <p:strVal val="visible"/>
                                      </p:to>
                                    </p:set>
                                    <p:anim calcmode="lin" valueType="num">
                                      <p:cBhvr additive="base">
                                        <p:cTn id="28" dur="500" fill="hold"/>
                                        <p:tgtEl>
                                          <p:spTgt spid="463891"/>
                                        </p:tgtEl>
                                        <p:attrNameLst>
                                          <p:attrName>ppt_x</p:attrName>
                                        </p:attrNameLst>
                                      </p:cBhvr>
                                      <p:tavLst>
                                        <p:tav tm="0">
                                          <p:val>
                                            <p:strVal val="#ppt_x"/>
                                          </p:val>
                                        </p:tav>
                                        <p:tav tm="100000">
                                          <p:val>
                                            <p:strVal val="#ppt_x"/>
                                          </p:val>
                                        </p:tav>
                                      </p:tavLst>
                                    </p:anim>
                                    <p:anim calcmode="lin" valueType="num">
                                      <p:cBhvr additive="base">
                                        <p:cTn id="29" dur="500" fill="hold"/>
                                        <p:tgtEl>
                                          <p:spTgt spid="463891"/>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0" presetClass="entr" presetSubtype="0" fill="hold" nodeType="clickEffect">
                                  <p:stCondLst>
                                    <p:cond delay="0"/>
                                  </p:stCondLst>
                                  <p:childTnLst>
                                    <p:set>
                                      <p:cBhvr>
                                        <p:cTn id="33" dur="1" fill="hold">
                                          <p:stCondLst>
                                            <p:cond delay="0"/>
                                          </p:stCondLst>
                                        </p:cTn>
                                        <p:tgtEl>
                                          <p:spTgt spid="463889"/>
                                        </p:tgtEl>
                                        <p:attrNameLst>
                                          <p:attrName>style.visibility</p:attrName>
                                        </p:attrNameLst>
                                      </p:cBhvr>
                                      <p:to>
                                        <p:strVal val="visible"/>
                                      </p:to>
                                    </p:set>
                                    <p:animEffect transition="in" filter="wedge">
                                      <p:cBhvr>
                                        <p:cTn id="34" dur="2000"/>
                                        <p:tgtEl>
                                          <p:spTgt spid="46388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463887"/>
                                        </p:tgtEl>
                                        <p:attrNameLst>
                                          <p:attrName>style.visibility</p:attrName>
                                        </p:attrNameLst>
                                      </p:cBhvr>
                                      <p:to>
                                        <p:strVal val="visible"/>
                                      </p:to>
                                    </p:set>
                                    <p:anim calcmode="lin" valueType="num">
                                      <p:cBhvr additive="base">
                                        <p:cTn id="39" dur="500" fill="hold"/>
                                        <p:tgtEl>
                                          <p:spTgt spid="463887"/>
                                        </p:tgtEl>
                                        <p:attrNameLst>
                                          <p:attrName>ppt_x</p:attrName>
                                        </p:attrNameLst>
                                      </p:cBhvr>
                                      <p:tavLst>
                                        <p:tav tm="0">
                                          <p:val>
                                            <p:strVal val="#ppt_x"/>
                                          </p:val>
                                        </p:tav>
                                        <p:tav tm="100000">
                                          <p:val>
                                            <p:strVal val="#ppt_x"/>
                                          </p:val>
                                        </p:tav>
                                      </p:tavLst>
                                    </p:anim>
                                    <p:anim calcmode="lin" valueType="num">
                                      <p:cBhvr additive="base">
                                        <p:cTn id="40" dur="500" fill="hold"/>
                                        <p:tgtEl>
                                          <p:spTgt spid="463887"/>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1" presetClass="entr" presetSubtype="1"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wheel(1)">
                                      <p:cBhvr>
                                        <p:cTn id="45" dur="2000"/>
                                        <p:tgtEl>
                                          <p:spTgt spid="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1" presetClass="entr" presetSubtype="1" fill="hold" nodeType="click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wheel(1)">
                                      <p:cBhvr>
                                        <p:cTn id="50" dur="2000"/>
                                        <p:tgtEl>
                                          <p:spTgt spid="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1" presetClass="entr" presetSubtype="1"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wheel(1)">
                                      <p:cBhvr>
                                        <p:cTn id="55" dur="2000"/>
                                        <p:tgtEl>
                                          <p:spTgt spid="1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4" presetClass="entr" presetSubtype="10" fill="hold" grpId="0" nodeType="click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randombar(horizontal)">
                                      <p:cBhvr>
                                        <p:cTn id="6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887" grpId="0"/>
      <p:bldP spid="463890" grpId="0"/>
      <p:bldP spid="463891" grpId="0"/>
      <p:bldP spid="10"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endParaRPr lang="zh-CN" altLang="zh-CN" smtClean="0"/>
          </a:p>
        </p:txBody>
      </p:sp>
      <p:sp>
        <p:nvSpPr>
          <p:cNvPr id="12291" name="Rectangle 3"/>
          <p:cNvSpPr>
            <a:spLocks noGrp="1" noChangeArrowheads="1"/>
          </p:cNvSpPr>
          <p:nvPr>
            <p:ph idx="1"/>
          </p:nvPr>
        </p:nvSpPr>
        <p:spPr/>
        <p:txBody>
          <a:bodyPr/>
          <a:lstStyle/>
          <a:p>
            <a:pPr eaLnBrk="1" hangingPunct="1"/>
            <a:r>
              <a:rPr lang="zh-CN" altLang="en-US" b="1" smtClean="0"/>
              <a:t>税收的替代效应是指税收对纳税人在商品购买方面的影响，表现为当政府对不同商品实行</a:t>
            </a:r>
            <a:r>
              <a:rPr lang="zh-CN" altLang="en-US" b="1" smtClean="0">
                <a:solidFill>
                  <a:srgbClr val="FFC000"/>
                </a:solidFill>
              </a:rPr>
              <a:t>征税或不征税、重税或轻税</a:t>
            </a:r>
            <a:r>
              <a:rPr lang="zh-CN" altLang="en-US" b="1" smtClean="0"/>
              <a:t>的区别对待时，会影响商品的相对价格，使纳税人减少征税或重税商品的数量，而增加无税或轻税商品的数量，即以无税或轻税商品替代征税或重税商品。</a:t>
            </a: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Text Box 2"/>
          <p:cNvSpPr txBox="1">
            <a:spLocks noChangeArrowheads="1"/>
          </p:cNvSpPr>
          <p:nvPr/>
        </p:nvSpPr>
        <p:spPr bwMode="auto">
          <a:xfrm>
            <a:off x="3265488" y="2251075"/>
            <a:ext cx="779462"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1600" b="1">
                <a:latin typeface="Times New Roman" panose="02020603050405020304" pitchFamily="18" charset="0"/>
              </a:rPr>
              <a:t>I3</a:t>
            </a:r>
          </a:p>
        </p:txBody>
      </p:sp>
      <p:sp>
        <p:nvSpPr>
          <p:cNvPr id="464899" name="Text Box 3"/>
          <p:cNvSpPr txBox="1">
            <a:spLocks noChangeArrowheads="1"/>
          </p:cNvSpPr>
          <p:nvPr/>
        </p:nvSpPr>
        <p:spPr bwMode="auto">
          <a:xfrm>
            <a:off x="3435350" y="3116263"/>
            <a:ext cx="779463"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1600" b="1">
                <a:latin typeface="Times New Roman" panose="02020603050405020304" pitchFamily="18" charset="0"/>
              </a:rPr>
              <a:t>P3</a:t>
            </a:r>
          </a:p>
        </p:txBody>
      </p:sp>
      <p:sp>
        <p:nvSpPr>
          <p:cNvPr id="464900" name="Text Box 4"/>
          <p:cNvSpPr txBox="1">
            <a:spLocks noChangeArrowheads="1"/>
          </p:cNvSpPr>
          <p:nvPr/>
        </p:nvSpPr>
        <p:spPr bwMode="auto">
          <a:xfrm>
            <a:off x="4535488" y="5387975"/>
            <a:ext cx="781050" cy="53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1600" b="1">
                <a:latin typeface="Times New Roman" panose="02020603050405020304" pitchFamily="18" charset="0"/>
              </a:rPr>
              <a:t>E</a:t>
            </a:r>
          </a:p>
        </p:txBody>
      </p:sp>
      <p:sp>
        <p:nvSpPr>
          <p:cNvPr id="464901" name="Line 5"/>
          <p:cNvSpPr>
            <a:spLocks noChangeShapeType="1"/>
          </p:cNvSpPr>
          <p:nvPr/>
        </p:nvSpPr>
        <p:spPr bwMode="auto">
          <a:xfrm>
            <a:off x="2843213" y="2298700"/>
            <a:ext cx="1824037" cy="3057525"/>
          </a:xfrm>
          <a:prstGeom prst="line">
            <a:avLst/>
          </a:prstGeom>
          <a:noFill/>
          <a:ln w="34925">
            <a:solidFill>
              <a:srgbClr val="FFC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4902" name="Freeform 6"/>
          <p:cNvSpPr>
            <a:spLocks/>
          </p:cNvSpPr>
          <p:nvPr/>
        </p:nvSpPr>
        <p:spPr bwMode="auto">
          <a:xfrm>
            <a:off x="3208338" y="2339975"/>
            <a:ext cx="3643312" cy="2338388"/>
          </a:xfrm>
          <a:custGeom>
            <a:avLst/>
            <a:gdLst>
              <a:gd name="T0" fmla="*/ 0 w 2340"/>
              <a:gd name="T1" fmla="*/ 0 h 2028"/>
              <a:gd name="T2" fmla="*/ 2147483646 w 2340"/>
              <a:gd name="T3" fmla="*/ 2147483646 h 2028"/>
              <a:gd name="T4" fmla="*/ 2147483646 w 2340"/>
              <a:gd name="T5" fmla="*/ 2147483646 h 2028"/>
              <a:gd name="T6" fmla="*/ 0 60000 65536"/>
              <a:gd name="T7" fmla="*/ 0 60000 65536"/>
              <a:gd name="T8" fmla="*/ 0 60000 65536"/>
            </a:gdLst>
            <a:ahLst/>
            <a:cxnLst>
              <a:cxn ang="T6">
                <a:pos x="T0" y="T1"/>
              </a:cxn>
              <a:cxn ang="T7">
                <a:pos x="T2" y="T3"/>
              </a:cxn>
              <a:cxn ang="T8">
                <a:pos x="T4" y="T5"/>
              </a:cxn>
            </a:cxnLst>
            <a:rect l="0" t="0" r="r" b="b"/>
            <a:pathLst>
              <a:path w="2340" h="2028">
                <a:moveTo>
                  <a:pt x="0" y="0"/>
                </a:moveTo>
                <a:cubicBezTo>
                  <a:pt x="75" y="533"/>
                  <a:pt x="150" y="1066"/>
                  <a:pt x="540" y="1404"/>
                </a:cubicBezTo>
                <a:cubicBezTo>
                  <a:pt x="930" y="1742"/>
                  <a:pt x="2040" y="1924"/>
                  <a:pt x="2340" y="2028"/>
                </a:cubicBezTo>
              </a:path>
            </a:pathLst>
          </a:custGeom>
          <a:noFill/>
          <a:ln w="34925" cap="flat" cmpd="sng">
            <a:solidFill>
              <a:srgbClr val="FFC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319" name="Rectangle 7"/>
          <p:cNvSpPr>
            <a:spLocks noGrp="1" noChangeArrowheads="1"/>
          </p:cNvSpPr>
          <p:nvPr>
            <p:ph type="title"/>
          </p:nvPr>
        </p:nvSpPr>
        <p:spPr>
          <a:xfrm>
            <a:off x="295275" y="334963"/>
            <a:ext cx="8229600" cy="665162"/>
          </a:xfrm>
          <a:noFill/>
        </p:spPr>
        <p:txBody>
          <a:bodyPr/>
          <a:lstStyle/>
          <a:p>
            <a:pPr eaLnBrk="1" hangingPunct="1"/>
            <a:r>
              <a:rPr lang="zh-CN" altLang="en-US" sz="3800" b="1" smtClean="0"/>
              <a:t>二、税收的替代效应</a:t>
            </a:r>
          </a:p>
        </p:txBody>
      </p:sp>
      <p:sp>
        <p:nvSpPr>
          <p:cNvPr id="13320" name="Text Box 9"/>
          <p:cNvSpPr txBox="1">
            <a:spLocks noChangeArrowheads="1"/>
          </p:cNvSpPr>
          <p:nvPr/>
        </p:nvSpPr>
        <p:spPr bwMode="auto">
          <a:xfrm>
            <a:off x="3781425" y="2106613"/>
            <a:ext cx="782638" cy="53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1600" b="1">
                <a:latin typeface="Times New Roman" panose="02020603050405020304" pitchFamily="18" charset="0"/>
              </a:rPr>
              <a:t>I1</a:t>
            </a:r>
          </a:p>
        </p:txBody>
      </p:sp>
      <p:sp>
        <p:nvSpPr>
          <p:cNvPr id="13321" name="Text Box 10"/>
          <p:cNvSpPr txBox="1">
            <a:spLocks noChangeArrowheads="1"/>
          </p:cNvSpPr>
          <p:nvPr/>
        </p:nvSpPr>
        <p:spPr bwMode="auto">
          <a:xfrm>
            <a:off x="4327525" y="3378200"/>
            <a:ext cx="779463" cy="541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1600" b="1">
                <a:latin typeface="Times New Roman" panose="02020603050405020304" pitchFamily="18" charset="0"/>
              </a:rPr>
              <a:t>P1</a:t>
            </a:r>
          </a:p>
        </p:txBody>
      </p:sp>
      <p:sp>
        <p:nvSpPr>
          <p:cNvPr id="13322" name="Text Box 11"/>
          <p:cNvSpPr txBox="1">
            <a:spLocks noChangeArrowheads="1"/>
          </p:cNvSpPr>
          <p:nvPr/>
        </p:nvSpPr>
        <p:spPr bwMode="auto">
          <a:xfrm>
            <a:off x="6111875" y="5378450"/>
            <a:ext cx="779463"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1600" b="1">
                <a:latin typeface="Times New Roman" panose="02020603050405020304" pitchFamily="18" charset="0"/>
              </a:rPr>
              <a:t>B</a:t>
            </a:r>
          </a:p>
        </p:txBody>
      </p:sp>
      <p:sp>
        <p:nvSpPr>
          <p:cNvPr id="13323" name="Text Box 12"/>
          <p:cNvSpPr txBox="1">
            <a:spLocks noChangeArrowheads="1"/>
          </p:cNvSpPr>
          <p:nvPr/>
        </p:nvSpPr>
        <p:spPr bwMode="auto">
          <a:xfrm>
            <a:off x="2538413" y="5340350"/>
            <a:ext cx="779462" cy="53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1600" b="1">
                <a:latin typeface="Times New Roman" panose="02020603050405020304" pitchFamily="18" charset="0"/>
              </a:rPr>
              <a:t>O</a:t>
            </a:r>
          </a:p>
        </p:txBody>
      </p:sp>
      <p:sp>
        <p:nvSpPr>
          <p:cNvPr id="13324" name="Text Box 13"/>
          <p:cNvSpPr txBox="1">
            <a:spLocks noChangeArrowheads="1"/>
          </p:cNvSpPr>
          <p:nvPr/>
        </p:nvSpPr>
        <p:spPr bwMode="auto">
          <a:xfrm>
            <a:off x="2219325" y="1455738"/>
            <a:ext cx="784225"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zh-CN" altLang="en-US" sz="1600" b="1">
                <a:latin typeface="Times New Roman" panose="02020603050405020304" pitchFamily="18" charset="0"/>
              </a:rPr>
              <a:t>衣物</a:t>
            </a:r>
            <a:endParaRPr lang="zh-CN" altLang="en-US" sz="1600" b="1"/>
          </a:p>
        </p:txBody>
      </p:sp>
      <p:sp>
        <p:nvSpPr>
          <p:cNvPr id="13325" name="Text Box 14"/>
          <p:cNvSpPr txBox="1">
            <a:spLocks noChangeArrowheads="1"/>
          </p:cNvSpPr>
          <p:nvPr/>
        </p:nvSpPr>
        <p:spPr bwMode="auto">
          <a:xfrm>
            <a:off x="7224713" y="4926013"/>
            <a:ext cx="1300162" cy="538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zh-CN" altLang="en-US" sz="1600" b="1">
                <a:latin typeface="Times New Roman" panose="02020603050405020304" pitchFamily="18" charset="0"/>
              </a:rPr>
              <a:t>食品</a:t>
            </a:r>
          </a:p>
        </p:txBody>
      </p:sp>
      <p:sp>
        <p:nvSpPr>
          <p:cNvPr id="13326" name="Line 15"/>
          <p:cNvSpPr>
            <a:spLocks noChangeShapeType="1"/>
          </p:cNvSpPr>
          <p:nvPr/>
        </p:nvSpPr>
        <p:spPr bwMode="auto">
          <a:xfrm flipV="1">
            <a:off x="2843213" y="1587500"/>
            <a:ext cx="0" cy="37766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327" name="Line 16"/>
          <p:cNvSpPr>
            <a:spLocks noChangeShapeType="1"/>
          </p:cNvSpPr>
          <p:nvPr/>
        </p:nvSpPr>
        <p:spPr bwMode="auto">
          <a:xfrm>
            <a:off x="2843213" y="5368925"/>
            <a:ext cx="494665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28" name="Line 17"/>
          <p:cNvSpPr>
            <a:spLocks noChangeShapeType="1"/>
          </p:cNvSpPr>
          <p:nvPr/>
        </p:nvSpPr>
        <p:spPr bwMode="auto">
          <a:xfrm>
            <a:off x="2843213" y="2306638"/>
            <a:ext cx="3384550" cy="3057525"/>
          </a:xfrm>
          <a:prstGeom prst="line">
            <a:avLst/>
          </a:prstGeom>
          <a:noFill/>
          <a:ln w="349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329" name="Freeform 18"/>
          <p:cNvSpPr>
            <a:spLocks/>
          </p:cNvSpPr>
          <p:nvPr/>
        </p:nvSpPr>
        <p:spPr bwMode="auto">
          <a:xfrm>
            <a:off x="3697288" y="2176463"/>
            <a:ext cx="3643312" cy="2338387"/>
          </a:xfrm>
          <a:custGeom>
            <a:avLst/>
            <a:gdLst>
              <a:gd name="T0" fmla="*/ 0 w 2340"/>
              <a:gd name="T1" fmla="*/ 0 h 2028"/>
              <a:gd name="T2" fmla="*/ 2147483646 w 2340"/>
              <a:gd name="T3" fmla="*/ 2147483646 h 2028"/>
              <a:gd name="T4" fmla="*/ 2147483646 w 2340"/>
              <a:gd name="T5" fmla="*/ 2147483646 h 2028"/>
              <a:gd name="T6" fmla="*/ 0 60000 65536"/>
              <a:gd name="T7" fmla="*/ 0 60000 65536"/>
              <a:gd name="T8" fmla="*/ 0 60000 65536"/>
            </a:gdLst>
            <a:ahLst/>
            <a:cxnLst>
              <a:cxn ang="T6">
                <a:pos x="T0" y="T1"/>
              </a:cxn>
              <a:cxn ang="T7">
                <a:pos x="T2" y="T3"/>
              </a:cxn>
              <a:cxn ang="T8">
                <a:pos x="T4" y="T5"/>
              </a:cxn>
            </a:cxnLst>
            <a:rect l="0" t="0" r="r" b="b"/>
            <a:pathLst>
              <a:path w="2340" h="2028">
                <a:moveTo>
                  <a:pt x="0" y="0"/>
                </a:moveTo>
                <a:cubicBezTo>
                  <a:pt x="75" y="533"/>
                  <a:pt x="150" y="1066"/>
                  <a:pt x="540" y="1404"/>
                </a:cubicBezTo>
                <a:cubicBezTo>
                  <a:pt x="930" y="1742"/>
                  <a:pt x="2040" y="1924"/>
                  <a:pt x="2340" y="2028"/>
                </a:cubicBezTo>
              </a:path>
            </a:pathLst>
          </a:custGeom>
          <a:noFill/>
          <a:ln w="3492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330" name="Rectangle 19"/>
          <p:cNvSpPr>
            <a:spLocks noChangeArrowheads="1"/>
          </p:cNvSpPr>
          <p:nvPr/>
        </p:nvSpPr>
        <p:spPr bwMode="auto">
          <a:xfrm>
            <a:off x="2474913" y="2166938"/>
            <a:ext cx="4318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i="1">
                <a:latin typeface="宋体" panose="02010600030101010101" pitchFamily="2" charset="-122"/>
              </a:rPr>
              <a:t>A</a:t>
            </a:r>
          </a:p>
        </p:txBody>
      </p:sp>
      <p:sp>
        <p:nvSpPr>
          <p:cNvPr id="13331" name="Rectangle 20"/>
          <p:cNvSpPr>
            <a:spLocks noChangeArrowheads="1"/>
          </p:cNvSpPr>
          <p:nvPr/>
        </p:nvSpPr>
        <p:spPr bwMode="auto">
          <a:xfrm>
            <a:off x="3268663" y="5694363"/>
            <a:ext cx="22177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b="1"/>
              <a:t>图</a:t>
            </a:r>
            <a:r>
              <a:rPr lang="en-US" altLang="zh-CN" sz="1600" b="1"/>
              <a:t>9-2  </a:t>
            </a:r>
            <a:r>
              <a:rPr lang="zh-CN" altLang="en-US" sz="1600" b="1"/>
              <a:t>税收的替代效应</a:t>
            </a:r>
          </a:p>
        </p:txBody>
      </p:sp>
      <p:sp>
        <p:nvSpPr>
          <p:cNvPr id="464919" name="Line 23"/>
          <p:cNvSpPr>
            <a:spLocks noChangeShapeType="1"/>
          </p:cNvSpPr>
          <p:nvPr/>
        </p:nvSpPr>
        <p:spPr bwMode="auto">
          <a:xfrm flipH="1">
            <a:off x="2843213" y="3649663"/>
            <a:ext cx="1416050" cy="0"/>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64920" name="Line 24"/>
          <p:cNvSpPr>
            <a:spLocks noChangeShapeType="1"/>
          </p:cNvSpPr>
          <p:nvPr/>
        </p:nvSpPr>
        <p:spPr bwMode="auto">
          <a:xfrm>
            <a:off x="4292600" y="3589338"/>
            <a:ext cx="0" cy="1851025"/>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64921" name="Line 25"/>
          <p:cNvSpPr>
            <a:spLocks noChangeShapeType="1"/>
          </p:cNvSpPr>
          <p:nvPr/>
        </p:nvSpPr>
        <p:spPr bwMode="auto">
          <a:xfrm flipH="1" flipV="1">
            <a:off x="2825750" y="3384550"/>
            <a:ext cx="666750" cy="19050"/>
          </a:xfrm>
          <a:prstGeom prst="line">
            <a:avLst/>
          </a:prstGeom>
          <a:noFill/>
          <a:ln w="19050">
            <a:solidFill>
              <a:srgbClr val="FFC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64922" name="Line 26"/>
          <p:cNvSpPr>
            <a:spLocks noChangeShapeType="1"/>
          </p:cNvSpPr>
          <p:nvPr/>
        </p:nvSpPr>
        <p:spPr bwMode="auto">
          <a:xfrm>
            <a:off x="3492500" y="3403600"/>
            <a:ext cx="30163" cy="1936750"/>
          </a:xfrm>
          <a:prstGeom prst="line">
            <a:avLst/>
          </a:prstGeom>
          <a:noFill/>
          <a:ln w="19050">
            <a:solidFill>
              <a:srgbClr val="FFC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 name="左箭头 1"/>
          <p:cNvSpPr>
            <a:spLocks noChangeArrowheads="1"/>
          </p:cNvSpPr>
          <p:nvPr/>
        </p:nvSpPr>
        <p:spPr bwMode="auto">
          <a:xfrm>
            <a:off x="3492500" y="4926013"/>
            <a:ext cx="766763" cy="231775"/>
          </a:xfrm>
          <a:prstGeom prst="leftArrow">
            <a:avLst>
              <a:gd name="adj1" fmla="val 50000"/>
              <a:gd name="adj2" fmla="val 49884"/>
            </a:avLst>
          </a:prstGeom>
          <a:solidFill>
            <a:srgbClr val="FFC000"/>
          </a:solidFill>
          <a:ln w="9525" algn="ctr">
            <a:solidFill>
              <a:srgbClr val="000000"/>
            </a:solidFill>
            <a:round/>
            <a:headEnd/>
            <a:tailEnd type="triangle" w="med" len="me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p>
        </p:txBody>
      </p:sp>
      <p:sp>
        <p:nvSpPr>
          <p:cNvPr id="3" name="上箭头 2"/>
          <p:cNvSpPr>
            <a:spLocks noChangeArrowheads="1"/>
          </p:cNvSpPr>
          <p:nvPr/>
        </p:nvSpPr>
        <p:spPr bwMode="auto">
          <a:xfrm>
            <a:off x="3073400" y="3368675"/>
            <a:ext cx="169863" cy="271463"/>
          </a:xfrm>
          <a:prstGeom prst="upArrow">
            <a:avLst>
              <a:gd name="adj1" fmla="val 50000"/>
              <a:gd name="adj2" fmla="val 49890"/>
            </a:avLst>
          </a:prstGeom>
          <a:solidFill>
            <a:srgbClr val="FFC000"/>
          </a:solidFill>
          <a:ln w="9525" algn="ctr">
            <a:solidFill>
              <a:srgbClr val="000000"/>
            </a:solidFill>
            <a:round/>
            <a:headEnd/>
            <a:tailEnd type="triangle" w="med" len="me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64920"/>
                                        </p:tgtEl>
                                        <p:attrNameLst>
                                          <p:attrName>style.visibility</p:attrName>
                                        </p:attrNameLst>
                                      </p:cBhvr>
                                      <p:to>
                                        <p:strVal val="visible"/>
                                      </p:to>
                                    </p:set>
                                    <p:animEffect transition="in" filter="box(in)">
                                      <p:cBhvr>
                                        <p:cTn id="7" dur="500"/>
                                        <p:tgtEl>
                                          <p:spTgt spid="4649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64919"/>
                                        </p:tgtEl>
                                        <p:attrNameLst>
                                          <p:attrName>style.visibility</p:attrName>
                                        </p:attrNameLst>
                                      </p:cBhvr>
                                      <p:to>
                                        <p:strVal val="visible"/>
                                      </p:to>
                                    </p:set>
                                    <p:animEffect transition="in" filter="box(in)">
                                      <p:cBhvr>
                                        <p:cTn id="12" dur="500"/>
                                        <p:tgtEl>
                                          <p:spTgt spid="4649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6489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489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490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6490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6490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4" presetClass="entr" presetSubtype="16" fill="hold" nodeType="clickEffect">
                                  <p:stCondLst>
                                    <p:cond delay="0"/>
                                  </p:stCondLst>
                                  <p:childTnLst>
                                    <p:set>
                                      <p:cBhvr>
                                        <p:cTn id="28" dur="1" fill="hold">
                                          <p:stCondLst>
                                            <p:cond delay="0"/>
                                          </p:stCondLst>
                                        </p:cTn>
                                        <p:tgtEl>
                                          <p:spTgt spid="464922"/>
                                        </p:tgtEl>
                                        <p:attrNameLst>
                                          <p:attrName>style.visibility</p:attrName>
                                        </p:attrNameLst>
                                      </p:cBhvr>
                                      <p:to>
                                        <p:strVal val="visible"/>
                                      </p:to>
                                    </p:set>
                                    <p:animEffect transition="in" filter="box(in)">
                                      <p:cBhvr>
                                        <p:cTn id="29" dur="500"/>
                                        <p:tgtEl>
                                          <p:spTgt spid="46492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4" presetClass="entr" presetSubtype="16" fill="hold" nodeType="clickEffect">
                                  <p:stCondLst>
                                    <p:cond delay="0"/>
                                  </p:stCondLst>
                                  <p:childTnLst>
                                    <p:set>
                                      <p:cBhvr>
                                        <p:cTn id="33" dur="1" fill="hold">
                                          <p:stCondLst>
                                            <p:cond delay="0"/>
                                          </p:stCondLst>
                                        </p:cTn>
                                        <p:tgtEl>
                                          <p:spTgt spid="464921"/>
                                        </p:tgtEl>
                                        <p:attrNameLst>
                                          <p:attrName>style.visibility</p:attrName>
                                        </p:attrNameLst>
                                      </p:cBhvr>
                                      <p:to>
                                        <p:strVal val="visible"/>
                                      </p:to>
                                    </p:set>
                                    <p:animEffect transition="in" filter="box(in)">
                                      <p:cBhvr>
                                        <p:cTn id="34" dur="500"/>
                                        <p:tgtEl>
                                          <p:spTgt spid="46492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6" presetClass="entr" presetSubtype="16"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circle(in)">
                                      <p:cBhvr>
                                        <p:cTn id="39" dur="2000"/>
                                        <p:tgtEl>
                                          <p:spTgt spid="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6" presetClass="entr" presetSubtype="16" fill="hold" grpId="0"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circle(in)">
                                      <p:cBhvr>
                                        <p:cTn id="44"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898" grpId="0"/>
      <p:bldP spid="464899" grpId="0"/>
      <p:bldP spid="464900" grpId="0"/>
      <p:bldP spid="2" grpId="0" animBg="1"/>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noFill/>
        </p:spPr>
        <p:txBody>
          <a:bodyPr/>
          <a:lstStyle/>
          <a:p>
            <a:pPr eaLnBrk="1" hangingPunct="1"/>
            <a:r>
              <a:rPr lang="zh-CN" altLang="en-US" b="1" smtClean="0">
                <a:solidFill>
                  <a:schemeClr val="hlink"/>
                </a:solidFill>
              </a:rPr>
              <a:t>第二节 税收的经济影响</a:t>
            </a:r>
          </a:p>
        </p:txBody>
      </p:sp>
      <p:sp>
        <p:nvSpPr>
          <p:cNvPr id="14339" name="Rectangle 3"/>
          <p:cNvSpPr>
            <a:spLocks noGrp="1" noChangeArrowheads="1"/>
          </p:cNvSpPr>
          <p:nvPr>
            <p:ph idx="1"/>
          </p:nvPr>
        </p:nvSpPr>
        <p:spPr>
          <a:xfrm>
            <a:off x="468313" y="1412875"/>
            <a:ext cx="7924800" cy="4419600"/>
          </a:xfrm>
        </p:spPr>
        <p:txBody>
          <a:bodyPr/>
          <a:lstStyle/>
          <a:p>
            <a:pPr eaLnBrk="1" hangingPunct="1"/>
            <a:r>
              <a:rPr lang="zh-CN" altLang="en-US" b="1" smtClean="0">
                <a:hlinkClick r:id="rId2" action="ppaction://hlinksldjump"/>
              </a:rPr>
              <a:t>一、税收对劳动供给的影响</a:t>
            </a:r>
            <a:endParaRPr lang="zh-CN" altLang="en-US" b="1" smtClean="0"/>
          </a:p>
          <a:p>
            <a:pPr lvl="1" eaLnBrk="1" hangingPunct="1"/>
            <a:r>
              <a:rPr lang="en-US" altLang="zh-CN" b="1" smtClean="0">
                <a:latin typeface="Times New Roman" panose="02020603050405020304" pitchFamily="18" charset="0"/>
              </a:rPr>
              <a:t>(the effect in labor supply)</a:t>
            </a:r>
            <a:r>
              <a:rPr lang="en-US" altLang="zh-CN" sz="3200" smtClean="0"/>
              <a:t> </a:t>
            </a:r>
            <a:endParaRPr lang="en-US" altLang="zh-CN" sz="3200" b="1" smtClean="0"/>
          </a:p>
          <a:p>
            <a:pPr eaLnBrk="1" hangingPunct="1"/>
            <a:r>
              <a:rPr lang="zh-CN" altLang="en-US" b="1" smtClean="0">
                <a:hlinkClick r:id="rId3" action="ppaction://hlinksldjump"/>
              </a:rPr>
              <a:t>二、税收对居民储蓄的影响</a:t>
            </a:r>
            <a:endParaRPr lang="zh-CN" altLang="en-US" b="1" smtClean="0"/>
          </a:p>
          <a:p>
            <a:pPr lvl="1" eaLnBrk="1" hangingPunct="1"/>
            <a:r>
              <a:rPr lang="en-US" altLang="zh-CN" b="1" smtClean="0">
                <a:latin typeface="Times New Roman" panose="02020603050405020304" pitchFamily="18" charset="0"/>
              </a:rPr>
              <a:t>(the effect in saving)</a:t>
            </a:r>
            <a:r>
              <a:rPr lang="en-US" altLang="zh-CN" smtClean="0"/>
              <a:t> </a:t>
            </a:r>
            <a:endParaRPr lang="en-US" altLang="zh-CN" b="1" smtClean="0"/>
          </a:p>
          <a:p>
            <a:pPr eaLnBrk="1" hangingPunct="1"/>
            <a:r>
              <a:rPr lang="zh-CN" altLang="en-US" b="1" smtClean="0">
                <a:hlinkClick r:id="rId4" action="ppaction://hlinksldjump"/>
              </a:rPr>
              <a:t>三、税收对投资的影响</a:t>
            </a:r>
            <a:endParaRPr lang="zh-CN" altLang="en-US" b="1" smtClean="0"/>
          </a:p>
          <a:p>
            <a:pPr lvl="1" eaLnBrk="1" hangingPunct="1"/>
            <a:r>
              <a:rPr lang="en-US" altLang="zh-CN" b="1" smtClean="0">
                <a:latin typeface="Times New Roman" panose="02020603050405020304" pitchFamily="18" charset="0"/>
              </a:rPr>
              <a:t>(the effect in investment</a:t>
            </a:r>
            <a:r>
              <a:rPr lang="en-US" altLang="zh-CN" smtClean="0">
                <a:latin typeface="Times New Roman" panose="02020603050405020304" pitchFamily="18" charset="0"/>
              </a:rPr>
              <a:t> )</a:t>
            </a:r>
            <a:endParaRPr lang="en-US" altLang="zh-CN" b="1" smtClean="0">
              <a:latin typeface="Times New Roman" panose="02020603050405020304" pitchFamily="18" charset="0"/>
            </a:endParaRPr>
          </a:p>
          <a:p>
            <a:pPr eaLnBrk="1" hangingPunct="1"/>
            <a:r>
              <a:rPr lang="zh-CN" altLang="en-US" b="1" smtClean="0">
                <a:hlinkClick r:id="rId5" action="ppaction://hlinksldjump"/>
              </a:rPr>
              <a:t>四、税收对个人收入分配的影响</a:t>
            </a:r>
            <a:endParaRPr lang="zh-CN" altLang="en-US" b="1" smtClean="0"/>
          </a:p>
          <a:p>
            <a:pPr lvl="1" eaLnBrk="1" hangingPunct="1"/>
            <a:r>
              <a:rPr lang="en-US" altLang="zh-CN" b="1" smtClean="0">
                <a:latin typeface="Times New Roman" panose="02020603050405020304" pitchFamily="18" charset="0"/>
              </a:rPr>
              <a:t>(the effect in individual income distribution</a:t>
            </a:r>
            <a:r>
              <a:rPr lang="en-US" altLang="zh-CN" smtClean="0">
                <a:latin typeface="Times New Roman" panose="02020603050405020304" pitchFamily="18" charset="0"/>
              </a:rPr>
              <a:t> )</a:t>
            </a: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68313" y="260350"/>
            <a:ext cx="8229600" cy="1143000"/>
          </a:xfrm>
          <a:noFill/>
        </p:spPr>
        <p:txBody>
          <a:bodyPr/>
          <a:lstStyle/>
          <a:p>
            <a:pPr eaLnBrk="1" hangingPunct="1"/>
            <a:r>
              <a:rPr lang="zh-CN" altLang="en-US" sz="3800" b="1" smtClean="0"/>
              <a:t>一、税收对劳动供给的影响</a:t>
            </a:r>
          </a:p>
        </p:txBody>
      </p:sp>
      <p:sp>
        <p:nvSpPr>
          <p:cNvPr id="15363" name="Rectangle 3"/>
          <p:cNvSpPr>
            <a:spLocks noGrp="1" noChangeArrowheads="1"/>
          </p:cNvSpPr>
          <p:nvPr>
            <p:ph idx="1"/>
          </p:nvPr>
        </p:nvSpPr>
        <p:spPr/>
        <p:txBody>
          <a:bodyPr/>
          <a:lstStyle/>
          <a:p>
            <a:pPr eaLnBrk="1" hangingPunct="1"/>
            <a:r>
              <a:rPr lang="zh-CN" altLang="en-US" sz="3400" b="1" smtClean="0"/>
              <a:t>（一）税收对劳动供给的收入效应和替代效应分析</a:t>
            </a:r>
          </a:p>
          <a:p>
            <a:pPr eaLnBrk="1" hangingPunct="1"/>
            <a:r>
              <a:rPr lang="zh-CN" altLang="en-US" sz="3400" b="1" smtClean="0"/>
              <a:t>（二）我国的实际情况</a:t>
            </a: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95263" y="228600"/>
            <a:ext cx="8121650" cy="914400"/>
          </a:xfrm>
        </p:spPr>
        <p:txBody>
          <a:bodyPr/>
          <a:lstStyle/>
          <a:p>
            <a:pPr eaLnBrk="1" hangingPunct="1"/>
            <a:r>
              <a:rPr lang="zh-CN" altLang="en-US" sz="2800" b="1" smtClean="0">
                <a:solidFill>
                  <a:srgbClr val="FFC000"/>
                </a:solidFill>
              </a:rPr>
              <a:t>（一）税收对劳动供给的收入效应和替代效应分析</a:t>
            </a:r>
          </a:p>
        </p:txBody>
      </p:sp>
      <p:sp>
        <p:nvSpPr>
          <p:cNvPr id="485379" name="Rectangle 3"/>
          <p:cNvSpPr>
            <a:spLocks noGrp="1" noChangeArrowheads="1"/>
          </p:cNvSpPr>
          <p:nvPr>
            <p:ph idx="1"/>
          </p:nvPr>
        </p:nvSpPr>
        <p:spPr>
          <a:xfrm>
            <a:off x="609600" y="1600200"/>
            <a:ext cx="7924800" cy="4708525"/>
          </a:xfrm>
        </p:spPr>
        <p:txBody>
          <a:bodyPr/>
          <a:lstStyle/>
          <a:p>
            <a:pPr eaLnBrk="1" hangingPunct="1"/>
            <a:r>
              <a:rPr lang="en-US" altLang="zh-CN" b="1" smtClean="0">
                <a:solidFill>
                  <a:srgbClr val="FFC000"/>
                </a:solidFill>
              </a:rPr>
              <a:t> </a:t>
            </a:r>
            <a:r>
              <a:rPr lang="zh-CN" altLang="en-US" b="1" smtClean="0">
                <a:solidFill>
                  <a:srgbClr val="FFC000"/>
                </a:solidFill>
              </a:rPr>
              <a:t>收入或闲暇之间的选择</a:t>
            </a:r>
            <a:endParaRPr lang="en-US" altLang="zh-CN" b="1" smtClean="0">
              <a:solidFill>
                <a:srgbClr val="FFC000"/>
              </a:solidFill>
            </a:endParaRPr>
          </a:p>
          <a:p>
            <a:pPr eaLnBrk="1" hangingPunct="1"/>
            <a:r>
              <a:rPr lang="zh-CN" altLang="en-US" b="1" smtClean="0">
                <a:solidFill>
                  <a:srgbClr val="FFC000"/>
                </a:solidFill>
              </a:rPr>
              <a:t>工作可以获得收入进而购买相关商品获取效用，闲暇可以直接带来效用。</a:t>
            </a:r>
            <a:endParaRPr lang="en-US" altLang="zh-CN" b="1" smtClean="0">
              <a:solidFill>
                <a:srgbClr val="FFC000"/>
              </a:solidFill>
            </a:endParaRPr>
          </a:p>
          <a:p>
            <a:pPr eaLnBrk="1" hangingPunct="1"/>
            <a:r>
              <a:rPr lang="zh-CN" altLang="en-US" b="1" smtClean="0">
                <a:solidFill>
                  <a:srgbClr val="FFC000"/>
                </a:solidFill>
              </a:rPr>
              <a:t>工资是闲暇的价格（机会成本）</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85379">
                                            <p:txEl>
                                              <p:pRg st="0" end="0"/>
                                            </p:txEl>
                                          </p:spTgt>
                                        </p:tgtEl>
                                        <p:attrNameLst>
                                          <p:attrName>style.visibility</p:attrName>
                                        </p:attrNameLst>
                                      </p:cBhvr>
                                      <p:to>
                                        <p:strVal val="visible"/>
                                      </p:to>
                                    </p:set>
                                    <p:animEffect transition="in" filter="box(in)">
                                      <p:cBhvr>
                                        <p:cTn id="7" dur="500"/>
                                        <p:tgtEl>
                                          <p:spTgt spid="4853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85379">
                                            <p:txEl>
                                              <p:pRg st="1" end="1"/>
                                            </p:txEl>
                                          </p:spTgt>
                                        </p:tgtEl>
                                        <p:attrNameLst>
                                          <p:attrName>style.visibility</p:attrName>
                                        </p:attrNameLst>
                                      </p:cBhvr>
                                      <p:to>
                                        <p:strVal val="visible"/>
                                      </p:to>
                                    </p:set>
                                    <p:animEffect transition="in" filter="box(in)">
                                      <p:cBhvr>
                                        <p:cTn id="12" dur="500"/>
                                        <p:tgtEl>
                                          <p:spTgt spid="4853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85379">
                                            <p:txEl>
                                              <p:pRg st="2" end="2"/>
                                            </p:txEl>
                                          </p:spTgt>
                                        </p:tgtEl>
                                        <p:attrNameLst>
                                          <p:attrName>style.visibility</p:attrName>
                                        </p:attrNameLst>
                                      </p:cBhvr>
                                      <p:to>
                                        <p:strVal val="visible"/>
                                      </p:to>
                                    </p:set>
                                    <p:animEffect transition="in" filter="box(in)">
                                      <p:cBhvr>
                                        <p:cTn id="17" dur="500"/>
                                        <p:tgtEl>
                                          <p:spTgt spid="4853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537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endParaRPr lang="zh-CN" altLang="en-US" smtClean="0"/>
          </a:p>
        </p:txBody>
      </p:sp>
      <p:sp>
        <p:nvSpPr>
          <p:cNvPr id="17411" name="内容占位符 2"/>
          <p:cNvSpPr>
            <a:spLocks noGrp="1"/>
          </p:cNvSpPr>
          <p:nvPr>
            <p:ph idx="1"/>
          </p:nvPr>
        </p:nvSpPr>
        <p:spPr/>
        <p:txBody>
          <a:bodyPr/>
          <a:lstStyle/>
          <a:p>
            <a:pPr eaLnBrk="1" hangingPunct="1"/>
            <a:r>
              <a:rPr lang="zh-CN" altLang="en-US" sz="3800" b="1" smtClean="0"/>
              <a:t> </a:t>
            </a:r>
            <a:r>
              <a:rPr lang="en-US" altLang="zh-CN" b="1" smtClean="0"/>
              <a:t>1.</a:t>
            </a:r>
            <a:r>
              <a:rPr lang="zh-CN" altLang="en-US" b="1" smtClean="0"/>
              <a:t>税收对劳动供给的</a:t>
            </a:r>
            <a:r>
              <a:rPr lang="zh-CN" altLang="en-US" b="1" smtClean="0">
                <a:solidFill>
                  <a:srgbClr val="FFC000"/>
                </a:solidFill>
              </a:rPr>
              <a:t>收入效应</a:t>
            </a:r>
          </a:p>
          <a:p>
            <a:pPr eaLnBrk="1" hangingPunct="1"/>
            <a:r>
              <a:rPr lang="zh-CN" altLang="en-US" b="1" smtClean="0"/>
              <a:t> 是指征税后减少了个人可支配收入，促使其减少消费支出，而减少消费闲暇商品（</a:t>
            </a:r>
            <a:r>
              <a:rPr lang="zh-CN" altLang="en-US" b="1" smtClean="0">
                <a:solidFill>
                  <a:srgbClr val="FFC000"/>
                </a:solidFill>
              </a:rPr>
              <a:t>少买闲暇商品</a:t>
            </a:r>
            <a:r>
              <a:rPr lang="zh-CN" altLang="en-US" b="1" smtClean="0"/>
              <a:t>），结果</a:t>
            </a:r>
            <a:r>
              <a:rPr lang="zh-CN" altLang="en-US" b="1" smtClean="0">
                <a:solidFill>
                  <a:srgbClr val="FFC000"/>
                </a:solidFill>
              </a:rPr>
              <a:t>增加了工作时间。</a:t>
            </a:r>
          </a:p>
          <a:p>
            <a:endParaRPr lang="zh-CN" altLang="en-US" smtClean="0"/>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endParaRPr lang="zh-CN" altLang="zh-CN" smtClean="0"/>
          </a:p>
        </p:txBody>
      </p:sp>
      <p:sp>
        <p:nvSpPr>
          <p:cNvPr id="486403" name="Rectangle 3"/>
          <p:cNvSpPr>
            <a:spLocks noGrp="1" noChangeArrowheads="1"/>
          </p:cNvSpPr>
          <p:nvPr>
            <p:ph idx="1"/>
          </p:nvPr>
        </p:nvSpPr>
        <p:spPr/>
        <p:txBody>
          <a:bodyPr/>
          <a:lstStyle/>
          <a:p>
            <a:pPr eaLnBrk="1" hangingPunct="1">
              <a:lnSpc>
                <a:spcPct val="90000"/>
              </a:lnSpc>
            </a:pPr>
            <a:r>
              <a:rPr lang="en-US" altLang="zh-CN" b="1" smtClean="0"/>
              <a:t>2.</a:t>
            </a:r>
            <a:r>
              <a:rPr lang="zh-CN" altLang="en-US" b="1" smtClean="0"/>
              <a:t>税收对劳动供给的</a:t>
            </a:r>
            <a:r>
              <a:rPr lang="zh-CN" altLang="en-US" b="1" smtClean="0">
                <a:solidFill>
                  <a:srgbClr val="FFC000"/>
                </a:solidFill>
              </a:rPr>
              <a:t>替代效应</a:t>
            </a:r>
          </a:p>
          <a:p>
            <a:pPr eaLnBrk="1" hangingPunct="1">
              <a:lnSpc>
                <a:spcPct val="90000"/>
              </a:lnSpc>
              <a:buFont typeface="Wingdings" panose="05000000000000000000" pitchFamily="2" charset="2"/>
              <a:buNone/>
            </a:pPr>
            <a:r>
              <a:rPr lang="zh-CN" altLang="en-US" b="1" smtClean="0"/>
              <a:t>  是指由于征税使劳动和闲暇的相对价格发生变化，劳动收入下降，闲暇的相对价格降低</a:t>
            </a:r>
            <a:r>
              <a:rPr lang="zh-CN" altLang="en-US" b="1" smtClean="0">
                <a:solidFill>
                  <a:srgbClr val="FFC000"/>
                </a:solidFill>
              </a:rPr>
              <a:t>（多买闲暇商品），</a:t>
            </a:r>
            <a:r>
              <a:rPr lang="zh-CN" altLang="en-US" b="1" smtClean="0"/>
              <a:t>促使人们</a:t>
            </a:r>
            <a:r>
              <a:rPr lang="zh-CN" altLang="en-US" b="1" smtClean="0">
                <a:solidFill>
                  <a:srgbClr val="FFC000"/>
                </a:solidFill>
              </a:rPr>
              <a:t>选择闲暇以替代工作。</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86403">
                                            <p:txEl>
                                              <p:pRg st="0" end="0"/>
                                            </p:txEl>
                                          </p:spTgt>
                                        </p:tgtEl>
                                        <p:attrNameLst>
                                          <p:attrName>style.visibility</p:attrName>
                                        </p:attrNameLst>
                                      </p:cBhvr>
                                      <p:to>
                                        <p:strVal val="visible"/>
                                      </p:to>
                                    </p:set>
                                    <p:animEffect transition="in" filter="box(in)">
                                      <p:cBhvr>
                                        <p:cTn id="7" dur="500"/>
                                        <p:tgtEl>
                                          <p:spTgt spid="4864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86403">
                                            <p:txEl>
                                              <p:pRg st="1" end="1"/>
                                            </p:txEl>
                                          </p:spTgt>
                                        </p:tgtEl>
                                        <p:attrNameLst>
                                          <p:attrName>style.visibility</p:attrName>
                                        </p:attrNameLst>
                                      </p:cBhvr>
                                      <p:to>
                                        <p:strVal val="visible"/>
                                      </p:to>
                                    </p:set>
                                    <p:animEffect transition="in" filter="box(in)">
                                      <p:cBhvr>
                                        <p:cTn id="12" dur="500"/>
                                        <p:tgtEl>
                                          <p:spTgt spid="48640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640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endParaRPr lang="zh-CN" altLang="en-US" smtClean="0"/>
          </a:p>
        </p:txBody>
      </p:sp>
      <p:sp>
        <p:nvSpPr>
          <p:cNvPr id="19459" name="内容占位符 2"/>
          <p:cNvSpPr>
            <a:spLocks noGrp="1"/>
          </p:cNvSpPr>
          <p:nvPr>
            <p:ph idx="1"/>
          </p:nvPr>
        </p:nvSpPr>
        <p:spPr/>
        <p:txBody>
          <a:bodyPr/>
          <a:lstStyle/>
          <a:p>
            <a:pPr eaLnBrk="1" hangingPunct="1">
              <a:lnSpc>
                <a:spcPct val="90000"/>
              </a:lnSpc>
            </a:pPr>
            <a:r>
              <a:rPr lang="en-US" altLang="zh-CN" b="1" smtClean="0"/>
              <a:t>3.</a:t>
            </a:r>
            <a:r>
              <a:rPr lang="zh-CN" altLang="en-US" b="1" smtClean="0"/>
              <a:t>如果</a:t>
            </a:r>
            <a:r>
              <a:rPr lang="zh-CN" altLang="en-US" b="1" smtClean="0">
                <a:solidFill>
                  <a:srgbClr val="FFC000"/>
                </a:solidFill>
              </a:rPr>
              <a:t>收入效应大于替代效应</a:t>
            </a:r>
            <a:r>
              <a:rPr lang="zh-CN" altLang="en-US" b="1" smtClean="0"/>
              <a:t>，征税对劳动供给主要是刺激作用；</a:t>
            </a:r>
            <a:endParaRPr lang="en-US" altLang="zh-CN" b="1" smtClean="0"/>
          </a:p>
          <a:p>
            <a:pPr eaLnBrk="1" hangingPunct="1">
              <a:lnSpc>
                <a:spcPct val="90000"/>
              </a:lnSpc>
            </a:pPr>
            <a:r>
              <a:rPr lang="zh-CN" altLang="en-US" b="1" smtClean="0"/>
              <a:t>如果</a:t>
            </a:r>
            <a:r>
              <a:rPr lang="zh-CN" altLang="en-US" b="1" smtClean="0">
                <a:solidFill>
                  <a:srgbClr val="FFC000"/>
                </a:solidFill>
              </a:rPr>
              <a:t>收入效应小于替代效应</a:t>
            </a:r>
            <a:r>
              <a:rPr lang="zh-CN" altLang="en-US" b="1" smtClean="0"/>
              <a:t>，征税对劳动供给就会形成超额负担，人们选择闲暇。收入效应和替代效应呈反方向。</a:t>
            </a:r>
            <a:endParaRPr lang="zh-CN" altLang="en-US" smtClean="0"/>
          </a:p>
          <a:p>
            <a:endParaRPr lang="zh-CN" altLang="en-US" smtClean="0"/>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r>
              <a:rPr lang="zh-CN" altLang="en-US" b="1" smtClean="0">
                <a:solidFill>
                  <a:srgbClr val="FFC000"/>
                </a:solidFill>
              </a:rPr>
              <a:t>收入效应大于替代效应</a:t>
            </a:r>
            <a:endParaRPr lang="zh-CN" altLang="en-US" smtClean="0"/>
          </a:p>
        </p:txBody>
      </p:sp>
      <p:cxnSp>
        <p:nvCxnSpPr>
          <p:cNvPr id="20483" name="直接箭头连接符 4"/>
          <p:cNvCxnSpPr>
            <a:cxnSpLocks noChangeShapeType="1"/>
          </p:cNvCxnSpPr>
          <p:nvPr/>
        </p:nvCxnSpPr>
        <p:spPr bwMode="auto">
          <a:xfrm>
            <a:off x="1403350" y="5876925"/>
            <a:ext cx="6481763" cy="0"/>
          </a:xfrm>
          <a:prstGeom prst="straightConnector1">
            <a:avLst/>
          </a:prstGeom>
          <a:noFill/>
          <a:ln w="444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0484" name="直接箭头连接符 6"/>
          <p:cNvCxnSpPr>
            <a:cxnSpLocks noChangeShapeType="1"/>
          </p:cNvCxnSpPr>
          <p:nvPr/>
        </p:nvCxnSpPr>
        <p:spPr bwMode="auto">
          <a:xfrm flipV="1">
            <a:off x="1403350" y="1412875"/>
            <a:ext cx="0" cy="4464050"/>
          </a:xfrm>
          <a:prstGeom prst="straightConnector1">
            <a:avLst/>
          </a:prstGeom>
          <a:noFill/>
          <a:ln w="444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0485" name="直接连接符 10"/>
          <p:cNvCxnSpPr>
            <a:cxnSpLocks noChangeShapeType="1"/>
          </p:cNvCxnSpPr>
          <p:nvPr/>
        </p:nvCxnSpPr>
        <p:spPr bwMode="auto">
          <a:xfrm>
            <a:off x="1403350" y="1700213"/>
            <a:ext cx="5329238" cy="4176712"/>
          </a:xfrm>
          <a:prstGeom prst="line">
            <a:avLst/>
          </a:prstGeom>
          <a:noFill/>
          <a:ln w="3810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6" name="直接连接符 15"/>
          <p:cNvCxnSpPr>
            <a:cxnSpLocks noChangeShapeType="1"/>
          </p:cNvCxnSpPr>
          <p:nvPr/>
        </p:nvCxnSpPr>
        <p:spPr bwMode="auto">
          <a:xfrm>
            <a:off x="1476375" y="2708275"/>
            <a:ext cx="6335713" cy="2160588"/>
          </a:xfrm>
          <a:prstGeom prst="line">
            <a:avLst/>
          </a:prstGeom>
          <a:noFill/>
          <a:ln w="38100" algn="ctr">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 name="直接连接符 18"/>
          <p:cNvCxnSpPr>
            <a:cxnSpLocks noChangeShapeType="1"/>
          </p:cNvCxnSpPr>
          <p:nvPr/>
        </p:nvCxnSpPr>
        <p:spPr bwMode="auto">
          <a:xfrm>
            <a:off x="1403350" y="4221163"/>
            <a:ext cx="5329238" cy="1655762"/>
          </a:xfrm>
          <a:prstGeom prst="line">
            <a:avLst/>
          </a:prstGeom>
          <a:noFill/>
          <a:ln w="38100" algn="ctr">
            <a:solidFill>
              <a:srgbClr val="FFC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0488" name="任意多边形 25"/>
          <p:cNvSpPr>
            <a:spLocks/>
          </p:cNvSpPr>
          <p:nvPr/>
        </p:nvSpPr>
        <p:spPr bwMode="auto">
          <a:xfrm>
            <a:off x="1920875" y="1444625"/>
            <a:ext cx="5595938" cy="2879725"/>
          </a:xfrm>
          <a:custGeom>
            <a:avLst/>
            <a:gdLst>
              <a:gd name="T0" fmla="*/ 0 w 5596128"/>
              <a:gd name="T1" fmla="*/ 0 h 2880360"/>
              <a:gd name="T2" fmla="*/ 1151481 w 5596128"/>
              <a:gd name="T3" fmla="*/ 1539554 h 2880360"/>
              <a:gd name="T4" fmla="*/ 3116302 w 5596128"/>
              <a:gd name="T5" fmla="*/ 2432314 h 2880360"/>
              <a:gd name="T6" fmla="*/ 5592898 w 5596128"/>
              <a:gd name="T7" fmla="*/ 2869584 h 28803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596128" h="2880360">
                <a:moveTo>
                  <a:pt x="0" y="0"/>
                </a:moveTo>
                <a:cubicBezTo>
                  <a:pt x="316230" y="569214"/>
                  <a:pt x="632460" y="1138428"/>
                  <a:pt x="1152144" y="1545336"/>
                </a:cubicBezTo>
                <a:cubicBezTo>
                  <a:pt x="1671828" y="1952244"/>
                  <a:pt x="2377440" y="2218944"/>
                  <a:pt x="3118104" y="2441448"/>
                </a:cubicBezTo>
                <a:cubicBezTo>
                  <a:pt x="3858768" y="2663952"/>
                  <a:pt x="4727448" y="2772156"/>
                  <a:pt x="5596128" y="2880360"/>
                </a:cubicBezTo>
              </a:path>
            </a:pathLst>
          </a:custGeom>
          <a:noFill/>
          <a:ln w="47625" cap="flat" cmpd="sng" algn="ctr">
            <a:solidFill>
              <a:schemeClr val="bg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9" name="任意多边形 28"/>
          <p:cNvSpPr>
            <a:spLocks/>
          </p:cNvSpPr>
          <p:nvPr/>
        </p:nvSpPr>
        <p:spPr bwMode="auto">
          <a:xfrm>
            <a:off x="1420813" y="3644900"/>
            <a:ext cx="5294312" cy="1471613"/>
          </a:xfrm>
          <a:custGeom>
            <a:avLst/>
            <a:gdLst>
              <a:gd name="T0" fmla="*/ 0 w 5294376"/>
              <a:gd name="T1" fmla="*/ 0 h 1472184"/>
              <a:gd name="T2" fmla="*/ 137126 w 5294376"/>
              <a:gd name="T3" fmla="*/ 299768 h 1472184"/>
              <a:gd name="T4" fmla="*/ 786214 w 5294376"/>
              <a:gd name="T5" fmla="*/ 753963 h 1472184"/>
              <a:gd name="T6" fmla="*/ 2267253 w 5294376"/>
              <a:gd name="T7" fmla="*/ 1180906 h 1472184"/>
              <a:gd name="T8" fmla="*/ 5293288 w 5294376"/>
              <a:gd name="T9" fmla="*/ 1462507 h 147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94376" h="1472184">
                <a:moveTo>
                  <a:pt x="0" y="0"/>
                </a:moveTo>
                <a:cubicBezTo>
                  <a:pt x="3048" y="87630"/>
                  <a:pt x="6096" y="175260"/>
                  <a:pt x="137160" y="301752"/>
                </a:cubicBezTo>
                <a:cubicBezTo>
                  <a:pt x="268224" y="428244"/>
                  <a:pt x="431292" y="611124"/>
                  <a:pt x="786384" y="758952"/>
                </a:cubicBezTo>
                <a:cubicBezTo>
                  <a:pt x="1141476" y="906780"/>
                  <a:pt x="1516380" y="1069848"/>
                  <a:pt x="2267712" y="1188720"/>
                </a:cubicBezTo>
                <a:cubicBezTo>
                  <a:pt x="3019044" y="1307592"/>
                  <a:pt x="4156710" y="1389888"/>
                  <a:pt x="5294376" y="1472184"/>
                </a:cubicBezTo>
              </a:path>
            </a:pathLst>
          </a:custGeom>
          <a:noFill/>
          <a:ln w="47625"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cxnSp>
        <p:nvCxnSpPr>
          <p:cNvPr id="31" name="直接连接符 30"/>
          <p:cNvCxnSpPr>
            <a:cxnSpLocks noChangeShapeType="1"/>
          </p:cNvCxnSpPr>
          <p:nvPr/>
        </p:nvCxnSpPr>
        <p:spPr bwMode="auto">
          <a:xfrm>
            <a:off x="2484438" y="4581525"/>
            <a:ext cx="0" cy="1295400"/>
          </a:xfrm>
          <a:prstGeom prst="line">
            <a:avLst/>
          </a:prstGeom>
          <a:noFill/>
          <a:ln w="28575" algn="ctr">
            <a:solidFill>
              <a:srgbClr val="FFC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0491" name="直接连接符 34"/>
          <p:cNvCxnSpPr>
            <a:cxnSpLocks noChangeShapeType="1"/>
          </p:cNvCxnSpPr>
          <p:nvPr/>
        </p:nvCxnSpPr>
        <p:spPr bwMode="auto">
          <a:xfrm>
            <a:off x="3173413" y="3068638"/>
            <a:ext cx="73025" cy="2808287"/>
          </a:xfrm>
          <a:prstGeom prst="line">
            <a:avLst/>
          </a:prstGeom>
          <a:noFill/>
          <a:ln w="28575" algn="ctr">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7" name="直接连接符 36"/>
          <p:cNvCxnSpPr>
            <a:cxnSpLocks noChangeShapeType="1"/>
          </p:cNvCxnSpPr>
          <p:nvPr/>
        </p:nvCxnSpPr>
        <p:spPr bwMode="auto">
          <a:xfrm>
            <a:off x="4643438" y="3789363"/>
            <a:ext cx="0" cy="2087562"/>
          </a:xfrm>
          <a:prstGeom prst="line">
            <a:avLst/>
          </a:prstGeom>
          <a:noFill/>
          <a:ln w="28575" algn="ctr">
            <a:solidFill>
              <a:srgbClr val="FF0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0493" name="Text Box 11"/>
          <p:cNvSpPr txBox="1">
            <a:spLocks noChangeArrowheads="1"/>
          </p:cNvSpPr>
          <p:nvPr/>
        </p:nvSpPr>
        <p:spPr bwMode="auto">
          <a:xfrm>
            <a:off x="7234238" y="5913438"/>
            <a:ext cx="941387" cy="496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zh-CN" altLang="en-US" sz="1600" b="1">
                <a:latin typeface="Times New Roman" panose="02020603050405020304" pitchFamily="18" charset="0"/>
              </a:rPr>
              <a:t>闲暇</a:t>
            </a:r>
          </a:p>
        </p:txBody>
      </p:sp>
      <p:sp>
        <p:nvSpPr>
          <p:cNvPr id="20494" name="Text Box 11"/>
          <p:cNvSpPr txBox="1">
            <a:spLocks noChangeArrowheads="1"/>
          </p:cNvSpPr>
          <p:nvPr/>
        </p:nvSpPr>
        <p:spPr bwMode="auto">
          <a:xfrm>
            <a:off x="617538" y="1489075"/>
            <a:ext cx="941387" cy="496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zh-CN" altLang="en-US" sz="1600" b="1">
                <a:latin typeface="Times New Roman" panose="02020603050405020304" pitchFamily="18" charset="0"/>
              </a:rPr>
              <a:t>收入</a:t>
            </a:r>
          </a:p>
        </p:txBody>
      </p:sp>
      <p:sp>
        <p:nvSpPr>
          <p:cNvPr id="20495" name="文本框 39"/>
          <p:cNvSpPr txBox="1">
            <a:spLocks noChangeArrowheads="1"/>
          </p:cNvSpPr>
          <p:nvPr/>
        </p:nvSpPr>
        <p:spPr bwMode="auto">
          <a:xfrm>
            <a:off x="3138488" y="2651125"/>
            <a:ext cx="466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E1</a:t>
            </a:r>
            <a:endParaRPr lang="zh-CN" altLang="en-US" sz="1800"/>
          </a:p>
        </p:txBody>
      </p:sp>
      <p:sp>
        <p:nvSpPr>
          <p:cNvPr id="20496" name="文本框 40"/>
          <p:cNvSpPr txBox="1">
            <a:spLocks noChangeArrowheads="1"/>
          </p:cNvSpPr>
          <p:nvPr/>
        </p:nvSpPr>
        <p:spPr bwMode="auto">
          <a:xfrm>
            <a:off x="1087438" y="5945188"/>
            <a:ext cx="3635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O</a:t>
            </a:r>
            <a:endParaRPr lang="zh-CN" altLang="en-US" sz="1800"/>
          </a:p>
        </p:txBody>
      </p:sp>
      <p:sp>
        <p:nvSpPr>
          <p:cNvPr id="42" name="文本框 41"/>
          <p:cNvSpPr txBox="1">
            <a:spLocks noChangeArrowheads="1"/>
          </p:cNvSpPr>
          <p:nvPr/>
        </p:nvSpPr>
        <p:spPr bwMode="auto">
          <a:xfrm>
            <a:off x="4616450" y="3300413"/>
            <a:ext cx="466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E3</a:t>
            </a:r>
            <a:endParaRPr lang="zh-CN" altLang="en-US" sz="1800"/>
          </a:p>
        </p:txBody>
      </p:sp>
      <p:sp>
        <p:nvSpPr>
          <p:cNvPr id="43" name="文本框 42"/>
          <p:cNvSpPr txBox="1">
            <a:spLocks noChangeArrowheads="1"/>
          </p:cNvSpPr>
          <p:nvPr/>
        </p:nvSpPr>
        <p:spPr bwMode="auto">
          <a:xfrm>
            <a:off x="2362200" y="4084638"/>
            <a:ext cx="4683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E2</a:t>
            </a:r>
            <a:endParaRPr lang="zh-CN" altLang="en-US" sz="1800"/>
          </a:p>
        </p:txBody>
      </p:sp>
      <p:sp>
        <p:nvSpPr>
          <p:cNvPr id="44" name="文本框 43"/>
          <p:cNvSpPr txBox="1">
            <a:spLocks noChangeArrowheads="1"/>
          </p:cNvSpPr>
          <p:nvPr/>
        </p:nvSpPr>
        <p:spPr bwMode="auto">
          <a:xfrm>
            <a:off x="2301875" y="5924550"/>
            <a:ext cx="3381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B</a:t>
            </a:r>
            <a:endParaRPr lang="zh-CN" altLang="en-US" sz="1800"/>
          </a:p>
        </p:txBody>
      </p:sp>
      <p:sp>
        <p:nvSpPr>
          <p:cNvPr id="20500" name="文本框 44"/>
          <p:cNvSpPr txBox="1">
            <a:spLocks noChangeArrowheads="1"/>
          </p:cNvSpPr>
          <p:nvPr/>
        </p:nvSpPr>
        <p:spPr bwMode="auto">
          <a:xfrm>
            <a:off x="3063875" y="5924550"/>
            <a:ext cx="3381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A</a:t>
            </a:r>
            <a:endParaRPr lang="zh-CN" altLang="en-US" sz="1800"/>
          </a:p>
        </p:txBody>
      </p:sp>
      <p:sp>
        <p:nvSpPr>
          <p:cNvPr id="46" name="文本框 45"/>
          <p:cNvSpPr txBox="1">
            <a:spLocks noChangeArrowheads="1"/>
          </p:cNvSpPr>
          <p:nvPr/>
        </p:nvSpPr>
        <p:spPr bwMode="auto">
          <a:xfrm>
            <a:off x="4433888" y="5902325"/>
            <a:ext cx="3254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F</a:t>
            </a:r>
            <a:endParaRPr lang="zh-CN" altLang="en-US" sz="1800"/>
          </a:p>
        </p:txBody>
      </p:sp>
      <p:sp>
        <p:nvSpPr>
          <p:cNvPr id="20502" name="文本框 46"/>
          <p:cNvSpPr txBox="1">
            <a:spLocks noChangeArrowheads="1"/>
          </p:cNvSpPr>
          <p:nvPr/>
        </p:nvSpPr>
        <p:spPr bwMode="auto">
          <a:xfrm>
            <a:off x="6554788" y="5902325"/>
            <a:ext cx="3254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Z</a:t>
            </a:r>
            <a:endParaRPr lang="zh-CN" altLang="en-US" sz="1800"/>
          </a:p>
        </p:txBody>
      </p:sp>
      <p:sp>
        <p:nvSpPr>
          <p:cNvPr id="20503" name="文本框 47"/>
          <p:cNvSpPr txBox="1">
            <a:spLocks noChangeArrowheads="1"/>
          </p:cNvSpPr>
          <p:nvPr/>
        </p:nvSpPr>
        <p:spPr bwMode="auto">
          <a:xfrm>
            <a:off x="990600" y="1624013"/>
            <a:ext cx="352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D</a:t>
            </a:r>
            <a:endParaRPr lang="zh-CN" altLang="en-US" sz="1800"/>
          </a:p>
        </p:txBody>
      </p:sp>
      <p:sp>
        <p:nvSpPr>
          <p:cNvPr id="49" name="文本框 48"/>
          <p:cNvSpPr txBox="1">
            <a:spLocks noChangeArrowheads="1"/>
          </p:cNvSpPr>
          <p:nvPr/>
        </p:nvSpPr>
        <p:spPr bwMode="auto">
          <a:xfrm>
            <a:off x="901700" y="4037013"/>
            <a:ext cx="3508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C</a:t>
            </a:r>
            <a:endParaRPr lang="zh-CN" altLang="en-US" sz="1800"/>
          </a:p>
        </p:txBody>
      </p:sp>
      <p:sp>
        <p:nvSpPr>
          <p:cNvPr id="20505" name="文本框 49"/>
          <p:cNvSpPr txBox="1">
            <a:spLocks noChangeArrowheads="1"/>
          </p:cNvSpPr>
          <p:nvPr/>
        </p:nvSpPr>
        <p:spPr bwMode="auto">
          <a:xfrm>
            <a:off x="7251700" y="3805238"/>
            <a:ext cx="479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U1</a:t>
            </a:r>
            <a:endParaRPr lang="zh-CN" altLang="en-US" sz="1800"/>
          </a:p>
        </p:txBody>
      </p:sp>
      <p:sp>
        <p:nvSpPr>
          <p:cNvPr id="51" name="文本框 50"/>
          <p:cNvSpPr txBox="1">
            <a:spLocks noChangeArrowheads="1"/>
          </p:cNvSpPr>
          <p:nvPr/>
        </p:nvSpPr>
        <p:spPr bwMode="auto">
          <a:xfrm>
            <a:off x="6351588" y="4708525"/>
            <a:ext cx="479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U2</a:t>
            </a:r>
            <a:endParaRPr lang="zh-CN" altLang="en-US" sz="1800"/>
          </a:p>
        </p:txBody>
      </p:sp>
      <p:sp>
        <p:nvSpPr>
          <p:cNvPr id="52" name="左箭头 51"/>
          <p:cNvSpPr>
            <a:spLocks noChangeArrowheads="1"/>
          </p:cNvSpPr>
          <p:nvPr/>
        </p:nvSpPr>
        <p:spPr bwMode="auto">
          <a:xfrm>
            <a:off x="2484438" y="4968875"/>
            <a:ext cx="688975" cy="215900"/>
          </a:xfrm>
          <a:prstGeom prst="leftArrow">
            <a:avLst>
              <a:gd name="adj1" fmla="val 50000"/>
              <a:gd name="adj2" fmla="val 49936"/>
            </a:avLst>
          </a:prstGeom>
          <a:solidFill>
            <a:srgbClr val="FFC000"/>
          </a:solidFill>
          <a:ln w="9525" algn="ctr">
            <a:solidFill>
              <a:srgbClr val="000000"/>
            </a:solidFill>
            <a:round/>
            <a:headEnd/>
            <a:tailEnd type="triangle" w="med" len="me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p>
        </p:txBody>
      </p:sp>
      <p:sp>
        <p:nvSpPr>
          <p:cNvPr id="53" name="右箭头 52"/>
          <p:cNvSpPr>
            <a:spLocks noChangeArrowheads="1"/>
          </p:cNvSpPr>
          <p:nvPr/>
        </p:nvSpPr>
        <p:spPr bwMode="auto">
          <a:xfrm>
            <a:off x="3246438" y="5300663"/>
            <a:ext cx="1397000" cy="215900"/>
          </a:xfrm>
          <a:prstGeom prst="rightArrow">
            <a:avLst>
              <a:gd name="adj1" fmla="val 50000"/>
              <a:gd name="adj2" fmla="val 49997"/>
            </a:avLst>
          </a:prstGeom>
          <a:solidFill>
            <a:srgbClr val="FF0000"/>
          </a:solidFill>
          <a:ln w="9525" algn="ctr">
            <a:solidFill>
              <a:srgbClr val="000000"/>
            </a:solidFill>
            <a:prstDash val="dash"/>
            <a:round/>
            <a:headEnd/>
            <a:tailEnd type="triangle" w="med" len="me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p>
        </p:txBody>
      </p:sp>
      <p:sp>
        <p:nvSpPr>
          <p:cNvPr id="54" name="左箭头 53"/>
          <p:cNvSpPr>
            <a:spLocks noChangeArrowheads="1"/>
          </p:cNvSpPr>
          <p:nvPr/>
        </p:nvSpPr>
        <p:spPr bwMode="auto">
          <a:xfrm>
            <a:off x="2484438" y="5589588"/>
            <a:ext cx="2132012" cy="215900"/>
          </a:xfrm>
          <a:prstGeom prst="leftArrow">
            <a:avLst>
              <a:gd name="adj1" fmla="val 50000"/>
              <a:gd name="adj2" fmla="val 50015"/>
            </a:avLst>
          </a:prstGeom>
          <a:solidFill>
            <a:srgbClr val="7030A0"/>
          </a:solidFill>
          <a:ln w="9525" algn="ctr">
            <a:solidFill>
              <a:srgbClr val="000000"/>
            </a:solidFill>
            <a:round/>
            <a:headEnd/>
            <a:tailEnd type="triangle" w="med" len="me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p>
        </p:txBody>
      </p:sp>
      <p:sp>
        <p:nvSpPr>
          <p:cNvPr id="56" name="矩形标注 55"/>
          <p:cNvSpPr>
            <a:spLocks noChangeArrowheads="1"/>
          </p:cNvSpPr>
          <p:nvPr/>
        </p:nvSpPr>
        <p:spPr bwMode="auto">
          <a:xfrm>
            <a:off x="3944938" y="2151063"/>
            <a:ext cx="1419225" cy="557212"/>
          </a:xfrm>
          <a:prstGeom prst="wedgeRectCallout">
            <a:avLst>
              <a:gd name="adj1" fmla="val -61134"/>
              <a:gd name="adj2" fmla="val 527773"/>
            </a:avLst>
          </a:prstGeom>
          <a:solidFill>
            <a:schemeClr val="accent1"/>
          </a:solidFill>
          <a:ln w="9525" algn="ctr">
            <a:solidFill>
              <a:srgbClr val="000000"/>
            </a:solidFill>
            <a:round/>
            <a:headEn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400" b="1"/>
              <a:t>替代效应</a:t>
            </a:r>
          </a:p>
        </p:txBody>
      </p:sp>
      <p:sp>
        <p:nvSpPr>
          <p:cNvPr id="57" name="圆角矩形标注 56"/>
          <p:cNvSpPr>
            <a:spLocks noChangeArrowheads="1"/>
          </p:cNvSpPr>
          <p:nvPr/>
        </p:nvSpPr>
        <p:spPr bwMode="auto">
          <a:xfrm>
            <a:off x="3663950" y="6350000"/>
            <a:ext cx="1771650" cy="476250"/>
          </a:xfrm>
          <a:prstGeom prst="wedgeRoundRectCallout">
            <a:avLst>
              <a:gd name="adj1" fmla="val -34190"/>
              <a:gd name="adj2" fmla="val -177972"/>
              <a:gd name="adj3" fmla="val 16667"/>
            </a:avLst>
          </a:prstGeom>
          <a:solidFill>
            <a:schemeClr val="accent1"/>
          </a:solidFill>
          <a:ln w="9525" algn="ctr">
            <a:solidFill>
              <a:srgbClr val="000000"/>
            </a:solidFill>
            <a:round/>
            <a:headEn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400" b="1"/>
              <a:t>收入效应</a:t>
            </a:r>
          </a:p>
        </p:txBody>
      </p:sp>
      <p:sp>
        <p:nvSpPr>
          <p:cNvPr id="58" name="圆角矩形标注 57"/>
          <p:cNvSpPr>
            <a:spLocks noChangeArrowheads="1"/>
          </p:cNvSpPr>
          <p:nvPr/>
        </p:nvSpPr>
        <p:spPr bwMode="auto">
          <a:xfrm>
            <a:off x="712788" y="4581525"/>
            <a:ext cx="539750" cy="1223963"/>
          </a:xfrm>
          <a:prstGeom prst="wedgeRoundRectCallout">
            <a:avLst>
              <a:gd name="adj1" fmla="val 298532"/>
              <a:gd name="adj2" fmla="val -7718"/>
              <a:gd name="adj3" fmla="val 16667"/>
            </a:avLst>
          </a:prstGeom>
          <a:solidFill>
            <a:schemeClr val="accent1"/>
          </a:solidFill>
          <a:ln w="9525" algn="ctr">
            <a:solidFill>
              <a:srgbClr val="000000"/>
            </a:solidFill>
            <a:round/>
            <a:headEn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400" b="1"/>
              <a:t>总效应</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circle(in)">
                                      <p:cBhvr>
                                        <p:cTn id="7" dur="2000"/>
                                        <p:tgtEl>
                                          <p:spTgt spid="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circle(in)">
                                      <p:cBhvr>
                                        <p:cTn id="12" dur="2000"/>
                                        <p:tgtEl>
                                          <p:spTgt spid="4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6" presetClass="entr" presetSubtype="16"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circle(in)">
                                      <p:cBhvr>
                                        <p:cTn id="17" dur="2000"/>
                                        <p:tgtEl>
                                          <p:spTgt spid="2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circle(in)">
                                      <p:cBhvr>
                                        <p:cTn id="22" dur="2000"/>
                                        <p:tgtEl>
                                          <p:spTgt spid="5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circle(in)">
                                      <p:cBhvr>
                                        <p:cTn id="27" dur="2000"/>
                                        <p:tgtEl>
                                          <p:spTgt spid="4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6" presetClass="entr" presetSubtype="16"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circle(in)">
                                      <p:cBhvr>
                                        <p:cTn id="32" dur="2000"/>
                                        <p:tgtEl>
                                          <p:spTgt spid="3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circle(in)">
                                      <p:cBhvr>
                                        <p:cTn id="37" dur="2000"/>
                                        <p:tgtEl>
                                          <p:spTgt spid="4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52"/>
                                        </p:tgtEl>
                                        <p:attrNameLst>
                                          <p:attrName>style.visibility</p:attrName>
                                        </p:attrNameLst>
                                      </p:cBhvr>
                                      <p:to>
                                        <p:strVal val="visible"/>
                                      </p:to>
                                    </p:set>
                                    <p:animEffect transition="in" filter="circle(in)">
                                      <p:cBhvr>
                                        <p:cTn id="42" dur="2000"/>
                                        <p:tgtEl>
                                          <p:spTgt spid="5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58"/>
                                        </p:tgtEl>
                                        <p:attrNameLst>
                                          <p:attrName>style.visibility</p:attrName>
                                        </p:attrNameLst>
                                      </p:cBhvr>
                                      <p:to>
                                        <p:strVal val="visible"/>
                                      </p:to>
                                    </p:set>
                                    <p:animEffect transition="in" filter="circle(in)">
                                      <p:cBhvr>
                                        <p:cTn id="47" dur="2000"/>
                                        <p:tgtEl>
                                          <p:spTgt spid="5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4" presetClass="entr" presetSubtype="10"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randombar(horizontal)">
                                      <p:cBhvr>
                                        <p:cTn id="52" dur="500"/>
                                        <p:tgtEl>
                                          <p:spTgt spid="1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4" presetClass="entr" presetSubtype="10" fill="hold" grpId="0" nodeType="click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randombar(horizontal)">
                                      <p:cBhvr>
                                        <p:cTn id="57" dur="500"/>
                                        <p:tgtEl>
                                          <p:spTgt spid="4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4" presetClass="entr" presetSubtype="10" fill="hold" nodeType="click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randombar(horizontal)">
                                      <p:cBhvr>
                                        <p:cTn id="62" dur="500"/>
                                        <p:tgtEl>
                                          <p:spTgt spid="3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4" presetClass="entr" presetSubtype="10" fill="hold" grpId="0" nodeType="clickEffect">
                                  <p:stCondLst>
                                    <p:cond delay="0"/>
                                  </p:stCondLst>
                                  <p:childTnLst>
                                    <p:set>
                                      <p:cBhvr>
                                        <p:cTn id="66" dur="1" fill="hold">
                                          <p:stCondLst>
                                            <p:cond delay="0"/>
                                          </p:stCondLst>
                                        </p:cTn>
                                        <p:tgtEl>
                                          <p:spTgt spid="46"/>
                                        </p:tgtEl>
                                        <p:attrNameLst>
                                          <p:attrName>style.visibility</p:attrName>
                                        </p:attrNameLst>
                                      </p:cBhvr>
                                      <p:to>
                                        <p:strVal val="visible"/>
                                      </p:to>
                                    </p:set>
                                    <p:animEffect transition="in" filter="randombar(horizontal)">
                                      <p:cBhvr>
                                        <p:cTn id="67" dur="500"/>
                                        <p:tgtEl>
                                          <p:spTgt spid="4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4" presetClass="entr" presetSubtype="10" fill="hold" grpId="0" nodeType="clickEffect">
                                  <p:stCondLst>
                                    <p:cond delay="0"/>
                                  </p:stCondLst>
                                  <p:childTnLst>
                                    <p:set>
                                      <p:cBhvr>
                                        <p:cTn id="71" dur="1" fill="hold">
                                          <p:stCondLst>
                                            <p:cond delay="0"/>
                                          </p:stCondLst>
                                        </p:cTn>
                                        <p:tgtEl>
                                          <p:spTgt spid="53"/>
                                        </p:tgtEl>
                                        <p:attrNameLst>
                                          <p:attrName>style.visibility</p:attrName>
                                        </p:attrNameLst>
                                      </p:cBhvr>
                                      <p:to>
                                        <p:strVal val="visible"/>
                                      </p:to>
                                    </p:set>
                                    <p:animEffect transition="in" filter="randombar(horizontal)">
                                      <p:cBhvr>
                                        <p:cTn id="72" dur="500"/>
                                        <p:tgtEl>
                                          <p:spTgt spid="53"/>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4" presetClass="entr" presetSubtype="10" fill="hold" grpId="0" nodeType="clickEffect">
                                  <p:stCondLst>
                                    <p:cond delay="0"/>
                                  </p:stCondLst>
                                  <p:childTnLst>
                                    <p:set>
                                      <p:cBhvr>
                                        <p:cTn id="76" dur="1" fill="hold">
                                          <p:stCondLst>
                                            <p:cond delay="0"/>
                                          </p:stCondLst>
                                        </p:cTn>
                                        <p:tgtEl>
                                          <p:spTgt spid="56"/>
                                        </p:tgtEl>
                                        <p:attrNameLst>
                                          <p:attrName>style.visibility</p:attrName>
                                        </p:attrNameLst>
                                      </p:cBhvr>
                                      <p:to>
                                        <p:strVal val="visible"/>
                                      </p:to>
                                    </p:set>
                                    <p:animEffect transition="in" filter="randombar(horizontal)">
                                      <p:cBhvr>
                                        <p:cTn id="77" dur="500"/>
                                        <p:tgtEl>
                                          <p:spTgt spid="5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53" presetClass="entr" presetSubtype="16" fill="hold" grpId="0" nodeType="clickEffect">
                                  <p:stCondLst>
                                    <p:cond delay="0"/>
                                  </p:stCondLst>
                                  <p:childTnLst>
                                    <p:set>
                                      <p:cBhvr>
                                        <p:cTn id="81" dur="1" fill="hold">
                                          <p:stCondLst>
                                            <p:cond delay="0"/>
                                          </p:stCondLst>
                                        </p:cTn>
                                        <p:tgtEl>
                                          <p:spTgt spid="54"/>
                                        </p:tgtEl>
                                        <p:attrNameLst>
                                          <p:attrName>style.visibility</p:attrName>
                                        </p:attrNameLst>
                                      </p:cBhvr>
                                      <p:to>
                                        <p:strVal val="visible"/>
                                      </p:to>
                                    </p:set>
                                    <p:anim calcmode="lin" valueType="num">
                                      <p:cBhvr>
                                        <p:cTn id="82" dur="500" fill="hold"/>
                                        <p:tgtEl>
                                          <p:spTgt spid="54"/>
                                        </p:tgtEl>
                                        <p:attrNameLst>
                                          <p:attrName>ppt_w</p:attrName>
                                        </p:attrNameLst>
                                      </p:cBhvr>
                                      <p:tavLst>
                                        <p:tav tm="0">
                                          <p:val>
                                            <p:fltVal val="0"/>
                                          </p:val>
                                        </p:tav>
                                        <p:tav tm="100000">
                                          <p:val>
                                            <p:strVal val="#ppt_w"/>
                                          </p:val>
                                        </p:tav>
                                      </p:tavLst>
                                    </p:anim>
                                    <p:anim calcmode="lin" valueType="num">
                                      <p:cBhvr>
                                        <p:cTn id="83" dur="500" fill="hold"/>
                                        <p:tgtEl>
                                          <p:spTgt spid="54"/>
                                        </p:tgtEl>
                                        <p:attrNameLst>
                                          <p:attrName>ppt_h</p:attrName>
                                        </p:attrNameLst>
                                      </p:cBhvr>
                                      <p:tavLst>
                                        <p:tav tm="0">
                                          <p:val>
                                            <p:fltVal val="0"/>
                                          </p:val>
                                        </p:tav>
                                        <p:tav tm="100000">
                                          <p:val>
                                            <p:strVal val="#ppt_h"/>
                                          </p:val>
                                        </p:tav>
                                      </p:tavLst>
                                    </p:anim>
                                    <p:animEffect transition="in" filter="fade">
                                      <p:cBhvr>
                                        <p:cTn id="84" dur="500"/>
                                        <p:tgtEl>
                                          <p:spTgt spid="54"/>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14" presetClass="entr" presetSubtype="10" fill="hold" grpId="0" nodeType="clickEffect">
                                  <p:stCondLst>
                                    <p:cond delay="0"/>
                                  </p:stCondLst>
                                  <p:childTnLst>
                                    <p:set>
                                      <p:cBhvr>
                                        <p:cTn id="88" dur="1" fill="hold">
                                          <p:stCondLst>
                                            <p:cond delay="0"/>
                                          </p:stCondLst>
                                        </p:cTn>
                                        <p:tgtEl>
                                          <p:spTgt spid="57"/>
                                        </p:tgtEl>
                                        <p:attrNameLst>
                                          <p:attrName>style.visibility</p:attrName>
                                        </p:attrNameLst>
                                      </p:cBhvr>
                                      <p:to>
                                        <p:strVal val="visible"/>
                                      </p:to>
                                    </p:set>
                                    <p:animEffect transition="in" filter="randombar(horizontal)">
                                      <p:cBhvr>
                                        <p:cTn id="89"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44" grpId="0"/>
      <p:bldP spid="46" grpId="0"/>
      <p:bldP spid="49" grpId="0"/>
      <p:bldP spid="51" grpId="0"/>
      <p:bldP spid="52" grpId="0" animBg="1"/>
      <p:bldP spid="53" grpId="0" animBg="1"/>
      <p:bldP spid="54" grpId="0" animBg="1"/>
      <p:bldP spid="56" grpId="0" animBg="1"/>
      <p:bldP spid="57" grpId="0" animBg="1"/>
      <p:bldP spid="5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r>
              <a:rPr lang="zh-CN" altLang="en-US" b="1" smtClean="0">
                <a:solidFill>
                  <a:srgbClr val="FFC000"/>
                </a:solidFill>
              </a:rPr>
              <a:t>收入效应小于替代效应</a:t>
            </a:r>
            <a:endParaRPr lang="zh-CN" altLang="en-US" smtClean="0"/>
          </a:p>
        </p:txBody>
      </p:sp>
      <p:cxnSp>
        <p:nvCxnSpPr>
          <p:cNvPr id="21507" name="直接箭头连接符 4"/>
          <p:cNvCxnSpPr>
            <a:cxnSpLocks noChangeShapeType="1"/>
          </p:cNvCxnSpPr>
          <p:nvPr/>
        </p:nvCxnSpPr>
        <p:spPr bwMode="auto">
          <a:xfrm>
            <a:off x="1403350" y="5876925"/>
            <a:ext cx="6481763" cy="0"/>
          </a:xfrm>
          <a:prstGeom prst="straightConnector1">
            <a:avLst/>
          </a:prstGeom>
          <a:noFill/>
          <a:ln w="444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1508" name="直接箭头连接符 6"/>
          <p:cNvCxnSpPr>
            <a:cxnSpLocks noChangeShapeType="1"/>
          </p:cNvCxnSpPr>
          <p:nvPr/>
        </p:nvCxnSpPr>
        <p:spPr bwMode="auto">
          <a:xfrm flipV="1">
            <a:off x="1403350" y="1412875"/>
            <a:ext cx="0" cy="4464050"/>
          </a:xfrm>
          <a:prstGeom prst="straightConnector1">
            <a:avLst/>
          </a:prstGeom>
          <a:noFill/>
          <a:ln w="444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1509" name="直接连接符 10"/>
          <p:cNvCxnSpPr>
            <a:cxnSpLocks noChangeShapeType="1"/>
          </p:cNvCxnSpPr>
          <p:nvPr/>
        </p:nvCxnSpPr>
        <p:spPr bwMode="auto">
          <a:xfrm>
            <a:off x="1403350" y="1700213"/>
            <a:ext cx="5329238" cy="4176712"/>
          </a:xfrm>
          <a:prstGeom prst="line">
            <a:avLst/>
          </a:prstGeom>
          <a:noFill/>
          <a:ln w="3810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6" name="直接连接符 15"/>
          <p:cNvCxnSpPr>
            <a:cxnSpLocks noChangeShapeType="1"/>
          </p:cNvCxnSpPr>
          <p:nvPr/>
        </p:nvCxnSpPr>
        <p:spPr bwMode="auto">
          <a:xfrm>
            <a:off x="1476375" y="2708275"/>
            <a:ext cx="6335713" cy="2160588"/>
          </a:xfrm>
          <a:prstGeom prst="line">
            <a:avLst/>
          </a:prstGeom>
          <a:noFill/>
          <a:ln w="38100" algn="ctr">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 name="直接连接符 18"/>
          <p:cNvCxnSpPr>
            <a:cxnSpLocks noChangeShapeType="1"/>
          </p:cNvCxnSpPr>
          <p:nvPr/>
        </p:nvCxnSpPr>
        <p:spPr bwMode="auto">
          <a:xfrm>
            <a:off x="1403350" y="4221163"/>
            <a:ext cx="5329238" cy="1655762"/>
          </a:xfrm>
          <a:prstGeom prst="line">
            <a:avLst/>
          </a:prstGeom>
          <a:noFill/>
          <a:ln w="38100" algn="ctr">
            <a:solidFill>
              <a:srgbClr val="FFC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1512" name="任意多边形 25"/>
          <p:cNvSpPr>
            <a:spLocks/>
          </p:cNvSpPr>
          <p:nvPr/>
        </p:nvSpPr>
        <p:spPr bwMode="auto">
          <a:xfrm>
            <a:off x="1920875" y="1444625"/>
            <a:ext cx="5595938" cy="2879725"/>
          </a:xfrm>
          <a:custGeom>
            <a:avLst/>
            <a:gdLst>
              <a:gd name="T0" fmla="*/ 0 w 5596128"/>
              <a:gd name="T1" fmla="*/ 0 h 2880360"/>
              <a:gd name="T2" fmla="*/ 1151481 w 5596128"/>
              <a:gd name="T3" fmla="*/ 1539554 h 2880360"/>
              <a:gd name="T4" fmla="*/ 3116302 w 5596128"/>
              <a:gd name="T5" fmla="*/ 2432314 h 2880360"/>
              <a:gd name="T6" fmla="*/ 5592898 w 5596128"/>
              <a:gd name="T7" fmla="*/ 2869584 h 28803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596128" h="2880360">
                <a:moveTo>
                  <a:pt x="0" y="0"/>
                </a:moveTo>
                <a:cubicBezTo>
                  <a:pt x="316230" y="569214"/>
                  <a:pt x="632460" y="1138428"/>
                  <a:pt x="1152144" y="1545336"/>
                </a:cubicBezTo>
                <a:cubicBezTo>
                  <a:pt x="1671828" y="1952244"/>
                  <a:pt x="2377440" y="2218944"/>
                  <a:pt x="3118104" y="2441448"/>
                </a:cubicBezTo>
                <a:cubicBezTo>
                  <a:pt x="3858768" y="2663952"/>
                  <a:pt x="4727448" y="2772156"/>
                  <a:pt x="5596128" y="2880360"/>
                </a:cubicBezTo>
              </a:path>
            </a:pathLst>
          </a:custGeom>
          <a:noFill/>
          <a:ln w="47625" cap="flat" cmpd="sng" algn="ctr">
            <a:solidFill>
              <a:schemeClr val="bg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cxnSp>
        <p:nvCxnSpPr>
          <p:cNvPr id="31" name="直接连接符 30"/>
          <p:cNvCxnSpPr>
            <a:cxnSpLocks noChangeShapeType="1"/>
          </p:cNvCxnSpPr>
          <p:nvPr/>
        </p:nvCxnSpPr>
        <p:spPr bwMode="auto">
          <a:xfrm>
            <a:off x="3859213" y="4941888"/>
            <a:ext cx="0" cy="982662"/>
          </a:xfrm>
          <a:prstGeom prst="line">
            <a:avLst/>
          </a:prstGeom>
          <a:noFill/>
          <a:ln w="28575" algn="ctr">
            <a:solidFill>
              <a:srgbClr val="FFC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1514" name="直接连接符 34"/>
          <p:cNvCxnSpPr>
            <a:cxnSpLocks noChangeShapeType="1"/>
          </p:cNvCxnSpPr>
          <p:nvPr/>
        </p:nvCxnSpPr>
        <p:spPr bwMode="auto">
          <a:xfrm>
            <a:off x="3173413" y="3068638"/>
            <a:ext cx="73025" cy="2808287"/>
          </a:xfrm>
          <a:prstGeom prst="line">
            <a:avLst/>
          </a:prstGeom>
          <a:noFill/>
          <a:ln w="28575" algn="ctr">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7" name="直接连接符 36"/>
          <p:cNvCxnSpPr>
            <a:cxnSpLocks noChangeShapeType="1"/>
          </p:cNvCxnSpPr>
          <p:nvPr/>
        </p:nvCxnSpPr>
        <p:spPr bwMode="auto">
          <a:xfrm>
            <a:off x="4643438" y="3789363"/>
            <a:ext cx="0" cy="2087562"/>
          </a:xfrm>
          <a:prstGeom prst="line">
            <a:avLst/>
          </a:prstGeom>
          <a:noFill/>
          <a:ln w="28575" algn="ctr">
            <a:solidFill>
              <a:srgbClr val="FF0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1516" name="Text Box 11"/>
          <p:cNvSpPr txBox="1">
            <a:spLocks noChangeArrowheads="1"/>
          </p:cNvSpPr>
          <p:nvPr/>
        </p:nvSpPr>
        <p:spPr bwMode="auto">
          <a:xfrm>
            <a:off x="7234238" y="5913438"/>
            <a:ext cx="941387" cy="496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zh-CN" altLang="en-US" sz="1600" b="1">
                <a:latin typeface="Times New Roman" panose="02020603050405020304" pitchFamily="18" charset="0"/>
              </a:rPr>
              <a:t>闲暇</a:t>
            </a:r>
          </a:p>
        </p:txBody>
      </p:sp>
      <p:sp>
        <p:nvSpPr>
          <p:cNvPr id="21517" name="Text Box 11"/>
          <p:cNvSpPr txBox="1">
            <a:spLocks noChangeArrowheads="1"/>
          </p:cNvSpPr>
          <p:nvPr/>
        </p:nvSpPr>
        <p:spPr bwMode="auto">
          <a:xfrm>
            <a:off x="617538" y="1489075"/>
            <a:ext cx="941387" cy="496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zh-CN" altLang="en-US" sz="1600" b="1">
                <a:latin typeface="Times New Roman" panose="02020603050405020304" pitchFamily="18" charset="0"/>
              </a:rPr>
              <a:t>收入</a:t>
            </a:r>
          </a:p>
        </p:txBody>
      </p:sp>
      <p:sp>
        <p:nvSpPr>
          <p:cNvPr id="21518" name="文本框 39"/>
          <p:cNvSpPr txBox="1">
            <a:spLocks noChangeArrowheads="1"/>
          </p:cNvSpPr>
          <p:nvPr/>
        </p:nvSpPr>
        <p:spPr bwMode="auto">
          <a:xfrm>
            <a:off x="3138488" y="2651125"/>
            <a:ext cx="466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E1</a:t>
            </a:r>
            <a:endParaRPr lang="zh-CN" altLang="en-US" sz="1800"/>
          </a:p>
        </p:txBody>
      </p:sp>
      <p:sp>
        <p:nvSpPr>
          <p:cNvPr id="21519" name="文本框 40"/>
          <p:cNvSpPr txBox="1">
            <a:spLocks noChangeArrowheads="1"/>
          </p:cNvSpPr>
          <p:nvPr/>
        </p:nvSpPr>
        <p:spPr bwMode="auto">
          <a:xfrm>
            <a:off x="1087438" y="5945188"/>
            <a:ext cx="3635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O</a:t>
            </a:r>
            <a:endParaRPr lang="zh-CN" altLang="en-US" sz="1800"/>
          </a:p>
        </p:txBody>
      </p:sp>
      <p:sp>
        <p:nvSpPr>
          <p:cNvPr id="42" name="文本框 41"/>
          <p:cNvSpPr txBox="1">
            <a:spLocks noChangeArrowheads="1"/>
          </p:cNvSpPr>
          <p:nvPr/>
        </p:nvSpPr>
        <p:spPr bwMode="auto">
          <a:xfrm>
            <a:off x="4616450" y="3300413"/>
            <a:ext cx="466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E3</a:t>
            </a:r>
            <a:endParaRPr lang="zh-CN" altLang="en-US" sz="1800"/>
          </a:p>
        </p:txBody>
      </p:sp>
      <p:sp>
        <p:nvSpPr>
          <p:cNvPr id="43" name="文本框 42"/>
          <p:cNvSpPr txBox="1">
            <a:spLocks noChangeArrowheads="1"/>
          </p:cNvSpPr>
          <p:nvPr/>
        </p:nvSpPr>
        <p:spPr bwMode="auto">
          <a:xfrm>
            <a:off x="3462338" y="4489450"/>
            <a:ext cx="4683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E2</a:t>
            </a:r>
            <a:endParaRPr lang="zh-CN" altLang="en-US" sz="1800"/>
          </a:p>
        </p:txBody>
      </p:sp>
      <p:sp>
        <p:nvSpPr>
          <p:cNvPr id="44" name="文本框 43"/>
          <p:cNvSpPr txBox="1">
            <a:spLocks noChangeArrowheads="1"/>
          </p:cNvSpPr>
          <p:nvPr/>
        </p:nvSpPr>
        <p:spPr bwMode="auto">
          <a:xfrm>
            <a:off x="3735388" y="5907088"/>
            <a:ext cx="3381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B</a:t>
            </a:r>
            <a:endParaRPr lang="zh-CN" altLang="en-US" sz="1800"/>
          </a:p>
        </p:txBody>
      </p:sp>
      <p:sp>
        <p:nvSpPr>
          <p:cNvPr id="21523" name="文本框 44"/>
          <p:cNvSpPr txBox="1">
            <a:spLocks noChangeArrowheads="1"/>
          </p:cNvSpPr>
          <p:nvPr/>
        </p:nvSpPr>
        <p:spPr bwMode="auto">
          <a:xfrm>
            <a:off x="3063875" y="5924550"/>
            <a:ext cx="3381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A</a:t>
            </a:r>
            <a:endParaRPr lang="zh-CN" altLang="en-US" sz="1800"/>
          </a:p>
        </p:txBody>
      </p:sp>
      <p:sp>
        <p:nvSpPr>
          <p:cNvPr id="46" name="文本框 45"/>
          <p:cNvSpPr txBox="1">
            <a:spLocks noChangeArrowheads="1"/>
          </p:cNvSpPr>
          <p:nvPr/>
        </p:nvSpPr>
        <p:spPr bwMode="auto">
          <a:xfrm>
            <a:off x="4433888" y="5902325"/>
            <a:ext cx="3254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F</a:t>
            </a:r>
            <a:endParaRPr lang="zh-CN" altLang="en-US" sz="1800"/>
          </a:p>
        </p:txBody>
      </p:sp>
      <p:sp>
        <p:nvSpPr>
          <p:cNvPr id="21525" name="文本框 46"/>
          <p:cNvSpPr txBox="1">
            <a:spLocks noChangeArrowheads="1"/>
          </p:cNvSpPr>
          <p:nvPr/>
        </p:nvSpPr>
        <p:spPr bwMode="auto">
          <a:xfrm>
            <a:off x="6554788" y="5902325"/>
            <a:ext cx="3254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Z</a:t>
            </a:r>
            <a:endParaRPr lang="zh-CN" altLang="en-US" sz="1800"/>
          </a:p>
        </p:txBody>
      </p:sp>
      <p:sp>
        <p:nvSpPr>
          <p:cNvPr id="21526" name="文本框 47"/>
          <p:cNvSpPr txBox="1">
            <a:spLocks noChangeArrowheads="1"/>
          </p:cNvSpPr>
          <p:nvPr/>
        </p:nvSpPr>
        <p:spPr bwMode="auto">
          <a:xfrm>
            <a:off x="990600" y="1624013"/>
            <a:ext cx="352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D</a:t>
            </a:r>
            <a:endParaRPr lang="zh-CN" altLang="en-US" sz="1800"/>
          </a:p>
        </p:txBody>
      </p:sp>
      <p:sp>
        <p:nvSpPr>
          <p:cNvPr id="49" name="文本框 48"/>
          <p:cNvSpPr txBox="1">
            <a:spLocks noChangeArrowheads="1"/>
          </p:cNvSpPr>
          <p:nvPr/>
        </p:nvSpPr>
        <p:spPr bwMode="auto">
          <a:xfrm>
            <a:off x="901700" y="4037013"/>
            <a:ext cx="3508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C</a:t>
            </a:r>
            <a:endParaRPr lang="zh-CN" altLang="en-US" sz="1800"/>
          </a:p>
        </p:txBody>
      </p:sp>
      <p:sp>
        <p:nvSpPr>
          <p:cNvPr id="21528" name="文本框 49"/>
          <p:cNvSpPr txBox="1">
            <a:spLocks noChangeArrowheads="1"/>
          </p:cNvSpPr>
          <p:nvPr/>
        </p:nvSpPr>
        <p:spPr bwMode="auto">
          <a:xfrm>
            <a:off x="7251700" y="3805238"/>
            <a:ext cx="479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U1</a:t>
            </a:r>
            <a:endParaRPr lang="zh-CN" altLang="en-US" sz="1800"/>
          </a:p>
        </p:txBody>
      </p:sp>
      <p:sp>
        <p:nvSpPr>
          <p:cNvPr id="51" name="文本框 50"/>
          <p:cNvSpPr txBox="1">
            <a:spLocks noChangeArrowheads="1"/>
          </p:cNvSpPr>
          <p:nvPr/>
        </p:nvSpPr>
        <p:spPr bwMode="auto">
          <a:xfrm>
            <a:off x="6794500" y="4964113"/>
            <a:ext cx="479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U2</a:t>
            </a:r>
            <a:endParaRPr lang="zh-CN" altLang="en-US" sz="1800"/>
          </a:p>
        </p:txBody>
      </p:sp>
      <p:sp>
        <p:nvSpPr>
          <p:cNvPr id="53" name="右箭头 52"/>
          <p:cNvSpPr>
            <a:spLocks noChangeArrowheads="1"/>
          </p:cNvSpPr>
          <p:nvPr/>
        </p:nvSpPr>
        <p:spPr bwMode="auto">
          <a:xfrm>
            <a:off x="3246438" y="5300663"/>
            <a:ext cx="1397000" cy="215900"/>
          </a:xfrm>
          <a:prstGeom prst="rightArrow">
            <a:avLst>
              <a:gd name="adj1" fmla="val 50000"/>
              <a:gd name="adj2" fmla="val 49997"/>
            </a:avLst>
          </a:prstGeom>
          <a:solidFill>
            <a:srgbClr val="FF0000"/>
          </a:solidFill>
          <a:ln w="9525" algn="ctr">
            <a:solidFill>
              <a:srgbClr val="000000"/>
            </a:solidFill>
            <a:prstDash val="dash"/>
            <a:round/>
            <a:headEnd/>
            <a:tailEnd type="triangle" w="med" len="me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p>
        </p:txBody>
      </p:sp>
      <p:sp>
        <p:nvSpPr>
          <p:cNvPr id="54" name="左箭头 53"/>
          <p:cNvSpPr>
            <a:spLocks noChangeArrowheads="1"/>
          </p:cNvSpPr>
          <p:nvPr/>
        </p:nvSpPr>
        <p:spPr bwMode="auto">
          <a:xfrm>
            <a:off x="3859213" y="5551488"/>
            <a:ext cx="765175" cy="176212"/>
          </a:xfrm>
          <a:prstGeom prst="leftArrow">
            <a:avLst>
              <a:gd name="adj1" fmla="val 50000"/>
              <a:gd name="adj2" fmla="val 49977"/>
            </a:avLst>
          </a:prstGeom>
          <a:solidFill>
            <a:srgbClr val="7030A0"/>
          </a:solidFill>
          <a:ln w="9525" algn="ctr">
            <a:solidFill>
              <a:srgbClr val="000000"/>
            </a:solidFill>
            <a:round/>
            <a:headEnd/>
            <a:tailEnd type="triangle" w="med" len="me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p>
        </p:txBody>
      </p:sp>
      <p:sp>
        <p:nvSpPr>
          <p:cNvPr id="56" name="矩形标注 55"/>
          <p:cNvSpPr>
            <a:spLocks noChangeArrowheads="1"/>
          </p:cNvSpPr>
          <p:nvPr/>
        </p:nvSpPr>
        <p:spPr bwMode="auto">
          <a:xfrm>
            <a:off x="3944938" y="2151063"/>
            <a:ext cx="1419225" cy="557212"/>
          </a:xfrm>
          <a:prstGeom prst="wedgeRectCallout">
            <a:avLst>
              <a:gd name="adj1" fmla="val -19898"/>
              <a:gd name="adj2" fmla="val 539259"/>
            </a:avLst>
          </a:prstGeom>
          <a:solidFill>
            <a:schemeClr val="accent1"/>
          </a:solidFill>
          <a:ln w="9525" algn="ctr">
            <a:solidFill>
              <a:srgbClr val="000000"/>
            </a:solidFill>
            <a:round/>
            <a:headEn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400" b="1"/>
              <a:t>替代效应</a:t>
            </a:r>
          </a:p>
        </p:txBody>
      </p:sp>
      <p:sp>
        <p:nvSpPr>
          <p:cNvPr id="57" name="圆角矩形标注 56"/>
          <p:cNvSpPr>
            <a:spLocks noChangeArrowheads="1"/>
          </p:cNvSpPr>
          <p:nvPr/>
        </p:nvSpPr>
        <p:spPr bwMode="auto">
          <a:xfrm>
            <a:off x="3663950" y="6350000"/>
            <a:ext cx="1771650" cy="476250"/>
          </a:xfrm>
          <a:prstGeom prst="wedgeRoundRectCallout">
            <a:avLst>
              <a:gd name="adj1" fmla="val -16644"/>
              <a:gd name="adj2" fmla="val -189491"/>
              <a:gd name="adj3" fmla="val 16667"/>
            </a:avLst>
          </a:prstGeom>
          <a:solidFill>
            <a:schemeClr val="accent1"/>
          </a:solidFill>
          <a:ln w="9525" algn="ctr">
            <a:solidFill>
              <a:srgbClr val="000000"/>
            </a:solidFill>
            <a:round/>
            <a:headEn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400" b="1"/>
              <a:t>收入效应</a:t>
            </a:r>
          </a:p>
        </p:txBody>
      </p:sp>
      <p:sp>
        <p:nvSpPr>
          <p:cNvPr id="58" name="圆角矩形标注 57"/>
          <p:cNvSpPr>
            <a:spLocks noChangeArrowheads="1"/>
          </p:cNvSpPr>
          <p:nvPr/>
        </p:nvSpPr>
        <p:spPr bwMode="auto">
          <a:xfrm>
            <a:off x="722313" y="4564063"/>
            <a:ext cx="539750" cy="1223962"/>
          </a:xfrm>
          <a:prstGeom prst="wedgeRoundRectCallout">
            <a:avLst>
              <a:gd name="adj1" fmla="val 423898"/>
              <a:gd name="adj2" fmla="val -1741"/>
              <a:gd name="adj3" fmla="val 16667"/>
            </a:avLst>
          </a:prstGeom>
          <a:solidFill>
            <a:schemeClr val="accent1"/>
          </a:solidFill>
          <a:ln w="9525" algn="ctr">
            <a:solidFill>
              <a:srgbClr val="000000"/>
            </a:solidFill>
            <a:round/>
            <a:headEn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400" b="1"/>
              <a:t>总效应</a:t>
            </a:r>
          </a:p>
        </p:txBody>
      </p:sp>
      <p:sp>
        <p:nvSpPr>
          <p:cNvPr id="3" name="任意多边形 2"/>
          <p:cNvSpPr>
            <a:spLocks/>
          </p:cNvSpPr>
          <p:nvPr/>
        </p:nvSpPr>
        <p:spPr bwMode="auto">
          <a:xfrm>
            <a:off x="2020888" y="3538538"/>
            <a:ext cx="5267325" cy="1874837"/>
          </a:xfrm>
          <a:custGeom>
            <a:avLst/>
            <a:gdLst>
              <a:gd name="T0" fmla="*/ 0 w 5266944"/>
              <a:gd name="T1" fmla="*/ 0 h 1874520"/>
              <a:gd name="T2" fmla="*/ 1785144 w 5266944"/>
              <a:gd name="T3" fmla="*/ 1402824 h 1874520"/>
              <a:gd name="T4" fmla="*/ 5273040 w 5266944"/>
              <a:gd name="T5" fmla="*/ 1879598 h 1874520"/>
              <a:gd name="T6" fmla="*/ 0 60000 65536"/>
              <a:gd name="T7" fmla="*/ 0 60000 65536"/>
              <a:gd name="T8" fmla="*/ 0 60000 65536"/>
            </a:gdLst>
            <a:ahLst/>
            <a:cxnLst>
              <a:cxn ang="T6">
                <a:pos x="T0" y="T1"/>
              </a:cxn>
              <a:cxn ang="T7">
                <a:pos x="T2" y="T3"/>
              </a:cxn>
              <a:cxn ang="T8">
                <a:pos x="T4" y="T5"/>
              </a:cxn>
            </a:cxnLst>
            <a:rect l="0" t="0" r="r" b="b"/>
            <a:pathLst>
              <a:path w="5266944" h="1874520">
                <a:moveTo>
                  <a:pt x="0" y="0"/>
                </a:moveTo>
                <a:cubicBezTo>
                  <a:pt x="452628" y="543306"/>
                  <a:pt x="905256" y="1086612"/>
                  <a:pt x="1783080" y="1399032"/>
                </a:cubicBezTo>
                <a:cubicBezTo>
                  <a:pt x="2660904" y="1711452"/>
                  <a:pt x="3963924" y="1792986"/>
                  <a:pt x="5266944" y="1874520"/>
                </a:cubicBezTo>
              </a:path>
            </a:pathLst>
          </a:custGeom>
          <a:noFill/>
          <a:ln w="47625"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 name="右箭头 4"/>
          <p:cNvSpPr>
            <a:spLocks noChangeArrowheads="1"/>
          </p:cNvSpPr>
          <p:nvPr/>
        </p:nvSpPr>
        <p:spPr bwMode="auto">
          <a:xfrm>
            <a:off x="3246438" y="4968875"/>
            <a:ext cx="612775" cy="331788"/>
          </a:xfrm>
          <a:prstGeom prst="rightArrow">
            <a:avLst>
              <a:gd name="adj1" fmla="val 50000"/>
              <a:gd name="adj2" fmla="val 50003"/>
            </a:avLst>
          </a:prstGeom>
          <a:solidFill>
            <a:srgbClr val="FFC000"/>
          </a:solidFill>
          <a:ln w="9525" algn="ctr">
            <a:solidFill>
              <a:srgbClr val="000000"/>
            </a:solidFill>
            <a:round/>
            <a:headEnd/>
            <a:tailEnd type="triangle" w="med" len="me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circle(in)">
                                      <p:cBhvr>
                                        <p:cTn id="7" dur="2000"/>
                                        <p:tgtEl>
                                          <p:spTgt spid="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circle(in)">
                                      <p:cBhvr>
                                        <p:cTn id="12" dur="2000"/>
                                        <p:tgtEl>
                                          <p:spTgt spid="4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6" presetClass="entr" presetSubtype="1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circle(in)">
                                      <p:cBhvr>
                                        <p:cTn id="17" dur="20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circle(in)">
                                      <p:cBhvr>
                                        <p:cTn id="22" dur="2000"/>
                                        <p:tgtEl>
                                          <p:spTgt spid="5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circle(in)">
                                      <p:cBhvr>
                                        <p:cTn id="27" dur="2000"/>
                                        <p:tgtEl>
                                          <p:spTgt spid="4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6" presetClass="entr" presetSubtype="16"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circle(in)">
                                      <p:cBhvr>
                                        <p:cTn id="32" dur="2000"/>
                                        <p:tgtEl>
                                          <p:spTgt spid="3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circle(in)">
                                      <p:cBhvr>
                                        <p:cTn id="37" dur="2000"/>
                                        <p:tgtEl>
                                          <p:spTgt spid="4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1" presetClass="entr" presetSubtype="1"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heel(1)">
                                      <p:cBhvr>
                                        <p:cTn id="42" dur="2000"/>
                                        <p:tgtEl>
                                          <p:spTgt spid="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58"/>
                                        </p:tgtEl>
                                        <p:attrNameLst>
                                          <p:attrName>style.visibility</p:attrName>
                                        </p:attrNameLst>
                                      </p:cBhvr>
                                      <p:to>
                                        <p:strVal val="visible"/>
                                      </p:to>
                                    </p:set>
                                    <p:animEffect transition="in" filter="circle(in)">
                                      <p:cBhvr>
                                        <p:cTn id="47" dur="2000"/>
                                        <p:tgtEl>
                                          <p:spTgt spid="5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4" presetClass="entr" presetSubtype="10"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randombar(horizontal)">
                                      <p:cBhvr>
                                        <p:cTn id="52" dur="500"/>
                                        <p:tgtEl>
                                          <p:spTgt spid="1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4" presetClass="entr" presetSubtype="10" fill="hold" grpId="0" nodeType="click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randombar(horizontal)">
                                      <p:cBhvr>
                                        <p:cTn id="57" dur="500"/>
                                        <p:tgtEl>
                                          <p:spTgt spid="4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4" presetClass="entr" presetSubtype="10" fill="hold" nodeType="click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randombar(horizontal)">
                                      <p:cBhvr>
                                        <p:cTn id="62" dur="500"/>
                                        <p:tgtEl>
                                          <p:spTgt spid="3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4" presetClass="entr" presetSubtype="10" fill="hold" grpId="0" nodeType="clickEffect">
                                  <p:stCondLst>
                                    <p:cond delay="0"/>
                                  </p:stCondLst>
                                  <p:childTnLst>
                                    <p:set>
                                      <p:cBhvr>
                                        <p:cTn id="66" dur="1" fill="hold">
                                          <p:stCondLst>
                                            <p:cond delay="0"/>
                                          </p:stCondLst>
                                        </p:cTn>
                                        <p:tgtEl>
                                          <p:spTgt spid="46"/>
                                        </p:tgtEl>
                                        <p:attrNameLst>
                                          <p:attrName>style.visibility</p:attrName>
                                        </p:attrNameLst>
                                      </p:cBhvr>
                                      <p:to>
                                        <p:strVal val="visible"/>
                                      </p:to>
                                    </p:set>
                                    <p:animEffect transition="in" filter="randombar(horizontal)">
                                      <p:cBhvr>
                                        <p:cTn id="67" dur="500"/>
                                        <p:tgtEl>
                                          <p:spTgt spid="4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4" presetClass="entr" presetSubtype="10" fill="hold" grpId="0" nodeType="clickEffect">
                                  <p:stCondLst>
                                    <p:cond delay="0"/>
                                  </p:stCondLst>
                                  <p:childTnLst>
                                    <p:set>
                                      <p:cBhvr>
                                        <p:cTn id="71" dur="1" fill="hold">
                                          <p:stCondLst>
                                            <p:cond delay="0"/>
                                          </p:stCondLst>
                                        </p:cTn>
                                        <p:tgtEl>
                                          <p:spTgt spid="53"/>
                                        </p:tgtEl>
                                        <p:attrNameLst>
                                          <p:attrName>style.visibility</p:attrName>
                                        </p:attrNameLst>
                                      </p:cBhvr>
                                      <p:to>
                                        <p:strVal val="visible"/>
                                      </p:to>
                                    </p:set>
                                    <p:animEffect transition="in" filter="randombar(horizontal)">
                                      <p:cBhvr>
                                        <p:cTn id="72" dur="500"/>
                                        <p:tgtEl>
                                          <p:spTgt spid="53"/>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4" presetClass="entr" presetSubtype="10" fill="hold" grpId="0" nodeType="clickEffect">
                                  <p:stCondLst>
                                    <p:cond delay="0"/>
                                  </p:stCondLst>
                                  <p:childTnLst>
                                    <p:set>
                                      <p:cBhvr>
                                        <p:cTn id="76" dur="1" fill="hold">
                                          <p:stCondLst>
                                            <p:cond delay="0"/>
                                          </p:stCondLst>
                                        </p:cTn>
                                        <p:tgtEl>
                                          <p:spTgt spid="56"/>
                                        </p:tgtEl>
                                        <p:attrNameLst>
                                          <p:attrName>style.visibility</p:attrName>
                                        </p:attrNameLst>
                                      </p:cBhvr>
                                      <p:to>
                                        <p:strVal val="visible"/>
                                      </p:to>
                                    </p:set>
                                    <p:animEffect transition="in" filter="randombar(horizontal)">
                                      <p:cBhvr>
                                        <p:cTn id="77" dur="500"/>
                                        <p:tgtEl>
                                          <p:spTgt spid="5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53" presetClass="entr" presetSubtype="16" fill="hold" grpId="0" nodeType="clickEffect">
                                  <p:stCondLst>
                                    <p:cond delay="0"/>
                                  </p:stCondLst>
                                  <p:childTnLst>
                                    <p:set>
                                      <p:cBhvr>
                                        <p:cTn id="81" dur="1" fill="hold">
                                          <p:stCondLst>
                                            <p:cond delay="0"/>
                                          </p:stCondLst>
                                        </p:cTn>
                                        <p:tgtEl>
                                          <p:spTgt spid="54"/>
                                        </p:tgtEl>
                                        <p:attrNameLst>
                                          <p:attrName>style.visibility</p:attrName>
                                        </p:attrNameLst>
                                      </p:cBhvr>
                                      <p:to>
                                        <p:strVal val="visible"/>
                                      </p:to>
                                    </p:set>
                                    <p:anim calcmode="lin" valueType="num">
                                      <p:cBhvr>
                                        <p:cTn id="82" dur="500" fill="hold"/>
                                        <p:tgtEl>
                                          <p:spTgt spid="54"/>
                                        </p:tgtEl>
                                        <p:attrNameLst>
                                          <p:attrName>ppt_w</p:attrName>
                                        </p:attrNameLst>
                                      </p:cBhvr>
                                      <p:tavLst>
                                        <p:tav tm="0">
                                          <p:val>
                                            <p:fltVal val="0"/>
                                          </p:val>
                                        </p:tav>
                                        <p:tav tm="100000">
                                          <p:val>
                                            <p:strVal val="#ppt_w"/>
                                          </p:val>
                                        </p:tav>
                                      </p:tavLst>
                                    </p:anim>
                                    <p:anim calcmode="lin" valueType="num">
                                      <p:cBhvr>
                                        <p:cTn id="83" dur="500" fill="hold"/>
                                        <p:tgtEl>
                                          <p:spTgt spid="54"/>
                                        </p:tgtEl>
                                        <p:attrNameLst>
                                          <p:attrName>ppt_h</p:attrName>
                                        </p:attrNameLst>
                                      </p:cBhvr>
                                      <p:tavLst>
                                        <p:tav tm="0">
                                          <p:val>
                                            <p:fltVal val="0"/>
                                          </p:val>
                                        </p:tav>
                                        <p:tav tm="100000">
                                          <p:val>
                                            <p:strVal val="#ppt_h"/>
                                          </p:val>
                                        </p:tav>
                                      </p:tavLst>
                                    </p:anim>
                                    <p:animEffect transition="in" filter="fade">
                                      <p:cBhvr>
                                        <p:cTn id="84" dur="500"/>
                                        <p:tgtEl>
                                          <p:spTgt spid="54"/>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14" presetClass="entr" presetSubtype="10" fill="hold" grpId="0" nodeType="clickEffect">
                                  <p:stCondLst>
                                    <p:cond delay="0"/>
                                  </p:stCondLst>
                                  <p:childTnLst>
                                    <p:set>
                                      <p:cBhvr>
                                        <p:cTn id="88" dur="1" fill="hold">
                                          <p:stCondLst>
                                            <p:cond delay="0"/>
                                          </p:stCondLst>
                                        </p:cTn>
                                        <p:tgtEl>
                                          <p:spTgt spid="57"/>
                                        </p:tgtEl>
                                        <p:attrNameLst>
                                          <p:attrName>style.visibility</p:attrName>
                                        </p:attrNameLst>
                                      </p:cBhvr>
                                      <p:to>
                                        <p:strVal val="visible"/>
                                      </p:to>
                                    </p:set>
                                    <p:animEffect transition="in" filter="randombar(horizontal)">
                                      <p:cBhvr>
                                        <p:cTn id="89"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44" grpId="0"/>
      <p:bldP spid="46" grpId="0"/>
      <p:bldP spid="49" grpId="0"/>
      <p:bldP spid="51" grpId="0"/>
      <p:bldP spid="53" grpId="0" animBg="1"/>
      <p:bldP spid="54" grpId="0" animBg="1"/>
      <p:bldP spid="56" grpId="0" animBg="1"/>
      <p:bldP spid="57" grpId="0" animBg="1"/>
      <p:bldP spid="58" grpId="0" animBg="1"/>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zh-CN" altLang="en-US" sz="4600" b="1" smtClean="0"/>
              <a:t>（二）我国的实际情况</a:t>
            </a:r>
          </a:p>
        </p:txBody>
      </p:sp>
      <p:sp>
        <p:nvSpPr>
          <p:cNvPr id="487427" name="Rectangle 3"/>
          <p:cNvSpPr>
            <a:spLocks noGrp="1" noChangeArrowheads="1"/>
          </p:cNvSpPr>
          <p:nvPr>
            <p:ph idx="1"/>
          </p:nvPr>
        </p:nvSpPr>
        <p:spPr/>
        <p:txBody>
          <a:bodyPr/>
          <a:lstStyle/>
          <a:p>
            <a:pPr eaLnBrk="1" hangingPunct="1"/>
            <a:r>
              <a:rPr lang="zh-CN" altLang="en-US" b="1" smtClean="0">
                <a:solidFill>
                  <a:srgbClr val="FFC000"/>
                </a:solidFill>
              </a:rPr>
              <a:t>征税对劳动力供给影响比较小</a:t>
            </a:r>
            <a:endParaRPr lang="en-US" altLang="zh-CN" b="1" smtClean="0">
              <a:solidFill>
                <a:srgbClr val="FFC000"/>
              </a:solidFill>
            </a:endParaRPr>
          </a:p>
          <a:p>
            <a:pPr eaLnBrk="1" hangingPunct="1"/>
            <a:r>
              <a:rPr lang="zh-CN" altLang="en-US" b="1" smtClean="0"/>
              <a:t>目前的就业形势：高等院校毕业生就业难，中小企业招工难，中西部地区招工难。</a:t>
            </a:r>
          </a:p>
          <a:p>
            <a:pPr eaLnBrk="1" hangingPunct="1"/>
            <a:r>
              <a:rPr lang="zh-CN" altLang="en-US" b="1" smtClean="0"/>
              <a:t>结构性失业造成的，如人才的培养结构等，这就表现为：一方面是闲置劳动力；另一方面是空闲岗位无人问津或有人不能胜任。</a:t>
            </a:r>
          </a:p>
          <a:p>
            <a:pPr eaLnBrk="1" hangingPunct="1"/>
            <a:r>
              <a:rPr lang="zh-CN" altLang="en-US" b="1" smtClean="0"/>
              <a:t>解决：调整和改变就业观念；职业培训；调整需求结构如第三产业；财政支持</a:t>
            </a:r>
            <a:endParaRPr lang="zh-CN" altLang="en-US" smtClean="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87427">
                                            <p:txEl>
                                              <p:pRg st="0" end="0"/>
                                            </p:txEl>
                                          </p:spTgt>
                                        </p:tgtEl>
                                        <p:attrNameLst>
                                          <p:attrName>style.visibility</p:attrName>
                                        </p:attrNameLst>
                                      </p:cBhvr>
                                      <p:to>
                                        <p:strVal val="visible"/>
                                      </p:to>
                                    </p:set>
                                    <p:animEffect transition="in" filter="box(in)">
                                      <p:cBhvr>
                                        <p:cTn id="7" dur="500"/>
                                        <p:tgtEl>
                                          <p:spTgt spid="4874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87427">
                                            <p:txEl>
                                              <p:pRg st="1" end="1"/>
                                            </p:txEl>
                                          </p:spTgt>
                                        </p:tgtEl>
                                        <p:attrNameLst>
                                          <p:attrName>style.visibility</p:attrName>
                                        </p:attrNameLst>
                                      </p:cBhvr>
                                      <p:to>
                                        <p:strVal val="visible"/>
                                      </p:to>
                                    </p:set>
                                    <p:animEffect transition="in" filter="box(in)">
                                      <p:cBhvr>
                                        <p:cTn id="12" dur="500"/>
                                        <p:tgtEl>
                                          <p:spTgt spid="4874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87427">
                                            <p:txEl>
                                              <p:pRg st="2" end="2"/>
                                            </p:txEl>
                                          </p:spTgt>
                                        </p:tgtEl>
                                        <p:attrNameLst>
                                          <p:attrName>style.visibility</p:attrName>
                                        </p:attrNameLst>
                                      </p:cBhvr>
                                      <p:to>
                                        <p:strVal val="visible"/>
                                      </p:to>
                                    </p:set>
                                    <p:animEffect transition="in" filter="box(in)">
                                      <p:cBhvr>
                                        <p:cTn id="17" dur="500"/>
                                        <p:tgtEl>
                                          <p:spTgt spid="4874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87427">
                                            <p:txEl>
                                              <p:pRg st="3" end="3"/>
                                            </p:txEl>
                                          </p:spTgt>
                                        </p:tgtEl>
                                        <p:attrNameLst>
                                          <p:attrName>style.visibility</p:attrName>
                                        </p:attrNameLst>
                                      </p:cBhvr>
                                      <p:to>
                                        <p:strVal val="visible"/>
                                      </p:to>
                                    </p:set>
                                    <p:animEffect transition="in" filter="box(in)">
                                      <p:cBhvr>
                                        <p:cTn id="22" dur="500"/>
                                        <p:tgtEl>
                                          <p:spTgt spid="4874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742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noFill/>
        </p:spPr>
        <p:txBody>
          <a:bodyPr/>
          <a:lstStyle/>
          <a:p>
            <a:pPr eaLnBrk="1" hangingPunct="1"/>
            <a:r>
              <a:rPr lang="zh-CN" altLang="en-US" sz="3800" b="1" smtClean="0"/>
              <a:t>二、税收对居民储蓄的影响</a:t>
            </a:r>
          </a:p>
        </p:txBody>
      </p:sp>
      <p:sp>
        <p:nvSpPr>
          <p:cNvPr id="23555" name="Rectangle 3"/>
          <p:cNvSpPr>
            <a:spLocks noGrp="1" noChangeArrowheads="1"/>
          </p:cNvSpPr>
          <p:nvPr>
            <p:ph idx="1"/>
          </p:nvPr>
        </p:nvSpPr>
        <p:spPr/>
        <p:txBody>
          <a:bodyPr/>
          <a:lstStyle/>
          <a:p>
            <a:pPr eaLnBrk="1" hangingPunct="1"/>
            <a:r>
              <a:rPr lang="zh-CN" altLang="en-US" b="1" smtClean="0"/>
              <a:t>（一）税收对居民储蓄的收入效应和替代效应</a:t>
            </a:r>
          </a:p>
          <a:p>
            <a:pPr eaLnBrk="1" hangingPunct="1"/>
            <a:r>
              <a:rPr lang="zh-CN" altLang="en-US" b="1" smtClean="0"/>
              <a:t>（二）我国的实际情况</a:t>
            </a: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zh-CN" altLang="en-US" sz="2800" b="1" smtClean="0"/>
              <a:t>（一）税收对居民储蓄的收入效应和替代效应</a:t>
            </a:r>
          </a:p>
        </p:txBody>
      </p:sp>
      <p:sp>
        <p:nvSpPr>
          <p:cNvPr id="488451" name="Rectangle 3"/>
          <p:cNvSpPr>
            <a:spLocks noGrp="1" noChangeArrowheads="1"/>
          </p:cNvSpPr>
          <p:nvPr>
            <p:ph idx="1"/>
          </p:nvPr>
        </p:nvSpPr>
        <p:spPr>
          <a:xfrm>
            <a:off x="468313" y="1412875"/>
            <a:ext cx="8066087" cy="4752975"/>
          </a:xfrm>
        </p:spPr>
        <p:txBody>
          <a:bodyPr/>
          <a:lstStyle/>
          <a:p>
            <a:pPr eaLnBrk="1" hangingPunct="1"/>
            <a:r>
              <a:rPr lang="zh-CN" altLang="en-US" sz="4000" b="1" smtClean="0"/>
              <a:t>储蓄取决于收入水平和利息率</a:t>
            </a:r>
            <a:endParaRPr lang="en-US" altLang="zh-CN" sz="4000" b="1" smtClean="0"/>
          </a:p>
          <a:p>
            <a:pPr eaLnBrk="1" hangingPunct="1"/>
            <a:r>
              <a:rPr lang="zh-CN" altLang="en-US" sz="4000" b="1" smtClean="0"/>
              <a:t>所得税、利息税和间接税对储蓄产生影响</a:t>
            </a:r>
            <a:endParaRPr lang="en-US" altLang="zh-CN" sz="4000" b="1" smtClean="0"/>
          </a:p>
          <a:p>
            <a:pPr lvl="1" eaLnBrk="1" hangingPunct="1"/>
            <a:r>
              <a:rPr lang="zh-CN" altLang="en-US" b="1" smtClean="0"/>
              <a:t>个人所得税减少可支配收入，进而减少储蓄</a:t>
            </a:r>
            <a:endParaRPr lang="en-US" altLang="zh-CN" b="1" smtClean="0"/>
          </a:p>
          <a:p>
            <a:pPr lvl="1" eaLnBrk="1" hangingPunct="1"/>
            <a:r>
              <a:rPr lang="zh-CN" altLang="en-US" b="1" smtClean="0"/>
              <a:t>利息税通过减少储蓄回报率影响储蓄</a:t>
            </a:r>
            <a:endParaRPr lang="en-US" altLang="zh-CN" b="1" smtClean="0"/>
          </a:p>
          <a:p>
            <a:pPr lvl="1" eaLnBrk="1" hangingPunct="1"/>
            <a:r>
              <a:rPr lang="zh-CN" altLang="en-US" b="1" smtClean="0"/>
              <a:t>间接税转移税负，减少实际收入，减少储蓄</a:t>
            </a:r>
            <a:endParaRPr lang="en-US" altLang="zh-CN" b="1" smtClean="0"/>
          </a:p>
          <a:p>
            <a:pPr lvl="1" eaLnBrk="1" hangingPunct="1"/>
            <a:endParaRPr lang="zh-CN" altLang="en-US" sz="2400" b="1" smtClean="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88451">
                                            <p:txEl>
                                              <p:pRg st="0" end="0"/>
                                            </p:txEl>
                                          </p:spTgt>
                                        </p:tgtEl>
                                        <p:attrNameLst>
                                          <p:attrName>style.visibility</p:attrName>
                                        </p:attrNameLst>
                                      </p:cBhvr>
                                      <p:to>
                                        <p:strVal val="visible"/>
                                      </p:to>
                                    </p:set>
                                    <p:animEffect transition="in" filter="box(in)">
                                      <p:cBhvr>
                                        <p:cTn id="7" dur="500"/>
                                        <p:tgtEl>
                                          <p:spTgt spid="4884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88451">
                                            <p:txEl>
                                              <p:pRg st="1" end="1"/>
                                            </p:txEl>
                                          </p:spTgt>
                                        </p:tgtEl>
                                        <p:attrNameLst>
                                          <p:attrName>style.visibility</p:attrName>
                                        </p:attrNameLst>
                                      </p:cBhvr>
                                      <p:to>
                                        <p:strVal val="visible"/>
                                      </p:to>
                                    </p:set>
                                    <p:animEffect transition="in" filter="box(in)">
                                      <p:cBhvr>
                                        <p:cTn id="12" dur="500"/>
                                        <p:tgtEl>
                                          <p:spTgt spid="488451">
                                            <p:txEl>
                                              <p:pRg st="1" end="1"/>
                                            </p:txEl>
                                          </p:spTgt>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488451">
                                            <p:txEl>
                                              <p:pRg st="2" end="2"/>
                                            </p:txEl>
                                          </p:spTgt>
                                        </p:tgtEl>
                                        <p:attrNameLst>
                                          <p:attrName>style.visibility</p:attrName>
                                        </p:attrNameLst>
                                      </p:cBhvr>
                                      <p:to>
                                        <p:strVal val="visible"/>
                                      </p:to>
                                    </p:set>
                                    <p:animEffect transition="in" filter="box(in)">
                                      <p:cBhvr>
                                        <p:cTn id="15" dur="500"/>
                                        <p:tgtEl>
                                          <p:spTgt spid="488451">
                                            <p:txEl>
                                              <p:pRg st="2" end="2"/>
                                            </p:txEl>
                                          </p:spTgt>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488451">
                                            <p:txEl>
                                              <p:pRg st="3" end="3"/>
                                            </p:txEl>
                                          </p:spTgt>
                                        </p:tgtEl>
                                        <p:attrNameLst>
                                          <p:attrName>style.visibility</p:attrName>
                                        </p:attrNameLst>
                                      </p:cBhvr>
                                      <p:to>
                                        <p:strVal val="visible"/>
                                      </p:to>
                                    </p:set>
                                    <p:animEffect transition="in" filter="box(in)">
                                      <p:cBhvr>
                                        <p:cTn id="18" dur="500"/>
                                        <p:tgtEl>
                                          <p:spTgt spid="488451">
                                            <p:txEl>
                                              <p:pRg st="3" end="3"/>
                                            </p:txEl>
                                          </p:spTgt>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488451">
                                            <p:txEl>
                                              <p:pRg st="4" end="4"/>
                                            </p:txEl>
                                          </p:spTgt>
                                        </p:tgtEl>
                                        <p:attrNameLst>
                                          <p:attrName>style.visibility</p:attrName>
                                        </p:attrNameLst>
                                      </p:cBhvr>
                                      <p:to>
                                        <p:strVal val="visible"/>
                                      </p:to>
                                    </p:set>
                                    <p:animEffect transition="in" filter="box(in)">
                                      <p:cBhvr>
                                        <p:cTn id="21" dur="500"/>
                                        <p:tgtEl>
                                          <p:spTgt spid="4884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845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endParaRPr lang="zh-CN" altLang="en-US" smtClean="0"/>
          </a:p>
        </p:txBody>
      </p:sp>
      <p:sp>
        <p:nvSpPr>
          <p:cNvPr id="3" name="内容占位符 2"/>
          <p:cNvSpPr>
            <a:spLocks noGrp="1"/>
          </p:cNvSpPr>
          <p:nvPr>
            <p:ph idx="1"/>
          </p:nvPr>
        </p:nvSpPr>
        <p:spPr/>
        <p:txBody>
          <a:bodyPr/>
          <a:lstStyle/>
          <a:p>
            <a:pPr eaLnBrk="1" hangingPunct="1"/>
            <a:r>
              <a:rPr lang="zh-CN" altLang="en-US" b="1" smtClean="0"/>
              <a:t>税收对储蓄的收入效应是指在对个人所得征税后，个人的实际收入（或购买力）下降，会按他既定的收入减少当前的消费和储蓄。</a:t>
            </a:r>
            <a:endParaRPr lang="en-US" altLang="zh-CN" b="1" smtClean="0"/>
          </a:p>
          <a:p>
            <a:pPr eaLnBrk="1" hangingPunct="1"/>
            <a:r>
              <a:rPr lang="zh-CN" altLang="en-US" b="1" smtClean="0">
                <a:solidFill>
                  <a:srgbClr val="FFC000"/>
                </a:solidFill>
              </a:rPr>
              <a:t>如不征利息税，征收个人所得税对居民储蓄只有收入效应。</a:t>
            </a:r>
          </a:p>
          <a:p>
            <a:pPr eaLnBrk="1" hangingPunct="1"/>
            <a:r>
              <a:rPr lang="zh-CN" altLang="en-US" b="1" smtClean="0"/>
              <a:t> 利息税：收入效应和替代效应（</a:t>
            </a:r>
            <a:r>
              <a:rPr lang="zh-CN" altLang="en-US" b="1" smtClean="0">
                <a:solidFill>
                  <a:srgbClr val="FFC000"/>
                </a:solidFill>
              </a:rPr>
              <a:t>都为负</a:t>
            </a:r>
            <a:r>
              <a:rPr lang="zh-CN" altLang="en-US" b="1" smtClean="0"/>
              <a:t>）</a:t>
            </a:r>
            <a:endParaRPr lang="zh-CN" altLang="en-US" smtClean="0"/>
          </a:p>
          <a:p>
            <a:endParaRPr lang="zh-CN" altLang="en-US" smtClean="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zh-CN" altLang="en-US" b="1" smtClean="0"/>
              <a:t>（二）我国的实际情况</a:t>
            </a:r>
          </a:p>
        </p:txBody>
      </p:sp>
      <p:sp>
        <p:nvSpPr>
          <p:cNvPr id="489475" name="Rectangle 3"/>
          <p:cNvSpPr>
            <a:spLocks noGrp="1" noChangeArrowheads="1"/>
          </p:cNvSpPr>
          <p:nvPr>
            <p:ph idx="1"/>
          </p:nvPr>
        </p:nvSpPr>
        <p:spPr/>
        <p:txBody>
          <a:bodyPr/>
          <a:lstStyle/>
          <a:p>
            <a:pPr eaLnBrk="1" hangingPunct="1"/>
            <a:r>
              <a:rPr lang="zh-CN" altLang="en-US" b="1" smtClean="0"/>
              <a:t>储蓄额增长很快，住房公积金，教育储蓄免征。</a:t>
            </a:r>
          </a:p>
          <a:p>
            <a:pPr eaLnBrk="1" hangingPunct="1"/>
            <a:r>
              <a:rPr lang="zh-CN" altLang="en-US" b="1" smtClean="0"/>
              <a:t>几乎不受税收影响</a:t>
            </a:r>
            <a:endParaRPr lang="en-US" altLang="zh-CN" b="1" smtClean="0"/>
          </a:p>
          <a:p>
            <a:pPr eaLnBrk="1" hangingPunct="1"/>
            <a:r>
              <a:rPr lang="zh-CN" altLang="en-US" b="1" smtClean="0"/>
              <a:t>国家总储蓄率：世界银行将其定义为</a:t>
            </a:r>
            <a:r>
              <a:rPr lang="zh-CN" altLang="en-US" b="1" smtClean="0">
                <a:solidFill>
                  <a:srgbClr val="FFC000"/>
                </a:solidFill>
              </a:rPr>
              <a:t>国民总收入减去总消费量，再加上净转移收入</a:t>
            </a:r>
            <a:r>
              <a:rPr lang="zh-CN" altLang="en-US" b="1" smtClean="0"/>
              <a:t>。这个指标涵盖范围更广，不仅包括了个人，还将企业和政府也纳入统计。</a:t>
            </a:r>
          </a:p>
          <a:p>
            <a:pPr eaLnBrk="1" hangingPunct="1"/>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89475">
                                            <p:txEl>
                                              <p:pRg st="0" end="0"/>
                                            </p:txEl>
                                          </p:spTgt>
                                        </p:tgtEl>
                                        <p:attrNameLst>
                                          <p:attrName>style.visibility</p:attrName>
                                        </p:attrNameLst>
                                      </p:cBhvr>
                                      <p:to>
                                        <p:strVal val="visible"/>
                                      </p:to>
                                    </p:set>
                                    <p:animEffect transition="in" filter="box(in)">
                                      <p:cBhvr>
                                        <p:cTn id="7" dur="500"/>
                                        <p:tgtEl>
                                          <p:spTgt spid="4894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89475">
                                            <p:txEl>
                                              <p:pRg st="1" end="1"/>
                                            </p:txEl>
                                          </p:spTgt>
                                        </p:tgtEl>
                                        <p:attrNameLst>
                                          <p:attrName>style.visibility</p:attrName>
                                        </p:attrNameLst>
                                      </p:cBhvr>
                                      <p:to>
                                        <p:strVal val="visible"/>
                                      </p:to>
                                    </p:set>
                                    <p:animEffect transition="in" filter="box(in)">
                                      <p:cBhvr>
                                        <p:cTn id="12" dur="500"/>
                                        <p:tgtEl>
                                          <p:spTgt spid="4894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89475">
                                            <p:txEl>
                                              <p:pRg st="2" end="2"/>
                                            </p:txEl>
                                          </p:spTgt>
                                        </p:tgtEl>
                                        <p:attrNameLst>
                                          <p:attrName>style.visibility</p:attrName>
                                        </p:attrNameLst>
                                      </p:cBhvr>
                                      <p:to>
                                        <p:strVal val="visible"/>
                                      </p:to>
                                    </p:set>
                                    <p:animEffect transition="in" filter="box(in)">
                                      <p:cBhvr>
                                        <p:cTn id="17" dur="500"/>
                                        <p:tgtEl>
                                          <p:spTgt spid="4894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947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en-US" altLang="zh-CN" smtClean="0"/>
              <a:t>2013</a:t>
            </a:r>
            <a:r>
              <a:rPr lang="zh-CN" altLang="en-US" smtClean="0"/>
              <a:t>年国家总储蓄率概览</a:t>
            </a:r>
          </a:p>
        </p:txBody>
      </p:sp>
      <p:pic>
        <p:nvPicPr>
          <p:cNvPr id="27651" name="内容占位符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95263" y="1600200"/>
            <a:ext cx="8553450" cy="4708525"/>
          </a:xfrm>
        </p:spPr>
      </p:pic>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endParaRPr lang="zh-CN" altLang="en-US" smtClean="0"/>
          </a:p>
        </p:txBody>
      </p:sp>
      <p:sp>
        <p:nvSpPr>
          <p:cNvPr id="28675" name="内容占位符 2"/>
          <p:cNvSpPr>
            <a:spLocks noGrp="1"/>
          </p:cNvSpPr>
          <p:nvPr>
            <p:ph idx="1"/>
          </p:nvPr>
        </p:nvSpPr>
        <p:spPr/>
        <p:txBody>
          <a:bodyPr/>
          <a:lstStyle/>
          <a:p>
            <a:r>
              <a:rPr lang="zh-CN" altLang="en-US" sz="2800" b="1" smtClean="0"/>
              <a:t>世行在</a:t>
            </a:r>
            <a:r>
              <a:rPr lang="en-US" altLang="zh-CN" sz="2800" b="1" smtClean="0"/>
              <a:t>2013</a:t>
            </a:r>
            <a:r>
              <a:rPr lang="zh-CN" altLang="en-US" sz="2800" b="1" smtClean="0"/>
              <a:t>年的统计显示，中国总储蓄在</a:t>
            </a:r>
            <a:r>
              <a:rPr lang="en-US" altLang="zh-CN" sz="2800" b="1" smtClean="0"/>
              <a:t>GDP</a:t>
            </a:r>
            <a:r>
              <a:rPr lang="zh-CN" altLang="en-US" sz="2800" b="1" smtClean="0"/>
              <a:t>中的比例在</a:t>
            </a:r>
            <a:r>
              <a:rPr lang="en-US" altLang="zh-CN" sz="2800" b="1" smtClean="0"/>
              <a:t>2013</a:t>
            </a:r>
            <a:r>
              <a:rPr lang="zh-CN" altLang="en-US" sz="2800" b="1" smtClean="0"/>
              <a:t>年就达到相当高的水平，</a:t>
            </a:r>
            <a:r>
              <a:rPr lang="zh-CN" altLang="en-US" sz="2800" b="1" smtClean="0">
                <a:solidFill>
                  <a:srgbClr val="FFC000"/>
                </a:solidFill>
              </a:rPr>
              <a:t>位居全球第三，仅次于科威特和百慕大群岛地区。</a:t>
            </a:r>
            <a:endParaRPr lang="en-US" altLang="zh-CN" sz="2800" b="1" smtClean="0">
              <a:solidFill>
                <a:srgbClr val="FFC000"/>
              </a:solidFill>
            </a:endParaRPr>
          </a:p>
          <a:p>
            <a:r>
              <a:rPr lang="zh-CN" altLang="en-US" sz="2800" b="1" smtClean="0"/>
              <a:t>国民储蓄分三个部分：</a:t>
            </a:r>
            <a:r>
              <a:rPr lang="zh-CN" altLang="en-US" sz="2800" b="1" smtClean="0">
                <a:solidFill>
                  <a:srgbClr val="FFC000"/>
                </a:solidFill>
              </a:rPr>
              <a:t>居民储蓄、企业储蓄、政府储蓄，</a:t>
            </a:r>
            <a:r>
              <a:rPr lang="zh-CN" altLang="en-US" sz="2800" b="1" smtClean="0"/>
              <a:t>其中居民储蓄代表个人（家庭）的储蓄水平。</a:t>
            </a:r>
            <a:endParaRPr lang="en-US" altLang="zh-CN" sz="2800" b="1" smtClean="0"/>
          </a:p>
          <a:p>
            <a:r>
              <a:rPr lang="zh-CN" altLang="en-US" sz="2800" b="1" smtClean="0"/>
              <a:t>来自国际清算局的数据就显示，在</a:t>
            </a:r>
            <a:r>
              <a:rPr lang="en-US" altLang="zh-CN" sz="2800" b="1" smtClean="0"/>
              <a:t>2000</a:t>
            </a:r>
            <a:r>
              <a:rPr lang="zh-CN" altLang="en-US" sz="2800" b="1" smtClean="0"/>
              <a:t>年到</a:t>
            </a:r>
            <a:r>
              <a:rPr lang="en-US" altLang="zh-CN" sz="2800" b="1" smtClean="0"/>
              <a:t>2008</a:t>
            </a:r>
            <a:r>
              <a:rPr lang="zh-CN" altLang="en-US" sz="2800" b="1" smtClean="0"/>
              <a:t>年间，</a:t>
            </a:r>
            <a:r>
              <a:rPr lang="zh-CN" altLang="en-US" sz="2800" b="1" smtClean="0">
                <a:solidFill>
                  <a:srgbClr val="FFC000"/>
                </a:solidFill>
              </a:rPr>
              <a:t>中国国民总储蓄增长中有</a:t>
            </a:r>
            <a:r>
              <a:rPr lang="en-US" altLang="zh-CN" sz="2800" b="1" smtClean="0">
                <a:solidFill>
                  <a:srgbClr val="FFC000"/>
                </a:solidFill>
              </a:rPr>
              <a:t>80%</a:t>
            </a:r>
            <a:r>
              <a:rPr lang="zh-CN" altLang="en-US" sz="2800" b="1" smtClean="0">
                <a:solidFill>
                  <a:srgbClr val="FFC000"/>
                </a:solidFill>
              </a:rPr>
              <a:t>源于政府及公司部门，并非来自家庭。</a:t>
            </a: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endParaRPr lang="zh-CN" altLang="en-US" smtClean="0"/>
          </a:p>
        </p:txBody>
      </p:sp>
      <p:pic>
        <p:nvPicPr>
          <p:cNvPr id="29699" name="内容占位符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23850" y="1341438"/>
            <a:ext cx="8424863" cy="5111750"/>
          </a:xfr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endParaRPr lang="zh-CN" altLang="en-US" smtClean="0"/>
          </a:p>
        </p:txBody>
      </p:sp>
      <p:sp>
        <p:nvSpPr>
          <p:cNvPr id="3" name="内容占位符 2"/>
          <p:cNvSpPr>
            <a:spLocks noGrp="1"/>
          </p:cNvSpPr>
          <p:nvPr>
            <p:ph idx="1"/>
          </p:nvPr>
        </p:nvSpPr>
        <p:spPr>
          <a:xfrm>
            <a:off x="395288" y="1341438"/>
            <a:ext cx="8280400" cy="4967287"/>
          </a:xfrm>
        </p:spPr>
        <p:txBody>
          <a:bodyPr/>
          <a:lstStyle/>
          <a:p>
            <a:r>
              <a:rPr lang="en-US" altLang="zh-CN" sz="2400" b="1" smtClean="0"/>
              <a:t>2015</a:t>
            </a:r>
            <a:r>
              <a:rPr lang="zh-CN" altLang="en-US" sz="2400" b="1" smtClean="0"/>
              <a:t>年，中国居民新增储蓄的存款就超过了</a:t>
            </a:r>
            <a:r>
              <a:rPr lang="en-US" altLang="zh-CN" sz="2400" b="1" smtClean="0"/>
              <a:t>4</a:t>
            </a:r>
            <a:r>
              <a:rPr lang="zh-CN" altLang="en-US" sz="2400" b="1" smtClean="0"/>
              <a:t>万亿人民币，</a:t>
            </a:r>
            <a:r>
              <a:rPr lang="en-US" altLang="zh-CN" sz="2400" b="1" smtClean="0"/>
              <a:t>2008</a:t>
            </a:r>
            <a:r>
              <a:rPr lang="zh-CN" altLang="en-US" sz="2400" b="1" smtClean="0"/>
              <a:t>年以来，中国的居民储蓄累计增加了</a:t>
            </a:r>
            <a:r>
              <a:rPr lang="en-US" altLang="zh-CN" sz="2400" b="1" smtClean="0"/>
              <a:t>35</a:t>
            </a:r>
            <a:r>
              <a:rPr lang="zh-CN" altLang="en-US" sz="2400" b="1" smtClean="0"/>
              <a:t>万亿元。</a:t>
            </a:r>
          </a:p>
          <a:p>
            <a:r>
              <a:rPr lang="zh-CN" altLang="en-US" sz="2400" b="1" smtClean="0"/>
              <a:t>按照全国总人口</a:t>
            </a:r>
            <a:r>
              <a:rPr lang="en-US" altLang="zh-CN" sz="2400" b="1" smtClean="0"/>
              <a:t>13.7</a:t>
            </a:r>
            <a:r>
              <a:rPr lang="zh-CN" altLang="en-US" sz="2400" b="1" smtClean="0"/>
              <a:t>亿计算，我国居民人均存款已经达到</a:t>
            </a:r>
            <a:r>
              <a:rPr lang="en-US" altLang="zh-CN" sz="2400" b="1" smtClean="0"/>
              <a:t>40291</a:t>
            </a:r>
            <a:r>
              <a:rPr lang="zh-CN" altLang="en-US" sz="2400" b="1" smtClean="0"/>
              <a:t>元人民币，首次突破</a:t>
            </a:r>
            <a:r>
              <a:rPr lang="en-US" altLang="zh-CN" sz="2400" b="1" smtClean="0"/>
              <a:t>4</a:t>
            </a:r>
            <a:r>
              <a:rPr lang="zh-CN" altLang="en-US" sz="2400" b="1" smtClean="0"/>
              <a:t>万元。那么，人均</a:t>
            </a:r>
            <a:r>
              <a:rPr lang="en-US" altLang="zh-CN" sz="2400" b="1" smtClean="0"/>
              <a:t>4</a:t>
            </a:r>
            <a:r>
              <a:rPr lang="zh-CN" altLang="en-US" sz="2400" b="1" smtClean="0"/>
              <a:t>万的居民储蓄来自谁？</a:t>
            </a:r>
          </a:p>
          <a:p>
            <a:r>
              <a:rPr lang="zh-CN" altLang="en-US" sz="2400" b="1" smtClean="0"/>
              <a:t>西南财经大学和</a:t>
            </a:r>
            <a:r>
              <a:rPr lang="zh-CN" altLang="en-US" sz="2400" b="1" smtClean="0">
                <a:solidFill>
                  <a:srgbClr val="FFC000"/>
                </a:solidFill>
              </a:rPr>
              <a:t>中国家庭金融调查与研究中心</a:t>
            </a:r>
            <a:r>
              <a:rPr lang="zh-CN" altLang="en-US" sz="2400" b="1" smtClean="0"/>
              <a:t>曾对</a:t>
            </a:r>
            <a:r>
              <a:rPr lang="en-US" altLang="zh-CN" sz="2400" b="1" smtClean="0"/>
              <a:t>8000</a:t>
            </a:r>
            <a:r>
              <a:rPr lang="zh-CN" altLang="en-US" sz="2400" b="1" smtClean="0"/>
              <a:t>多户中国家庭进行调查，并发布</a:t>
            </a:r>
            <a:r>
              <a:rPr lang="en-US" altLang="zh-CN" sz="2400" b="1" smtClean="0"/>
              <a:t>《2015</a:t>
            </a:r>
            <a:r>
              <a:rPr lang="zh-CN" altLang="en-US" sz="2400" b="1" smtClean="0"/>
              <a:t>中国家庭金融报告</a:t>
            </a:r>
            <a:r>
              <a:rPr lang="en-US" altLang="zh-CN" sz="2400" b="1" smtClean="0"/>
              <a:t>》</a:t>
            </a:r>
            <a:r>
              <a:rPr lang="zh-CN" altLang="en-US" sz="2400" b="1" smtClean="0"/>
              <a:t>。报告指出：</a:t>
            </a:r>
          </a:p>
          <a:p>
            <a:r>
              <a:rPr lang="zh-CN" altLang="en-US" sz="2400" b="1" smtClean="0"/>
              <a:t>家庭储蓄分布极为不均。</a:t>
            </a:r>
            <a:r>
              <a:rPr lang="en-US" altLang="zh-CN" sz="2400" b="1" smtClean="0">
                <a:solidFill>
                  <a:srgbClr val="FFC000"/>
                </a:solidFill>
              </a:rPr>
              <a:t>55%</a:t>
            </a:r>
            <a:r>
              <a:rPr lang="zh-CN" altLang="en-US" sz="2400" b="1" smtClean="0">
                <a:solidFill>
                  <a:srgbClr val="FFC000"/>
                </a:solidFill>
              </a:rPr>
              <a:t>的家庭没有或几乎没有储蓄，而收入最高的</a:t>
            </a:r>
            <a:r>
              <a:rPr lang="en-US" altLang="zh-CN" sz="2400" b="1" smtClean="0">
                <a:solidFill>
                  <a:srgbClr val="FFC000"/>
                </a:solidFill>
              </a:rPr>
              <a:t>10%</a:t>
            </a:r>
            <a:r>
              <a:rPr lang="zh-CN" altLang="en-US" sz="2400" b="1" smtClean="0">
                <a:solidFill>
                  <a:srgbClr val="FFC000"/>
                </a:solidFill>
              </a:rPr>
              <a:t>的家庭储蓄率为</a:t>
            </a:r>
            <a:r>
              <a:rPr lang="en-US" altLang="zh-CN" sz="2400" b="1" smtClean="0">
                <a:solidFill>
                  <a:srgbClr val="FFC000"/>
                </a:solidFill>
              </a:rPr>
              <a:t>60.6%</a:t>
            </a:r>
            <a:r>
              <a:rPr lang="zh-CN" altLang="en-US" sz="2400" b="1" smtClean="0">
                <a:solidFill>
                  <a:srgbClr val="FFC000"/>
                </a:solidFill>
              </a:rPr>
              <a:t>，储蓄金额占当年总储蓄的</a:t>
            </a:r>
            <a:r>
              <a:rPr lang="en-US" altLang="zh-CN" sz="2400" b="1" smtClean="0">
                <a:solidFill>
                  <a:srgbClr val="FFC000"/>
                </a:solidFill>
              </a:rPr>
              <a:t>74.9%</a:t>
            </a:r>
            <a:r>
              <a:rPr lang="zh-CN" altLang="en-US" sz="2400" b="1" smtClean="0">
                <a:solidFill>
                  <a:srgbClr val="FFC000"/>
                </a:solidFill>
              </a:rPr>
              <a:t>。收入最高的</a:t>
            </a:r>
            <a:r>
              <a:rPr lang="en-US" altLang="zh-CN" sz="2400" b="1" smtClean="0">
                <a:solidFill>
                  <a:srgbClr val="FFC000"/>
                </a:solidFill>
              </a:rPr>
              <a:t>5%</a:t>
            </a:r>
            <a:r>
              <a:rPr lang="zh-CN" altLang="en-US" sz="2400" b="1" smtClean="0">
                <a:solidFill>
                  <a:srgbClr val="FFC000"/>
                </a:solidFill>
              </a:rPr>
              <a:t>的家庭储蓄率为</a:t>
            </a:r>
            <a:r>
              <a:rPr lang="en-US" altLang="zh-CN" sz="2400" b="1" smtClean="0">
                <a:solidFill>
                  <a:srgbClr val="FFC000"/>
                </a:solidFill>
              </a:rPr>
              <a:t>69.02%</a:t>
            </a:r>
            <a:r>
              <a:rPr lang="zh-CN" altLang="en-US" sz="2400" b="1" smtClean="0">
                <a:solidFill>
                  <a:srgbClr val="FFC000"/>
                </a:solidFill>
              </a:rPr>
              <a:t>，储蓄金额占当年总储蓄的</a:t>
            </a:r>
            <a:r>
              <a:rPr lang="en-US" altLang="zh-CN" sz="2400" b="1" smtClean="0">
                <a:solidFill>
                  <a:srgbClr val="FFC000"/>
                </a:solidFill>
              </a:rPr>
              <a:t>61.6%</a:t>
            </a:r>
            <a:r>
              <a:rPr lang="zh-CN" altLang="en-US" sz="2400" b="1" smtClean="0">
                <a:solidFill>
                  <a:srgbClr val="FFC000"/>
                </a:solidFill>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a:lstStyle/>
          <a:p>
            <a:endParaRPr lang="zh-CN" altLang="en-US" smtClean="0"/>
          </a:p>
        </p:txBody>
      </p:sp>
      <p:sp>
        <p:nvSpPr>
          <p:cNvPr id="3" name="内容占位符 2"/>
          <p:cNvSpPr>
            <a:spLocks noGrp="1"/>
          </p:cNvSpPr>
          <p:nvPr>
            <p:ph idx="1"/>
          </p:nvPr>
        </p:nvSpPr>
        <p:spPr>
          <a:xfrm>
            <a:off x="611188" y="1628775"/>
            <a:ext cx="7924800" cy="4419600"/>
          </a:xfrm>
        </p:spPr>
        <p:txBody>
          <a:bodyPr/>
          <a:lstStyle/>
          <a:p>
            <a:r>
              <a:rPr lang="zh-CN" altLang="en-US" b="1" smtClean="0"/>
              <a:t>截止</a:t>
            </a:r>
            <a:r>
              <a:rPr lang="en-US" altLang="zh-CN" b="1" smtClean="0"/>
              <a:t>2017</a:t>
            </a:r>
            <a:r>
              <a:rPr lang="zh-CN" altLang="en-US" b="1" smtClean="0"/>
              <a:t>年</a:t>
            </a:r>
            <a:r>
              <a:rPr lang="en-US" altLang="zh-CN" b="1" smtClean="0"/>
              <a:t>12</a:t>
            </a:r>
            <a:r>
              <a:rPr lang="zh-CN" altLang="en-US" b="1" smtClean="0"/>
              <a:t>月末，中国人民币存款余额</a:t>
            </a:r>
            <a:r>
              <a:rPr lang="en-US" altLang="zh-CN" b="1" smtClean="0"/>
              <a:t>164.1</a:t>
            </a:r>
            <a:r>
              <a:rPr lang="zh-CN" altLang="en-US" b="1" smtClean="0"/>
              <a:t>万亿元左右。在这里面，住户存款达到</a:t>
            </a:r>
            <a:r>
              <a:rPr lang="en-US" altLang="zh-CN" b="1" smtClean="0"/>
              <a:t>64</a:t>
            </a:r>
            <a:r>
              <a:rPr lang="zh-CN" altLang="en-US" b="1" smtClean="0"/>
              <a:t>万亿元，非金融企业存款达到</a:t>
            </a:r>
            <a:r>
              <a:rPr lang="en-US" altLang="zh-CN" b="1" smtClean="0"/>
              <a:t>57</a:t>
            </a:r>
            <a:r>
              <a:rPr lang="zh-CN" altLang="en-US" b="1" smtClean="0"/>
              <a:t>万亿元。你可以看出来，中国老百姓和中国企业是银行存款的主力军，他们占了银行人民币存款的</a:t>
            </a:r>
            <a:r>
              <a:rPr lang="en-US" altLang="zh-CN" b="1" smtClean="0"/>
              <a:t>74%</a:t>
            </a:r>
            <a:r>
              <a:rPr lang="zh-CN" altLang="en-US" b="1" smtClean="0"/>
              <a:t>。</a:t>
            </a:r>
          </a:p>
          <a:p>
            <a:r>
              <a:rPr lang="zh-CN" altLang="en-US" b="1" smtClean="0"/>
              <a:t>从金额上来，中国的存款是非常多的，但近年来存款流失趋势越来越明显。</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endParaRPr lang="zh-CN" altLang="en-US" smtClean="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23850" y="1412875"/>
            <a:ext cx="8424863" cy="4968875"/>
          </a:xfr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endParaRPr lang="zh-CN" altLang="en-US" smtClean="0"/>
          </a:p>
        </p:txBody>
      </p:sp>
      <p:sp>
        <p:nvSpPr>
          <p:cNvPr id="3" name="内容占位符 2"/>
          <p:cNvSpPr>
            <a:spLocks noGrp="1"/>
          </p:cNvSpPr>
          <p:nvPr>
            <p:ph idx="1"/>
          </p:nvPr>
        </p:nvSpPr>
        <p:spPr>
          <a:xfrm>
            <a:off x="609600" y="1268413"/>
            <a:ext cx="7924800" cy="5040312"/>
          </a:xfrm>
        </p:spPr>
        <p:txBody>
          <a:bodyPr/>
          <a:lstStyle/>
          <a:p>
            <a:r>
              <a:rPr lang="zh-CN" altLang="en-US" b="1" smtClean="0"/>
              <a:t>从图很明显看到，金融机构的存款增速直直下降。目前各项存款余额的同比增速已经降至</a:t>
            </a:r>
            <a:r>
              <a:rPr lang="en-US" altLang="zh-CN" b="1" smtClean="0"/>
              <a:t>1979</a:t>
            </a:r>
            <a:r>
              <a:rPr lang="zh-CN" altLang="en-US" b="1" smtClean="0"/>
              <a:t>年以来的最低水平。截至</a:t>
            </a:r>
            <a:r>
              <a:rPr lang="en-US" altLang="zh-CN" b="1" smtClean="0"/>
              <a:t>3</a:t>
            </a:r>
            <a:r>
              <a:rPr lang="zh-CN" altLang="en-US" b="1" smtClean="0"/>
              <a:t>月末，各项存款余额同比仅增长</a:t>
            </a:r>
            <a:r>
              <a:rPr lang="en-US" altLang="zh-CN" b="1" smtClean="0"/>
              <a:t>8.7%</a:t>
            </a:r>
            <a:r>
              <a:rPr lang="zh-CN" altLang="en-US" b="1" smtClean="0"/>
              <a:t>，较上年同期下降了</a:t>
            </a:r>
            <a:r>
              <a:rPr lang="en-US" altLang="zh-CN" b="1" smtClean="0"/>
              <a:t>1.6</a:t>
            </a:r>
            <a:r>
              <a:rPr lang="zh-CN" altLang="en-US" b="1" smtClean="0"/>
              <a:t>个百分点。</a:t>
            </a:r>
          </a:p>
          <a:p>
            <a:r>
              <a:rPr lang="zh-CN" altLang="en-US" b="1" smtClean="0"/>
              <a:t>在这里面，个人储蓄存款降幅更为惊人，居民的储蓄率由</a:t>
            </a:r>
            <a:r>
              <a:rPr lang="en-US" altLang="zh-CN" b="1" smtClean="0"/>
              <a:t>2010</a:t>
            </a:r>
            <a:r>
              <a:rPr lang="zh-CN" altLang="en-US" b="1" smtClean="0"/>
              <a:t>年的</a:t>
            </a:r>
            <a:r>
              <a:rPr lang="en-US" altLang="zh-CN" b="1" smtClean="0"/>
              <a:t>16%</a:t>
            </a:r>
            <a:r>
              <a:rPr lang="zh-CN" altLang="en-US" b="1" smtClean="0"/>
              <a:t>下降到</a:t>
            </a:r>
            <a:r>
              <a:rPr lang="en-US" altLang="zh-CN" b="1" smtClean="0"/>
              <a:t>2017</a:t>
            </a:r>
            <a:r>
              <a:rPr lang="zh-CN" altLang="en-US" b="1" smtClean="0"/>
              <a:t>年的</a:t>
            </a:r>
            <a:r>
              <a:rPr lang="en-US" altLang="zh-CN" b="1" smtClean="0"/>
              <a:t>7.7%</a:t>
            </a:r>
            <a:r>
              <a:rPr lang="zh-CN" altLang="en-US" b="1" smtClean="0"/>
              <a:t>。四大行和中资全国性大型银行个人存款中的储蓄存款余额在今年一季度均出现负增长。</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endParaRPr lang="zh-CN" altLang="en-US" smtClean="0"/>
          </a:p>
        </p:txBody>
      </p:sp>
      <p:sp>
        <p:nvSpPr>
          <p:cNvPr id="3" name="内容占位符 2"/>
          <p:cNvSpPr>
            <a:spLocks noGrp="1"/>
          </p:cNvSpPr>
          <p:nvPr>
            <p:ph idx="1"/>
          </p:nvPr>
        </p:nvSpPr>
        <p:spPr/>
        <p:txBody>
          <a:bodyPr/>
          <a:lstStyle/>
          <a:p>
            <a:r>
              <a:rPr lang="zh-CN" altLang="en-US" b="1" smtClean="0"/>
              <a:t>居民的钱不存款，都去了哪些呢？</a:t>
            </a:r>
          </a:p>
          <a:p>
            <a:r>
              <a:rPr lang="zh-CN" altLang="en-US" b="1" smtClean="0"/>
              <a:t>理财产品</a:t>
            </a:r>
          </a:p>
          <a:p>
            <a:r>
              <a:rPr lang="zh-CN" altLang="en-US" b="1" smtClean="0"/>
              <a:t>买房</a:t>
            </a:r>
            <a:endParaRPr lang="en-US" altLang="zh-CN" b="1" smtClean="0"/>
          </a:p>
          <a:p>
            <a:r>
              <a:rPr lang="zh-CN" altLang="en-US" b="1" smtClean="0"/>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p:spPr>
        <p:txBody>
          <a:bodyPr/>
          <a:lstStyle/>
          <a:p>
            <a:pPr eaLnBrk="1" hangingPunct="1"/>
            <a:r>
              <a:rPr lang="zh-CN" altLang="en-US" sz="3800" b="1" smtClean="0"/>
              <a:t>三、税收对投资的影响</a:t>
            </a:r>
          </a:p>
        </p:txBody>
      </p:sp>
      <p:sp>
        <p:nvSpPr>
          <p:cNvPr id="35843" name="Rectangle 3"/>
          <p:cNvSpPr>
            <a:spLocks noGrp="1" noChangeArrowheads="1"/>
          </p:cNvSpPr>
          <p:nvPr>
            <p:ph idx="1"/>
          </p:nvPr>
        </p:nvSpPr>
        <p:spPr/>
        <p:txBody>
          <a:bodyPr/>
          <a:lstStyle/>
          <a:p>
            <a:pPr eaLnBrk="1" hangingPunct="1"/>
            <a:r>
              <a:rPr lang="zh-CN" altLang="en-US" b="1" smtClean="0"/>
              <a:t>（一）税收影响投资的原理</a:t>
            </a:r>
          </a:p>
          <a:p>
            <a:pPr eaLnBrk="1" hangingPunct="1"/>
            <a:r>
              <a:rPr lang="zh-CN" altLang="en-US" b="1" smtClean="0"/>
              <a:t>（二）税收对投资的替代效应和收入效应分析</a:t>
            </a:r>
          </a:p>
          <a:p>
            <a:pPr eaLnBrk="1" hangingPunct="1"/>
            <a:r>
              <a:rPr lang="zh-CN" altLang="en-US" b="1" smtClean="0"/>
              <a:t>（三）税收对吸引国外直接投资的影响</a:t>
            </a: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zh-CN" altLang="en-US" b="1" smtClean="0"/>
              <a:t>（一）税收影响投资的原理</a:t>
            </a:r>
          </a:p>
        </p:txBody>
      </p:sp>
      <p:sp>
        <p:nvSpPr>
          <p:cNvPr id="490499" name="Rectangle 3"/>
          <p:cNvSpPr>
            <a:spLocks noGrp="1" noChangeArrowheads="1"/>
          </p:cNvSpPr>
          <p:nvPr>
            <p:ph idx="1"/>
          </p:nvPr>
        </p:nvSpPr>
        <p:spPr/>
        <p:txBody>
          <a:bodyPr/>
          <a:lstStyle/>
          <a:p>
            <a:pPr eaLnBrk="1" hangingPunct="1"/>
            <a:r>
              <a:rPr lang="en-US" altLang="zh-CN" sz="3600" b="1" smtClean="0"/>
              <a:t> </a:t>
            </a:r>
            <a:r>
              <a:rPr lang="zh-CN" altLang="en-US" b="1" smtClean="0"/>
              <a:t>税收对投资的影响主要通过</a:t>
            </a:r>
            <a:r>
              <a:rPr lang="zh-CN" altLang="en-US" b="1" smtClean="0">
                <a:solidFill>
                  <a:srgbClr val="FFC000"/>
                </a:solidFill>
              </a:rPr>
              <a:t>企业所得税的税率、税前抵扣和税收优惠</a:t>
            </a:r>
            <a:r>
              <a:rPr lang="zh-CN" altLang="en-US" b="1" smtClean="0"/>
              <a:t>等措施影响纳税人的</a:t>
            </a:r>
            <a:r>
              <a:rPr lang="zh-CN" altLang="en-US" b="1" smtClean="0">
                <a:solidFill>
                  <a:srgbClr val="FFC000"/>
                </a:solidFill>
              </a:rPr>
              <a:t>投资收益和投资成本。</a:t>
            </a:r>
            <a:endParaRPr lang="en-US" altLang="zh-CN" b="1" smtClean="0">
              <a:solidFill>
                <a:srgbClr val="FFC000"/>
              </a:solidFill>
            </a:endParaRPr>
          </a:p>
          <a:p>
            <a:pPr eaLnBrk="1" hangingPunct="1"/>
            <a:r>
              <a:rPr lang="zh-CN" altLang="en-US" b="1" smtClean="0">
                <a:solidFill>
                  <a:srgbClr val="FFC000"/>
                </a:solidFill>
              </a:rPr>
              <a:t>征税减少了企业净收益，增加了亏损风险。</a:t>
            </a:r>
            <a:endParaRPr lang="en-US" altLang="zh-CN" b="1" smtClean="0">
              <a:solidFill>
                <a:srgbClr val="FFC000"/>
              </a:solidFill>
            </a:endParaRPr>
          </a:p>
          <a:p>
            <a:pPr eaLnBrk="1" hangingPunct="1"/>
            <a:r>
              <a:rPr lang="en-US" altLang="zh-CN" b="1" smtClean="0">
                <a:solidFill>
                  <a:srgbClr val="FFC000"/>
                </a:solidFill>
              </a:rPr>
              <a:t>r(1-t)</a:t>
            </a:r>
            <a:r>
              <a:rPr lang="zh-CN" altLang="en-US" b="1" smtClean="0">
                <a:solidFill>
                  <a:srgbClr val="FFC000"/>
                </a:solidFill>
              </a:rPr>
              <a:t>≥</a:t>
            </a:r>
            <a:r>
              <a:rPr lang="en-US" altLang="zh-CN" b="1" smtClean="0">
                <a:solidFill>
                  <a:srgbClr val="FFC000"/>
                </a:solidFill>
              </a:rPr>
              <a:t>i</a:t>
            </a:r>
          </a:p>
          <a:p>
            <a:pPr eaLnBrk="1" hangingPunct="1"/>
            <a:r>
              <a:rPr lang="en-US" altLang="zh-CN" b="1" smtClean="0">
                <a:solidFill>
                  <a:srgbClr val="FFC000"/>
                </a:solidFill>
              </a:rPr>
              <a:t>r</a:t>
            </a:r>
            <a:r>
              <a:rPr lang="zh-CN" altLang="en-US" b="1" smtClean="0">
                <a:solidFill>
                  <a:srgbClr val="FFC000"/>
                </a:solidFill>
              </a:rPr>
              <a:t>为毛收益率，</a:t>
            </a:r>
            <a:r>
              <a:rPr lang="en-US" altLang="zh-CN" b="1" smtClean="0">
                <a:solidFill>
                  <a:srgbClr val="FFC000"/>
                </a:solidFill>
              </a:rPr>
              <a:t> r(1-t)</a:t>
            </a:r>
            <a:r>
              <a:rPr lang="zh-CN" altLang="en-US" b="1" smtClean="0">
                <a:solidFill>
                  <a:srgbClr val="FFC000"/>
                </a:solidFill>
              </a:rPr>
              <a:t>为净收益率，</a:t>
            </a:r>
            <a:r>
              <a:rPr lang="en-US" altLang="zh-CN" b="1" smtClean="0">
                <a:solidFill>
                  <a:srgbClr val="FFC000"/>
                </a:solidFill>
              </a:rPr>
              <a:t>i</a:t>
            </a:r>
            <a:r>
              <a:rPr lang="zh-CN" altLang="en-US" b="1" smtClean="0">
                <a:solidFill>
                  <a:srgbClr val="FFC000"/>
                </a:solidFill>
              </a:rPr>
              <a:t>为市场利息率。</a:t>
            </a:r>
            <a:endParaRPr lang="en-US" altLang="zh-CN" b="1" smtClean="0">
              <a:solidFill>
                <a:srgbClr val="FFC000"/>
              </a:solidFill>
            </a:endParaRPr>
          </a:p>
          <a:p>
            <a:pPr eaLnBrk="1" hangingPunct="1"/>
            <a:endParaRPr lang="zh-CN" altLang="en-US" b="1" smtClean="0">
              <a:solidFill>
                <a:srgbClr val="FFC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90499">
                                            <p:txEl>
                                              <p:pRg st="0" end="0"/>
                                            </p:txEl>
                                          </p:spTgt>
                                        </p:tgtEl>
                                        <p:attrNameLst>
                                          <p:attrName>style.visibility</p:attrName>
                                        </p:attrNameLst>
                                      </p:cBhvr>
                                      <p:to>
                                        <p:strVal val="visible"/>
                                      </p:to>
                                    </p:set>
                                    <p:animEffect transition="in" filter="box(in)">
                                      <p:cBhvr>
                                        <p:cTn id="7" dur="500"/>
                                        <p:tgtEl>
                                          <p:spTgt spid="4904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90499">
                                            <p:txEl>
                                              <p:pRg st="1" end="1"/>
                                            </p:txEl>
                                          </p:spTgt>
                                        </p:tgtEl>
                                        <p:attrNameLst>
                                          <p:attrName>style.visibility</p:attrName>
                                        </p:attrNameLst>
                                      </p:cBhvr>
                                      <p:to>
                                        <p:strVal val="visible"/>
                                      </p:to>
                                    </p:set>
                                    <p:animEffect transition="in" filter="box(in)">
                                      <p:cBhvr>
                                        <p:cTn id="12" dur="500"/>
                                        <p:tgtEl>
                                          <p:spTgt spid="4904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90499">
                                            <p:txEl>
                                              <p:pRg st="2" end="2"/>
                                            </p:txEl>
                                          </p:spTgt>
                                        </p:tgtEl>
                                        <p:attrNameLst>
                                          <p:attrName>style.visibility</p:attrName>
                                        </p:attrNameLst>
                                      </p:cBhvr>
                                      <p:to>
                                        <p:strVal val="visible"/>
                                      </p:to>
                                    </p:set>
                                    <p:animEffect transition="in" filter="box(in)">
                                      <p:cBhvr>
                                        <p:cTn id="17" dur="500"/>
                                        <p:tgtEl>
                                          <p:spTgt spid="4904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90499">
                                            <p:txEl>
                                              <p:pRg st="3" end="3"/>
                                            </p:txEl>
                                          </p:spTgt>
                                        </p:tgtEl>
                                        <p:attrNameLst>
                                          <p:attrName>style.visibility</p:attrName>
                                        </p:attrNameLst>
                                      </p:cBhvr>
                                      <p:to>
                                        <p:strVal val="visible"/>
                                      </p:to>
                                    </p:set>
                                    <p:animEffect transition="in" filter="box(in)">
                                      <p:cBhvr>
                                        <p:cTn id="22" dur="500"/>
                                        <p:tgtEl>
                                          <p:spTgt spid="4904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0499"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95263" y="228600"/>
            <a:ext cx="8480425" cy="914400"/>
          </a:xfrm>
        </p:spPr>
        <p:txBody>
          <a:bodyPr/>
          <a:lstStyle/>
          <a:p>
            <a:pPr eaLnBrk="1" hangingPunct="1"/>
            <a:r>
              <a:rPr lang="zh-CN" altLang="en-US" sz="3200" b="1" smtClean="0"/>
              <a:t>（二）税收对投资的替代效应和收入效应分析</a:t>
            </a:r>
          </a:p>
        </p:txBody>
      </p:sp>
      <p:sp>
        <p:nvSpPr>
          <p:cNvPr id="491523" name="Rectangle 3"/>
          <p:cNvSpPr>
            <a:spLocks noGrp="1" noChangeArrowheads="1"/>
          </p:cNvSpPr>
          <p:nvPr>
            <p:ph idx="1"/>
          </p:nvPr>
        </p:nvSpPr>
        <p:spPr>
          <a:xfrm>
            <a:off x="395288" y="1412875"/>
            <a:ext cx="8139112" cy="4824413"/>
          </a:xfrm>
        </p:spPr>
        <p:txBody>
          <a:bodyPr/>
          <a:lstStyle/>
          <a:p>
            <a:pPr eaLnBrk="1" hangingPunct="1">
              <a:lnSpc>
                <a:spcPct val="90000"/>
              </a:lnSpc>
            </a:pPr>
            <a:r>
              <a:rPr lang="zh-CN" altLang="en-US" b="1" smtClean="0"/>
              <a:t>税收对投资的</a:t>
            </a:r>
            <a:r>
              <a:rPr lang="zh-CN" altLang="en-US" b="1" smtClean="0">
                <a:solidFill>
                  <a:srgbClr val="FFC000"/>
                </a:solidFill>
              </a:rPr>
              <a:t>替代效应</a:t>
            </a:r>
          </a:p>
          <a:p>
            <a:pPr eaLnBrk="1" hangingPunct="1">
              <a:lnSpc>
                <a:spcPct val="90000"/>
              </a:lnSpc>
              <a:buFont typeface="Wingdings" panose="05000000000000000000" pitchFamily="2" charset="2"/>
              <a:buNone/>
            </a:pPr>
            <a:r>
              <a:rPr lang="zh-CN" altLang="en-US" b="1" smtClean="0"/>
              <a:t>   课征公司所得税，会降低纳税人的投资收益率，如果因此降低了投资对纳税人的吸引力，导致</a:t>
            </a:r>
            <a:r>
              <a:rPr lang="zh-CN" altLang="en-US" b="1" smtClean="0">
                <a:solidFill>
                  <a:srgbClr val="FFC000"/>
                </a:solidFill>
              </a:rPr>
              <a:t>投资者减少投资而以消费替代投资。</a:t>
            </a:r>
          </a:p>
          <a:p>
            <a:pPr eaLnBrk="1" hangingPunct="1">
              <a:lnSpc>
                <a:spcPct val="90000"/>
              </a:lnSpc>
            </a:pPr>
            <a:r>
              <a:rPr lang="zh-CN" altLang="en-US" b="1" smtClean="0"/>
              <a:t>税收对投资的</a:t>
            </a:r>
            <a:r>
              <a:rPr lang="zh-CN" altLang="en-US" b="1" smtClean="0">
                <a:solidFill>
                  <a:srgbClr val="FFC000"/>
                </a:solidFill>
              </a:rPr>
              <a:t>收入效应</a:t>
            </a:r>
            <a:endParaRPr lang="zh-CN" altLang="en-US" b="1" smtClean="0">
              <a:solidFill>
                <a:srgbClr val="FF0000"/>
              </a:solidFill>
            </a:endParaRPr>
          </a:p>
          <a:p>
            <a:pPr eaLnBrk="1" hangingPunct="1">
              <a:lnSpc>
                <a:spcPct val="90000"/>
              </a:lnSpc>
              <a:buFont typeface="Wingdings" panose="05000000000000000000" pitchFamily="2" charset="2"/>
              <a:buNone/>
            </a:pPr>
            <a:r>
              <a:rPr lang="zh-CN" altLang="en-US" b="1" smtClean="0"/>
              <a:t>   如果征税和提高税率减少了投资者的税后净收益，而投资者为了维持过去的收益水平趋向于</a:t>
            </a:r>
            <a:r>
              <a:rPr lang="zh-CN" altLang="en-US" b="1" smtClean="0">
                <a:solidFill>
                  <a:srgbClr val="FFC000"/>
                </a:solidFill>
              </a:rPr>
              <a:t>增加投资</a:t>
            </a:r>
            <a:endParaRPr lang="zh-CN" altLang="en-US" smtClean="0">
              <a:solidFill>
                <a:srgbClr val="FFC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91523">
                                            <p:txEl>
                                              <p:pRg st="0" end="0"/>
                                            </p:txEl>
                                          </p:spTgt>
                                        </p:tgtEl>
                                        <p:attrNameLst>
                                          <p:attrName>style.visibility</p:attrName>
                                        </p:attrNameLst>
                                      </p:cBhvr>
                                      <p:to>
                                        <p:strVal val="visible"/>
                                      </p:to>
                                    </p:set>
                                    <p:animEffect transition="in" filter="box(in)">
                                      <p:cBhvr>
                                        <p:cTn id="7" dur="500"/>
                                        <p:tgtEl>
                                          <p:spTgt spid="4915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91523">
                                            <p:txEl>
                                              <p:pRg st="1" end="1"/>
                                            </p:txEl>
                                          </p:spTgt>
                                        </p:tgtEl>
                                        <p:attrNameLst>
                                          <p:attrName>style.visibility</p:attrName>
                                        </p:attrNameLst>
                                      </p:cBhvr>
                                      <p:to>
                                        <p:strVal val="visible"/>
                                      </p:to>
                                    </p:set>
                                    <p:animEffect transition="in" filter="box(in)">
                                      <p:cBhvr>
                                        <p:cTn id="12" dur="500"/>
                                        <p:tgtEl>
                                          <p:spTgt spid="4915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91523">
                                            <p:txEl>
                                              <p:pRg st="2" end="2"/>
                                            </p:txEl>
                                          </p:spTgt>
                                        </p:tgtEl>
                                        <p:attrNameLst>
                                          <p:attrName>style.visibility</p:attrName>
                                        </p:attrNameLst>
                                      </p:cBhvr>
                                      <p:to>
                                        <p:strVal val="visible"/>
                                      </p:to>
                                    </p:set>
                                    <p:animEffect transition="in" filter="box(in)">
                                      <p:cBhvr>
                                        <p:cTn id="17" dur="500"/>
                                        <p:tgtEl>
                                          <p:spTgt spid="49152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91523">
                                            <p:txEl>
                                              <p:pRg st="3" end="3"/>
                                            </p:txEl>
                                          </p:spTgt>
                                        </p:tgtEl>
                                        <p:attrNameLst>
                                          <p:attrName>style.visibility</p:attrName>
                                        </p:attrNameLst>
                                      </p:cBhvr>
                                      <p:to>
                                        <p:strVal val="visible"/>
                                      </p:to>
                                    </p:set>
                                    <p:animEffect transition="in" filter="box(in)">
                                      <p:cBhvr>
                                        <p:cTn id="22" dur="500"/>
                                        <p:tgtEl>
                                          <p:spTgt spid="4915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2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noFill/>
        </p:spPr>
        <p:txBody>
          <a:bodyPr/>
          <a:lstStyle/>
          <a:p>
            <a:pPr eaLnBrk="1" hangingPunct="1"/>
            <a:r>
              <a:rPr lang="zh-CN" altLang="en-US" sz="3400" b="1" smtClean="0">
                <a:solidFill>
                  <a:schemeClr val="tx1"/>
                </a:solidFill>
              </a:rPr>
              <a:t>征税对投资替代效应</a:t>
            </a:r>
          </a:p>
        </p:txBody>
      </p:sp>
      <p:sp>
        <p:nvSpPr>
          <p:cNvPr id="38915" name="Rectangle 3"/>
          <p:cNvSpPr>
            <a:spLocks noChangeArrowheads="1"/>
          </p:cNvSpPr>
          <p:nvPr/>
        </p:nvSpPr>
        <p:spPr bwMode="auto">
          <a:xfrm>
            <a:off x="0" y="2009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p>
        </p:txBody>
      </p:sp>
      <p:sp>
        <p:nvSpPr>
          <p:cNvPr id="38916" name="Line 4"/>
          <p:cNvSpPr>
            <a:spLocks noChangeShapeType="1"/>
          </p:cNvSpPr>
          <p:nvPr/>
        </p:nvSpPr>
        <p:spPr bwMode="auto">
          <a:xfrm>
            <a:off x="1835150" y="5084763"/>
            <a:ext cx="4926013" cy="15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17" name="Freeform 5"/>
          <p:cNvSpPr>
            <a:spLocks/>
          </p:cNvSpPr>
          <p:nvPr/>
        </p:nvSpPr>
        <p:spPr bwMode="auto">
          <a:xfrm>
            <a:off x="6757988" y="5022850"/>
            <a:ext cx="114300" cy="74613"/>
          </a:xfrm>
          <a:custGeom>
            <a:avLst/>
            <a:gdLst>
              <a:gd name="T0" fmla="*/ 0 w 143"/>
              <a:gd name="T1" fmla="*/ 0 h 95"/>
              <a:gd name="T2" fmla="*/ 2147483646 w 143"/>
              <a:gd name="T3" fmla="*/ 2147483646 h 95"/>
              <a:gd name="T4" fmla="*/ 0 w 143"/>
              <a:gd name="T5" fmla="*/ 2147483646 h 95"/>
              <a:gd name="T6" fmla="*/ 0 w 143"/>
              <a:gd name="T7" fmla="*/ 0 h 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3" h="95">
                <a:moveTo>
                  <a:pt x="0" y="0"/>
                </a:moveTo>
                <a:lnTo>
                  <a:pt x="143" y="48"/>
                </a:lnTo>
                <a:lnTo>
                  <a:pt x="0" y="95"/>
                </a:lnTo>
                <a:lnTo>
                  <a:pt x="0" y="0"/>
                </a:lnTo>
                <a:close/>
              </a:path>
            </a:pathLst>
          </a:custGeom>
          <a:solidFill>
            <a:srgbClr val="000000"/>
          </a:solidFill>
          <a:ln>
            <a:noFill/>
          </a:ln>
          <a:extLst>
            <a:ext uri="{91240B29-F687-4F45-9708-019B960494DF}">
              <a14:hiddenLine xmlns:a14="http://schemas.microsoft.com/office/drawing/2010/main" w="19050">
                <a:solidFill>
                  <a:srgbClr val="000000"/>
                </a:solidFill>
                <a:round/>
                <a:headEnd/>
                <a:tailEnd/>
              </a14:hiddenLine>
            </a:ext>
          </a:extLst>
        </p:spPr>
        <p:txBody>
          <a:bodyPr/>
          <a:lstStyle/>
          <a:p>
            <a:endParaRPr lang="zh-CN" altLang="en-US"/>
          </a:p>
        </p:txBody>
      </p:sp>
      <p:sp>
        <p:nvSpPr>
          <p:cNvPr id="38918" name="Rectangle 6"/>
          <p:cNvSpPr>
            <a:spLocks noChangeArrowheads="1"/>
          </p:cNvSpPr>
          <p:nvPr/>
        </p:nvSpPr>
        <p:spPr bwMode="auto">
          <a:xfrm>
            <a:off x="1811338" y="5126038"/>
            <a:ext cx="10318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宋体" panose="02010600030101010101" pitchFamily="2" charset="-122"/>
              </a:rPr>
              <a:t>0</a:t>
            </a:r>
            <a:endParaRPr lang="en-US" altLang="zh-CN" sz="1600" b="1"/>
          </a:p>
        </p:txBody>
      </p:sp>
      <p:sp>
        <p:nvSpPr>
          <p:cNvPr id="38919" name="Rectangle 7"/>
          <p:cNvSpPr>
            <a:spLocks noChangeArrowheads="1"/>
          </p:cNvSpPr>
          <p:nvPr/>
        </p:nvSpPr>
        <p:spPr bwMode="auto">
          <a:xfrm>
            <a:off x="6754813" y="5207000"/>
            <a:ext cx="69691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latin typeface="宋体" panose="02010600030101010101" pitchFamily="2" charset="-122"/>
              </a:rPr>
              <a:t>消费</a:t>
            </a:r>
            <a:endParaRPr lang="zh-CN" altLang="en-US" sz="1600" b="1"/>
          </a:p>
        </p:txBody>
      </p:sp>
      <p:sp>
        <p:nvSpPr>
          <p:cNvPr id="38920" name="Rectangle 8"/>
          <p:cNvSpPr>
            <a:spLocks noChangeArrowheads="1"/>
          </p:cNvSpPr>
          <p:nvPr/>
        </p:nvSpPr>
        <p:spPr bwMode="auto">
          <a:xfrm>
            <a:off x="1547813" y="1052513"/>
            <a:ext cx="2159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latin typeface="宋体" panose="02010600030101010101" pitchFamily="2" charset="-122"/>
              </a:rPr>
              <a:t>投</a:t>
            </a:r>
            <a:r>
              <a:rPr lang="zh-CN" altLang="en-US" sz="1600" b="1"/>
              <a:t>资</a:t>
            </a:r>
          </a:p>
        </p:txBody>
      </p:sp>
      <p:sp>
        <p:nvSpPr>
          <p:cNvPr id="38921" name="Rectangle 9"/>
          <p:cNvSpPr>
            <a:spLocks noChangeArrowheads="1"/>
          </p:cNvSpPr>
          <p:nvPr/>
        </p:nvSpPr>
        <p:spPr bwMode="auto">
          <a:xfrm>
            <a:off x="6032500" y="5132388"/>
            <a:ext cx="1349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B</a:t>
            </a:r>
            <a:endParaRPr lang="en-US" altLang="zh-CN" sz="1600" b="1"/>
          </a:p>
        </p:txBody>
      </p:sp>
      <p:sp>
        <p:nvSpPr>
          <p:cNvPr id="38922" name="Line 10"/>
          <p:cNvSpPr>
            <a:spLocks noChangeShapeType="1"/>
          </p:cNvSpPr>
          <p:nvPr/>
        </p:nvSpPr>
        <p:spPr bwMode="auto">
          <a:xfrm>
            <a:off x="1835150" y="2060575"/>
            <a:ext cx="4248150" cy="301466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8923" name="Line 11"/>
          <p:cNvSpPr>
            <a:spLocks noChangeShapeType="1"/>
          </p:cNvSpPr>
          <p:nvPr/>
        </p:nvSpPr>
        <p:spPr bwMode="auto">
          <a:xfrm>
            <a:off x="2713038" y="2700338"/>
            <a:ext cx="9525"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24" name="Freeform 12"/>
          <p:cNvSpPr>
            <a:spLocks/>
          </p:cNvSpPr>
          <p:nvPr/>
        </p:nvSpPr>
        <p:spPr bwMode="auto">
          <a:xfrm>
            <a:off x="2266950" y="2133600"/>
            <a:ext cx="2305050" cy="1122363"/>
          </a:xfrm>
          <a:custGeom>
            <a:avLst/>
            <a:gdLst>
              <a:gd name="T0" fmla="*/ 0 w 2574"/>
              <a:gd name="T1" fmla="*/ 0 h 1455"/>
              <a:gd name="T2" fmla="*/ 2147483646 w 2574"/>
              <a:gd name="T3" fmla="*/ 2147483646 h 1455"/>
              <a:gd name="T4" fmla="*/ 2147483646 w 2574"/>
              <a:gd name="T5" fmla="*/ 2147483646 h 1455"/>
              <a:gd name="T6" fmla="*/ 2147483646 w 2574"/>
              <a:gd name="T7" fmla="*/ 2147483646 h 1455"/>
              <a:gd name="T8" fmla="*/ 2147483646 w 2574"/>
              <a:gd name="T9" fmla="*/ 2147483646 h 1455"/>
              <a:gd name="T10" fmla="*/ 2147483646 w 2574"/>
              <a:gd name="T11" fmla="*/ 2147483646 h 1455"/>
              <a:gd name="T12" fmla="*/ 2147483646 w 2574"/>
              <a:gd name="T13" fmla="*/ 2147483646 h 1455"/>
              <a:gd name="T14" fmla="*/ 2147483646 w 2574"/>
              <a:gd name="T15" fmla="*/ 2147483646 h 1455"/>
              <a:gd name="T16" fmla="*/ 2147483646 w 2574"/>
              <a:gd name="T17" fmla="*/ 2147483646 h 1455"/>
              <a:gd name="T18" fmla="*/ 2147483646 w 2574"/>
              <a:gd name="T19" fmla="*/ 2147483646 h 1455"/>
              <a:gd name="T20" fmla="*/ 2147483646 w 2574"/>
              <a:gd name="T21" fmla="*/ 2147483646 h 1455"/>
              <a:gd name="T22" fmla="*/ 2147483646 w 2574"/>
              <a:gd name="T23" fmla="*/ 2147483646 h 1455"/>
              <a:gd name="T24" fmla="*/ 2147483646 w 2574"/>
              <a:gd name="T25" fmla="*/ 2147483646 h 1455"/>
              <a:gd name="T26" fmla="*/ 2147483646 w 2574"/>
              <a:gd name="T27" fmla="*/ 2147483646 h 1455"/>
              <a:gd name="T28" fmla="*/ 2147483646 w 2574"/>
              <a:gd name="T29" fmla="*/ 2147483646 h 1455"/>
              <a:gd name="T30" fmla="*/ 2147483646 w 2574"/>
              <a:gd name="T31" fmla="*/ 2147483646 h 1455"/>
              <a:gd name="T32" fmla="*/ 2147483646 w 2574"/>
              <a:gd name="T33" fmla="*/ 2147483646 h 1455"/>
              <a:gd name="T34" fmla="*/ 2147483646 w 2574"/>
              <a:gd name="T35" fmla="*/ 2147483646 h 1455"/>
              <a:gd name="T36" fmla="*/ 2147483646 w 2574"/>
              <a:gd name="T37" fmla="*/ 2147483646 h 1455"/>
              <a:gd name="T38" fmla="*/ 2147483646 w 2574"/>
              <a:gd name="T39" fmla="*/ 2147483646 h 1455"/>
              <a:gd name="T40" fmla="*/ 2147483646 w 2574"/>
              <a:gd name="T41" fmla="*/ 2147483646 h 1455"/>
              <a:gd name="T42" fmla="*/ 2147483646 w 2574"/>
              <a:gd name="T43" fmla="*/ 2147483646 h 1455"/>
              <a:gd name="T44" fmla="*/ 2147483646 w 2574"/>
              <a:gd name="T45" fmla="*/ 2147483646 h 1455"/>
              <a:gd name="T46" fmla="*/ 2147483646 w 2574"/>
              <a:gd name="T47" fmla="*/ 2147483646 h 1455"/>
              <a:gd name="T48" fmla="*/ 2147483646 w 2574"/>
              <a:gd name="T49" fmla="*/ 2147483646 h 1455"/>
              <a:gd name="T50" fmla="*/ 2147483646 w 2574"/>
              <a:gd name="T51" fmla="*/ 2147483646 h 1455"/>
              <a:gd name="T52" fmla="*/ 2147483646 w 2574"/>
              <a:gd name="T53" fmla="*/ 2147483646 h 1455"/>
              <a:gd name="T54" fmla="*/ 2147483646 w 2574"/>
              <a:gd name="T55" fmla="*/ 2147483646 h 1455"/>
              <a:gd name="T56" fmla="*/ 2147483646 w 2574"/>
              <a:gd name="T57" fmla="*/ 2147483646 h 1455"/>
              <a:gd name="T58" fmla="*/ 2147483646 w 2574"/>
              <a:gd name="T59" fmla="*/ 2147483646 h 1455"/>
              <a:gd name="T60" fmla="*/ 2147483646 w 2574"/>
              <a:gd name="T61" fmla="*/ 2147483646 h 1455"/>
              <a:gd name="T62" fmla="*/ 2147483646 w 2574"/>
              <a:gd name="T63" fmla="*/ 2147483646 h 145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574" h="1455">
                <a:moveTo>
                  <a:pt x="0" y="0"/>
                </a:moveTo>
                <a:lnTo>
                  <a:pt x="23" y="70"/>
                </a:lnTo>
                <a:lnTo>
                  <a:pt x="51" y="142"/>
                </a:lnTo>
                <a:lnTo>
                  <a:pt x="86" y="215"/>
                </a:lnTo>
                <a:lnTo>
                  <a:pt x="127" y="285"/>
                </a:lnTo>
                <a:lnTo>
                  <a:pt x="172" y="357"/>
                </a:lnTo>
                <a:lnTo>
                  <a:pt x="225" y="429"/>
                </a:lnTo>
                <a:lnTo>
                  <a:pt x="283" y="500"/>
                </a:lnTo>
                <a:lnTo>
                  <a:pt x="347" y="570"/>
                </a:lnTo>
                <a:lnTo>
                  <a:pt x="415" y="639"/>
                </a:lnTo>
                <a:lnTo>
                  <a:pt x="489" y="707"/>
                </a:lnTo>
                <a:lnTo>
                  <a:pt x="567" y="773"/>
                </a:lnTo>
                <a:lnTo>
                  <a:pt x="650" y="836"/>
                </a:lnTo>
                <a:lnTo>
                  <a:pt x="736" y="899"/>
                </a:lnTo>
                <a:lnTo>
                  <a:pt x="826" y="959"/>
                </a:lnTo>
                <a:lnTo>
                  <a:pt x="919" y="1015"/>
                </a:lnTo>
                <a:lnTo>
                  <a:pt x="1016" y="1070"/>
                </a:lnTo>
                <a:lnTo>
                  <a:pt x="1114" y="1121"/>
                </a:lnTo>
                <a:lnTo>
                  <a:pt x="1216" y="1170"/>
                </a:lnTo>
                <a:lnTo>
                  <a:pt x="1320" y="1214"/>
                </a:lnTo>
                <a:lnTo>
                  <a:pt x="1424" y="1257"/>
                </a:lnTo>
                <a:lnTo>
                  <a:pt x="1531" y="1294"/>
                </a:lnTo>
                <a:lnTo>
                  <a:pt x="1637" y="1329"/>
                </a:lnTo>
                <a:lnTo>
                  <a:pt x="1744" y="1359"/>
                </a:lnTo>
                <a:lnTo>
                  <a:pt x="1854" y="1385"/>
                </a:lnTo>
                <a:lnTo>
                  <a:pt x="1959" y="1408"/>
                </a:lnTo>
                <a:lnTo>
                  <a:pt x="2067" y="1426"/>
                </a:lnTo>
                <a:lnTo>
                  <a:pt x="2172" y="1440"/>
                </a:lnTo>
                <a:lnTo>
                  <a:pt x="2276" y="1448"/>
                </a:lnTo>
                <a:lnTo>
                  <a:pt x="2378" y="1454"/>
                </a:lnTo>
                <a:lnTo>
                  <a:pt x="2477" y="1455"/>
                </a:lnTo>
                <a:lnTo>
                  <a:pt x="2574" y="1452"/>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8925" name="Rectangle 13"/>
          <p:cNvSpPr>
            <a:spLocks noChangeArrowheads="1"/>
          </p:cNvSpPr>
          <p:nvPr/>
        </p:nvSpPr>
        <p:spPr bwMode="auto">
          <a:xfrm>
            <a:off x="1766888" y="2071688"/>
            <a:ext cx="508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a:latin typeface="Times New Roman" panose="02020603050405020304" pitchFamily="18" charset="0"/>
              </a:rPr>
              <a:t> </a:t>
            </a:r>
            <a:endParaRPr lang="en-US" altLang="zh-CN" sz="1600"/>
          </a:p>
        </p:txBody>
      </p:sp>
      <p:sp>
        <p:nvSpPr>
          <p:cNvPr id="38926" name="Rectangle 14"/>
          <p:cNvSpPr>
            <a:spLocks noChangeArrowheads="1"/>
          </p:cNvSpPr>
          <p:nvPr/>
        </p:nvSpPr>
        <p:spPr bwMode="auto">
          <a:xfrm>
            <a:off x="2784475" y="2527300"/>
            <a:ext cx="2254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P</a:t>
            </a:r>
            <a:r>
              <a:rPr lang="en-US" altLang="zh-CN" sz="1000" b="1">
                <a:latin typeface="Times New Roman" panose="02020603050405020304" pitchFamily="18" charset="0"/>
              </a:rPr>
              <a:t> </a:t>
            </a:r>
            <a:r>
              <a:rPr lang="en-US" altLang="zh-CN" sz="1000" b="1"/>
              <a:t>1</a:t>
            </a:r>
          </a:p>
        </p:txBody>
      </p:sp>
      <p:sp>
        <p:nvSpPr>
          <p:cNvPr id="38927" name="Rectangle 15"/>
          <p:cNvSpPr>
            <a:spLocks noChangeArrowheads="1"/>
          </p:cNvSpPr>
          <p:nvPr/>
        </p:nvSpPr>
        <p:spPr bwMode="auto">
          <a:xfrm>
            <a:off x="2892425" y="2581275"/>
            <a:ext cx="508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a:latin typeface="Times New Roman" panose="02020603050405020304" pitchFamily="18" charset="0"/>
              </a:rPr>
              <a:t> </a:t>
            </a:r>
            <a:endParaRPr lang="en-US" altLang="zh-CN" sz="1600"/>
          </a:p>
        </p:txBody>
      </p:sp>
      <p:sp>
        <p:nvSpPr>
          <p:cNvPr id="38928" name="Rectangle 16"/>
          <p:cNvSpPr>
            <a:spLocks noChangeArrowheads="1"/>
          </p:cNvSpPr>
          <p:nvPr/>
        </p:nvSpPr>
        <p:spPr bwMode="auto">
          <a:xfrm>
            <a:off x="1547813" y="2493963"/>
            <a:ext cx="1809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I</a:t>
            </a:r>
            <a:r>
              <a:rPr lang="en-US" altLang="zh-CN" sz="1000" b="1">
                <a:latin typeface="Times New Roman" panose="02020603050405020304" pitchFamily="18" charset="0"/>
              </a:rPr>
              <a:t> </a:t>
            </a:r>
            <a:r>
              <a:rPr lang="en-US" altLang="zh-CN" sz="1000" b="1"/>
              <a:t>1</a:t>
            </a:r>
          </a:p>
        </p:txBody>
      </p:sp>
      <p:sp>
        <p:nvSpPr>
          <p:cNvPr id="38929" name="Rectangle 17"/>
          <p:cNvSpPr>
            <a:spLocks noChangeArrowheads="1"/>
          </p:cNvSpPr>
          <p:nvPr/>
        </p:nvSpPr>
        <p:spPr bwMode="auto">
          <a:xfrm>
            <a:off x="4643438" y="3213100"/>
            <a:ext cx="2000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I </a:t>
            </a:r>
            <a:r>
              <a:rPr lang="en-US" altLang="zh-CN" sz="1000" b="1"/>
              <a:t>1</a:t>
            </a:r>
          </a:p>
        </p:txBody>
      </p:sp>
      <p:sp>
        <p:nvSpPr>
          <p:cNvPr id="38930" name="Rectangle 18"/>
          <p:cNvSpPr>
            <a:spLocks noChangeArrowheads="1"/>
          </p:cNvSpPr>
          <p:nvPr/>
        </p:nvSpPr>
        <p:spPr bwMode="auto">
          <a:xfrm>
            <a:off x="4435475" y="3195638"/>
            <a:ext cx="508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 </a:t>
            </a:r>
            <a:endParaRPr lang="en-US" altLang="zh-CN" sz="1600" b="1"/>
          </a:p>
        </p:txBody>
      </p:sp>
      <p:sp>
        <p:nvSpPr>
          <p:cNvPr id="471059" name="Rectangle 19"/>
          <p:cNvSpPr>
            <a:spLocks noChangeArrowheads="1"/>
          </p:cNvSpPr>
          <p:nvPr/>
        </p:nvSpPr>
        <p:spPr bwMode="auto">
          <a:xfrm>
            <a:off x="5219700" y="4078288"/>
            <a:ext cx="21431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I </a:t>
            </a:r>
            <a:r>
              <a:rPr lang="en-US" altLang="zh-CN" sz="1200" b="1"/>
              <a:t>2</a:t>
            </a:r>
          </a:p>
        </p:txBody>
      </p:sp>
      <p:sp>
        <p:nvSpPr>
          <p:cNvPr id="38932" name="Rectangle 20"/>
          <p:cNvSpPr>
            <a:spLocks noChangeArrowheads="1"/>
          </p:cNvSpPr>
          <p:nvPr/>
        </p:nvSpPr>
        <p:spPr bwMode="auto">
          <a:xfrm>
            <a:off x="4787900" y="4062413"/>
            <a:ext cx="647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 </a:t>
            </a:r>
            <a:endParaRPr lang="en-US" altLang="zh-CN" sz="1600" b="1"/>
          </a:p>
        </p:txBody>
      </p:sp>
      <p:sp>
        <p:nvSpPr>
          <p:cNvPr id="38933" name="Rectangle 21"/>
          <p:cNvSpPr>
            <a:spLocks noChangeArrowheads="1"/>
          </p:cNvSpPr>
          <p:nvPr/>
        </p:nvSpPr>
        <p:spPr bwMode="auto">
          <a:xfrm>
            <a:off x="2555875" y="5084763"/>
            <a:ext cx="5762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C </a:t>
            </a:r>
            <a:r>
              <a:rPr lang="en-US" altLang="zh-CN" sz="1000" b="1"/>
              <a:t>1</a:t>
            </a:r>
            <a:r>
              <a:rPr lang="en-US" altLang="zh-CN" sz="2600"/>
              <a:t> </a:t>
            </a:r>
            <a:endParaRPr lang="en-US" altLang="zh-CN" sz="2600" b="1"/>
          </a:p>
          <a:p>
            <a:pPr eaLnBrk="1" hangingPunct="1">
              <a:spcBef>
                <a:spcPct val="0"/>
              </a:spcBef>
              <a:buClrTx/>
              <a:buSzTx/>
              <a:buFontTx/>
              <a:buNone/>
            </a:pPr>
            <a:endParaRPr lang="en-US" altLang="zh-CN" sz="1600"/>
          </a:p>
        </p:txBody>
      </p:sp>
      <p:sp>
        <p:nvSpPr>
          <p:cNvPr id="471062" name="Rectangle 22"/>
          <p:cNvSpPr>
            <a:spLocks noChangeArrowheads="1"/>
          </p:cNvSpPr>
          <p:nvPr/>
        </p:nvSpPr>
        <p:spPr bwMode="auto">
          <a:xfrm>
            <a:off x="3122613" y="5229225"/>
            <a:ext cx="2159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C</a:t>
            </a:r>
            <a:r>
              <a:rPr lang="en-US" altLang="zh-CN" sz="1000" b="1"/>
              <a:t>2</a:t>
            </a:r>
          </a:p>
          <a:p>
            <a:pPr eaLnBrk="1" hangingPunct="1">
              <a:spcBef>
                <a:spcPct val="0"/>
              </a:spcBef>
              <a:buClrTx/>
              <a:buSzTx/>
              <a:buFontTx/>
              <a:buNone/>
            </a:pPr>
            <a:endParaRPr lang="en-US" altLang="zh-CN" sz="1600"/>
          </a:p>
        </p:txBody>
      </p:sp>
      <p:sp>
        <p:nvSpPr>
          <p:cNvPr id="471063" name="Rectangle 23"/>
          <p:cNvSpPr>
            <a:spLocks noChangeArrowheads="1"/>
          </p:cNvSpPr>
          <p:nvPr/>
        </p:nvSpPr>
        <p:spPr bwMode="auto">
          <a:xfrm>
            <a:off x="1474788" y="3573463"/>
            <a:ext cx="2000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I </a:t>
            </a:r>
            <a:r>
              <a:rPr lang="en-US" altLang="zh-CN" sz="1000" b="1"/>
              <a:t>2</a:t>
            </a:r>
          </a:p>
        </p:txBody>
      </p:sp>
      <p:sp>
        <p:nvSpPr>
          <p:cNvPr id="38936" name="Rectangle 24"/>
          <p:cNvSpPr>
            <a:spLocks noChangeArrowheads="1"/>
          </p:cNvSpPr>
          <p:nvPr/>
        </p:nvSpPr>
        <p:spPr bwMode="auto">
          <a:xfrm>
            <a:off x="1811338" y="3614738"/>
            <a:ext cx="508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a:latin typeface="Times New Roman" panose="02020603050405020304" pitchFamily="18" charset="0"/>
              </a:rPr>
              <a:t> </a:t>
            </a:r>
            <a:endParaRPr lang="en-US" altLang="zh-CN" sz="1600"/>
          </a:p>
        </p:txBody>
      </p:sp>
      <p:sp>
        <p:nvSpPr>
          <p:cNvPr id="471065" name="Line 25"/>
          <p:cNvSpPr>
            <a:spLocks noChangeShapeType="1"/>
          </p:cNvSpPr>
          <p:nvPr/>
        </p:nvSpPr>
        <p:spPr bwMode="auto">
          <a:xfrm>
            <a:off x="1835150" y="2781300"/>
            <a:ext cx="4176713" cy="2243138"/>
          </a:xfrm>
          <a:prstGeom prst="line">
            <a:avLst/>
          </a:prstGeom>
          <a:noFill/>
          <a:ln w="38100">
            <a:solidFill>
              <a:srgbClr val="FFC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066" name="Rectangle 26"/>
          <p:cNvSpPr>
            <a:spLocks noChangeArrowheads="1"/>
          </p:cNvSpPr>
          <p:nvPr/>
        </p:nvSpPr>
        <p:spPr bwMode="auto">
          <a:xfrm>
            <a:off x="3302000" y="3403600"/>
            <a:ext cx="2444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P </a:t>
            </a:r>
            <a:r>
              <a:rPr lang="en-US" altLang="zh-CN" sz="1000" b="1"/>
              <a:t>2</a:t>
            </a:r>
          </a:p>
        </p:txBody>
      </p:sp>
      <p:sp>
        <p:nvSpPr>
          <p:cNvPr id="38939" name="Rectangle 27"/>
          <p:cNvSpPr>
            <a:spLocks noChangeArrowheads="1"/>
          </p:cNvSpPr>
          <p:nvPr/>
        </p:nvSpPr>
        <p:spPr bwMode="auto">
          <a:xfrm>
            <a:off x="2987675" y="3459163"/>
            <a:ext cx="86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a:latin typeface="Times New Roman" panose="02020603050405020304" pitchFamily="18" charset="0"/>
              </a:rPr>
              <a:t> </a:t>
            </a:r>
            <a:endParaRPr lang="en-US" altLang="zh-CN" sz="1600"/>
          </a:p>
        </p:txBody>
      </p:sp>
      <p:sp>
        <p:nvSpPr>
          <p:cNvPr id="471068" name="Freeform 28"/>
          <p:cNvSpPr>
            <a:spLocks/>
          </p:cNvSpPr>
          <p:nvPr/>
        </p:nvSpPr>
        <p:spPr bwMode="auto">
          <a:xfrm>
            <a:off x="2390775" y="2768600"/>
            <a:ext cx="2543175" cy="1208088"/>
          </a:xfrm>
          <a:custGeom>
            <a:avLst/>
            <a:gdLst>
              <a:gd name="T0" fmla="*/ 0 w 3203"/>
              <a:gd name="T1" fmla="*/ 0 h 1563"/>
              <a:gd name="T2" fmla="*/ 2147483646 w 3203"/>
              <a:gd name="T3" fmla="*/ 2147483646 h 1563"/>
              <a:gd name="T4" fmla="*/ 2147483646 w 3203"/>
              <a:gd name="T5" fmla="*/ 2147483646 h 1563"/>
              <a:gd name="T6" fmla="*/ 2147483646 w 3203"/>
              <a:gd name="T7" fmla="*/ 2147483646 h 1563"/>
              <a:gd name="T8" fmla="*/ 2147483646 w 3203"/>
              <a:gd name="T9" fmla="*/ 2147483646 h 1563"/>
              <a:gd name="T10" fmla="*/ 2147483646 w 3203"/>
              <a:gd name="T11" fmla="*/ 2147483646 h 1563"/>
              <a:gd name="T12" fmla="*/ 2147483646 w 3203"/>
              <a:gd name="T13" fmla="*/ 2147483646 h 1563"/>
              <a:gd name="T14" fmla="*/ 2147483646 w 3203"/>
              <a:gd name="T15" fmla="*/ 2147483646 h 1563"/>
              <a:gd name="T16" fmla="*/ 2147483646 w 3203"/>
              <a:gd name="T17" fmla="*/ 2147483646 h 1563"/>
              <a:gd name="T18" fmla="*/ 2147483646 w 3203"/>
              <a:gd name="T19" fmla="*/ 2147483646 h 1563"/>
              <a:gd name="T20" fmla="*/ 2147483646 w 3203"/>
              <a:gd name="T21" fmla="*/ 2147483646 h 1563"/>
              <a:gd name="T22" fmla="*/ 2147483646 w 3203"/>
              <a:gd name="T23" fmla="*/ 2147483646 h 1563"/>
              <a:gd name="T24" fmla="*/ 2147483646 w 3203"/>
              <a:gd name="T25" fmla="*/ 2147483646 h 1563"/>
              <a:gd name="T26" fmla="*/ 2147483646 w 3203"/>
              <a:gd name="T27" fmla="*/ 2147483646 h 1563"/>
              <a:gd name="T28" fmla="*/ 2147483646 w 3203"/>
              <a:gd name="T29" fmla="*/ 2147483646 h 1563"/>
              <a:gd name="T30" fmla="*/ 2147483646 w 3203"/>
              <a:gd name="T31" fmla="*/ 2147483646 h 1563"/>
              <a:gd name="T32" fmla="*/ 2147483646 w 3203"/>
              <a:gd name="T33" fmla="*/ 2147483646 h 1563"/>
              <a:gd name="T34" fmla="*/ 2147483646 w 3203"/>
              <a:gd name="T35" fmla="*/ 2147483646 h 1563"/>
              <a:gd name="T36" fmla="*/ 2147483646 w 3203"/>
              <a:gd name="T37" fmla="*/ 2147483646 h 1563"/>
              <a:gd name="T38" fmla="*/ 2147483646 w 3203"/>
              <a:gd name="T39" fmla="*/ 2147483646 h 1563"/>
              <a:gd name="T40" fmla="*/ 2147483646 w 3203"/>
              <a:gd name="T41" fmla="*/ 2147483646 h 1563"/>
              <a:gd name="T42" fmla="*/ 2147483646 w 3203"/>
              <a:gd name="T43" fmla="*/ 2147483646 h 1563"/>
              <a:gd name="T44" fmla="*/ 2147483646 w 3203"/>
              <a:gd name="T45" fmla="*/ 2147483646 h 1563"/>
              <a:gd name="T46" fmla="*/ 2147483646 w 3203"/>
              <a:gd name="T47" fmla="*/ 2147483646 h 1563"/>
              <a:gd name="T48" fmla="*/ 2147483646 w 3203"/>
              <a:gd name="T49" fmla="*/ 2147483646 h 1563"/>
              <a:gd name="T50" fmla="*/ 2147483646 w 3203"/>
              <a:gd name="T51" fmla="*/ 2147483646 h 1563"/>
              <a:gd name="T52" fmla="*/ 2147483646 w 3203"/>
              <a:gd name="T53" fmla="*/ 2147483646 h 1563"/>
              <a:gd name="T54" fmla="*/ 2147483646 w 3203"/>
              <a:gd name="T55" fmla="*/ 2147483646 h 1563"/>
              <a:gd name="T56" fmla="*/ 2147483646 w 3203"/>
              <a:gd name="T57" fmla="*/ 2147483646 h 1563"/>
              <a:gd name="T58" fmla="*/ 2147483646 w 3203"/>
              <a:gd name="T59" fmla="*/ 2147483646 h 1563"/>
              <a:gd name="T60" fmla="*/ 2147483646 w 3203"/>
              <a:gd name="T61" fmla="*/ 2147483646 h 1563"/>
              <a:gd name="T62" fmla="*/ 2147483646 w 3203"/>
              <a:gd name="T63" fmla="*/ 2147483646 h 1563"/>
              <a:gd name="T64" fmla="*/ 2147483646 w 3203"/>
              <a:gd name="T65" fmla="*/ 2147483646 h 1563"/>
              <a:gd name="T66" fmla="*/ 2147483646 w 3203"/>
              <a:gd name="T67" fmla="*/ 2147483646 h 1563"/>
              <a:gd name="T68" fmla="*/ 2147483646 w 3203"/>
              <a:gd name="T69" fmla="*/ 2147483646 h 156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203" h="1563">
                <a:moveTo>
                  <a:pt x="0" y="0"/>
                </a:moveTo>
                <a:lnTo>
                  <a:pt x="33" y="67"/>
                </a:lnTo>
                <a:lnTo>
                  <a:pt x="72" y="135"/>
                </a:lnTo>
                <a:lnTo>
                  <a:pt x="118" y="204"/>
                </a:lnTo>
                <a:lnTo>
                  <a:pt x="169" y="272"/>
                </a:lnTo>
                <a:lnTo>
                  <a:pt x="225" y="343"/>
                </a:lnTo>
                <a:lnTo>
                  <a:pt x="288" y="412"/>
                </a:lnTo>
                <a:lnTo>
                  <a:pt x="355" y="480"/>
                </a:lnTo>
                <a:lnTo>
                  <a:pt x="429" y="549"/>
                </a:lnTo>
                <a:lnTo>
                  <a:pt x="507" y="616"/>
                </a:lnTo>
                <a:lnTo>
                  <a:pt x="589" y="683"/>
                </a:lnTo>
                <a:lnTo>
                  <a:pt x="677" y="748"/>
                </a:lnTo>
                <a:lnTo>
                  <a:pt x="769" y="811"/>
                </a:lnTo>
                <a:lnTo>
                  <a:pt x="864" y="874"/>
                </a:lnTo>
                <a:lnTo>
                  <a:pt x="963" y="934"/>
                </a:lnTo>
                <a:lnTo>
                  <a:pt x="1065" y="994"/>
                </a:lnTo>
                <a:lnTo>
                  <a:pt x="1170" y="1050"/>
                </a:lnTo>
                <a:lnTo>
                  <a:pt x="1278" y="1105"/>
                </a:lnTo>
                <a:lnTo>
                  <a:pt x="1389" y="1156"/>
                </a:lnTo>
                <a:lnTo>
                  <a:pt x="1501" y="1205"/>
                </a:lnTo>
                <a:lnTo>
                  <a:pt x="1616" y="1253"/>
                </a:lnTo>
                <a:lnTo>
                  <a:pt x="1732" y="1297"/>
                </a:lnTo>
                <a:lnTo>
                  <a:pt x="1848" y="1337"/>
                </a:lnTo>
                <a:lnTo>
                  <a:pt x="1966" y="1376"/>
                </a:lnTo>
                <a:lnTo>
                  <a:pt x="2084" y="1409"/>
                </a:lnTo>
                <a:lnTo>
                  <a:pt x="2202" y="1441"/>
                </a:lnTo>
                <a:lnTo>
                  <a:pt x="2318" y="1469"/>
                </a:lnTo>
                <a:lnTo>
                  <a:pt x="2436" y="1494"/>
                </a:lnTo>
                <a:lnTo>
                  <a:pt x="2550" y="1513"/>
                </a:lnTo>
                <a:lnTo>
                  <a:pt x="2665" y="1531"/>
                </a:lnTo>
                <a:lnTo>
                  <a:pt x="2777" y="1545"/>
                </a:lnTo>
                <a:lnTo>
                  <a:pt x="2888" y="1554"/>
                </a:lnTo>
                <a:lnTo>
                  <a:pt x="2996" y="1559"/>
                </a:lnTo>
                <a:lnTo>
                  <a:pt x="3101" y="1563"/>
                </a:lnTo>
                <a:lnTo>
                  <a:pt x="3203" y="1561"/>
                </a:lnTo>
              </a:path>
            </a:pathLst>
          </a:custGeom>
          <a:noFill/>
          <a:ln w="38100" cap="flat" cmpd="sng">
            <a:solidFill>
              <a:srgbClr val="FFC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71069" name="Rectangle 29"/>
          <p:cNvSpPr>
            <a:spLocks noChangeArrowheads="1"/>
          </p:cNvSpPr>
          <p:nvPr/>
        </p:nvSpPr>
        <p:spPr bwMode="auto">
          <a:xfrm>
            <a:off x="1547813" y="2709863"/>
            <a:ext cx="1460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D</a:t>
            </a:r>
            <a:endParaRPr lang="en-US" altLang="zh-CN" sz="1600" b="1"/>
          </a:p>
        </p:txBody>
      </p:sp>
      <p:sp>
        <p:nvSpPr>
          <p:cNvPr id="38942" name="Rectangle 30"/>
          <p:cNvSpPr>
            <a:spLocks noChangeArrowheads="1"/>
          </p:cNvSpPr>
          <p:nvPr/>
        </p:nvSpPr>
        <p:spPr bwMode="auto">
          <a:xfrm>
            <a:off x="1825625" y="2790825"/>
            <a:ext cx="508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a:latin typeface="Times New Roman" panose="02020603050405020304" pitchFamily="18" charset="0"/>
              </a:rPr>
              <a:t> </a:t>
            </a:r>
            <a:endParaRPr lang="en-US" altLang="zh-CN" sz="1600"/>
          </a:p>
        </p:txBody>
      </p:sp>
      <p:sp>
        <p:nvSpPr>
          <p:cNvPr id="38943" name="Line 31"/>
          <p:cNvSpPr>
            <a:spLocks noChangeShapeType="1"/>
          </p:cNvSpPr>
          <p:nvPr/>
        </p:nvSpPr>
        <p:spPr bwMode="auto">
          <a:xfrm flipV="1">
            <a:off x="1835150" y="1125538"/>
            <a:ext cx="1588" cy="39592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44" name="Rectangle 32"/>
          <p:cNvSpPr>
            <a:spLocks noChangeArrowheads="1"/>
          </p:cNvSpPr>
          <p:nvPr/>
        </p:nvSpPr>
        <p:spPr bwMode="auto">
          <a:xfrm>
            <a:off x="2987675" y="5734050"/>
            <a:ext cx="25669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t>图</a:t>
            </a:r>
            <a:r>
              <a:rPr lang="en-US" altLang="zh-CN" sz="1600" b="1"/>
              <a:t>9-4 </a:t>
            </a:r>
            <a:r>
              <a:rPr lang="zh-CN" altLang="en-US" sz="1600" b="1"/>
              <a:t>征税使投资替代效应</a:t>
            </a:r>
          </a:p>
        </p:txBody>
      </p:sp>
      <p:sp>
        <p:nvSpPr>
          <p:cNvPr id="38945" name="Rectangle 33"/>
          <p:cNvSpPr>
            <a:spLocks noChangeArrowheads="1"/>
          </p:cNvSpPr>
          <p:nvPr/>
        </p:nvSpPr>
        <p:spPr bwMode="auto">
          <a:xfrm>
            <a:off x="1546225" y="1844675"/>
            <a:ext cx="1460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A</a:t>
            </a:r>
            <a:endParaRPr lang="en-US" altLang="zh-CN" sz="1600" b="1"/>
          </a:p>
        </p:txBody>
      </p:sp>
      <p:sp>
        <p:nvSpPr>
          <p:cNvPr id="38946" name="Line 34"/>
          <p:cNvSpPr>
            <a:spLocks noChangeShapeType="1"/>
          </p:cNvSpPr>
          <p:nvPr/>
        </p:nvSpPr>
        <p:spPr bwMode="auto">
          <a:xfrm>
            <a:off x="2771775" y="2781300"/>
            <a:ext cx="1588" cy="2243138"/>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71075" name="Line 35"/>
          <p:cNvSpPr>
            <a:spLocks noChangeShapeType="1"/>
          </p:cNvSpPr>
          <p:nvPr/>
        </p:nvSpPr>
        <p:spPr bwMode="auto">
          <a:xfrm flipV="1">
            <a:off x="1835150" y="3632200"/>
            <a:ext cx="1511300" cy="12700"/>
          </a:xfrm>
          <a:prstGeom prst="line">
            <a:avLst/>
          </a:prstGeom>
          <a:noFill/>
          <a:ln w="38100">
            <a:solidFill>
              <a:srgbClr val="FFC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8948" name="Line 36"/>
          <p:cNvSpPr>
            <a:spLocks noChangeShapeType="1"/>
          </p:cNvSpPr>
          <p:nvPr/>
        </p:nvSpPr>
        <p:spPr bwMode="auto">
          <a:xfrm flipV="1">
            <a:off x="1835150" y="2781300"/>
            <a:ext cx="1006475"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71077" name="Line 37"/>
          <p:cNvSpPr>
            <a:spLocks noChangeShapeType="1"/>
          </p:cNvSpPr>
          <p:nvPr/>
        </p:nvSpPr>
        <p:spPr bwMode="auto">
          <a:xfrm>
            <a:off x="3346450" y="3644900"/>
            <a:ext cx="1588" cy="1401763"/>
          </a:xfrm>
          <a:prstGeom prst="line">
            <a:avLst/>
          </a:prstGeom>
          <a:noFill/>
          <a:ln w="38100">
            <a:solidFill>
              <a:srgbClr val="FFC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右箭头 1"/>
          <p:cNvSpPr>
            <a:spLocks noChangeArrowheads="1"/>
          </p:cNvSpPr>
          <p:nvPr/>
        </p:nvSpPr>
        <p:spPr bwMode="auto">
          <a:xfrm>
            <a:off x="2784475" y="4306888"/>
            <a:ext cx="517525" cy="417512"/>
          </a:xfrm>
          <a:prstGeom prst="rightArrow">
            <a:avLst>
              <a:gd name="adj1" fmla="val 50000"/>
              <a:gd name="adj2" fmla="val 50087"/>
            </a:avLst>
          </a:prstGeom>
          <a:solidFill>
            <a:srgbClr val="FFC000"/>
          </a:solidFill>
          <a:ln w="9525" algn="ctr">
            <a:solidFill>
              <a:srgbClr val="000000"/>
            </a:solidFill>
            <a:round/>
            <a:headEnd/>
            <a:tailEnd type="triangle" w="med" len="me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p>
        </p:txBody>
      </p:sp>
      <p:sp>
        <p:nvSpPr>
          <p:cNvPr id="3" name="下箭头 2"/>
          <p:cNvSpPr>
            <a:spLocks noChangeArrowheads="1"/>
          </p:cNvSpPr>
          <p:nvPr/>
        </p:nvSpPr>
        <p:spPr bwMode="auto">
          <a:xfrm>
            <a:off x="2051050" y="2790825"/>
            <a:ext cx="339725" cy="841375"/>
          </a:xfrm>
          <a:prstGeom prst="downArrow">
            <a:avLst>
              <a:gd name="adj1" fmla="val 50000"/>
              <a:gd name="adj2" fmla="val 49900"/>
            </a:avLst>
          </a:prstGeom>
          <a:solidFill>
            <a:srgbClr val="FFC000"/>
          </a:solidFill>
          <a:ln w="9525" algn="ctr">
            <a:solidFill>
              <a:srgbClr val="000000"/>
            </a:solidFill>
            <a:round/>
            <a:headEnd/>
            <a:tailEnd type="triangle" w="med" len="me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471065"/>
                                        </p:tgtEl>
                                        <p:attrNameLst>
                                          <p:attrName>style.visibility</p:attrName>
                                        </p:attrNameLst>
                                      </p:cBhvr>
                                      <p:to>
                                        <p:strVal val="visible"/>
                                      </p:to>
                                    </p:set>
                                    <p:animEffect transition="in" filter="strips(downLeft)">
                                      <p:cBhvr>
                                        <p:cTn id="7" dur="500"/>
                                        <p:tgtEl>
                                          <p:spTgt spid="471065"/>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471069"/>
                                        </p:tgtEl>
                                        <p:attrNameLst>
                                          <p:attrName>style.visibility</p:attrName>
                                        </p:attrNameLst>
                                      </p:cBhvr>
                                      <p:to>
                                        <p:strVal val="visible"/>
                                      </p:to>
                                    </p:set>
                                    <p:animEffect transition="in" filter="strips(downLeft)">
                                      <p:cBhvr>
                                        <p:cTn id="10" dur="500"/>
                                        <p:tgtEl>
                                          <p:spTgt spid="47106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7106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71059"/>
                                        </p:tgtEl>
                                        <p:attrNameLst>
                                          <p:attrName>style.visibility</p:attrName>
                                        </p:attrNameLst>
                                      </p:cBhvr>
                                      <p:to>
                                        <p:strVal val="visible"/>
                                      </p:to>
                                    </p:set>
                                  </p:childTnLst>
                                </p:cTn>
                              </p:par>
                            </p:childTnLst>
                          </p:cTn>
                        </p:par>
                        <p:par>
                          <p:cTn id="17" fill="hold" nodeType="afterGroup">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471066"/>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47107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47107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47106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471062"/>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randombar(horizontal)">
                                      <p:cBhvr>
                                        <p:cTn id="32" dur="5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randombar(horizontal)">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59" grpId="0"/>
      <p:bldP spid="471062" grpId="0"/>
      <p:bldP spid="471063" grpId="0"/>
      <p:bldP spid="471066" grpId="0"/>
      <p:bldP spid="471069" grpId="0"/>
      <p:bldP spid="2" grpId="0" animBg="1"/>
      <p:bldP spid="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noFill/>
        </p:spPr>
        <p:txBody>
          <a:bodyPr/>
          <a:lstStyle/>
          <a:p>
            <a:pPr eaLnBrk="1" hangingPunct="1"/>
            <a:r>
              <a:rPr lang="zh-CN" altLang="en-US" sz="3400" b="1" smtClean="0">
                <a:solidFill>
                  <a:schemeClr val="tx1"/>
                </a:solidFill>
              </a:rPr>
              <a:t>税收对投资的收入效应</a:t>
            </a:r>
          </a:p>
        </p:txBody>
      </p:sp>
      <p:sp>
        <p:nvSpPr>
          <p:cNvPr id="39939" name="Rectangle 3"/>
          <p:cNvSpPr>
            <a:spLocks noChangeArrowheads="1"/>
          </p:cNvSpPr>
          <p:nvPr/>
        </p:nvSpPr>
        <p:spPr bwMode="auto">
          <a:xfrm>
            <a:off x="0" y="1800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p>
        </p:txBody>
      </p:sp>
      <p:sp>
        <p:nvSpPr>
          <p:cNvPr id="39940" name="Line 4"/>
          <p:cNvSpPr>
            <a:spLocks noChangeShapeType="1"/>
          </p:cNvSpPr>
          <p:nvPr/>
        </p:nvSpPr>
        <p:spPr bwMode="auto">
          <a:xfrm>
            <a:off x="1798638" y="5499100"/>
            <a:ext cx="5540375" cy="30163"/>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41" name="Line 6"/>
          <p:cNvSpPr>
            <a:spLocks noChangeShapeType="1"/>
          </p:cNvSpPr>
          <p:nvPr/>
        </p:nvSpPr>
        <p:spPr bwMode="auto">
          <a:xfrm>
            <a:off x="1771650" y="1800225"/>
            <a:ext cx="28575" cy="3698875"/>
          </a:xfrm>
          <a:prstGeom prst="line">
            <a:avLst/>
          </a:prstGeom>
          <a:noFill/>
          <a:ln w="412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42" name="Rectangle 8"/>
          <p:cNvSpPr>
            <a:spLocks noChangeArrowheads="1"/>
          </p:cNvSpPr>
          <p:nvPr/>
        </p:nvSpPr>
        <p:spPr bwMode="auto">
          <a:xfrm>
            <a:off x="1476375" y="5589588"/>
            <a:ext cx="2492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宋体" panose="02010600030101010101" pitchFamily="2" charset="-122"/>
              </a:rPr>
              <a:t>0</a:t>
            </a:r>
            <a:endParaRPr lang="en-US" altLang="zh-CN" sz="1600" b="1"/>
          </a:p>
        </p:txBody>
      </p:sp>
      <p:sp>
        <p:nvSpPr>
          <p:cNvPr id="39943" name="Rectangle 9"/>
          <p:cNvSpPr>
            <a:spLocks noChangeArrowheads="1"/>
          </p:cNvSpPr>
          <p:nvPr/>
        </p:nvSpPr>
        <p:spPr bwMode="auto">
          <a:xfrm>
            <a:off x="7210425" y="5657850"/>
            <a:ext cx="7461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latin typeface="宋体" panose="02010600030101010101" pitchFamily="2" charset="-122"/>
              </a:rPr>
              <a:t>消费</a:t>
            </a:r>
            <a:endParaRPr lang="zh-CN" altLang="en-US" sz="1600" b="1"/>
          </a:p>
        </p:txBody>
      </p:sp>
      <p:sp>
        <p:nvSpPr>
          <p:cNvPr id="39944" name="Rectangle 10"/>
          <p:cNvSpPr>
            <a:spLocks noChangeArrowheads="1"/>
          </p:cNvSpPr>
          <p:nvPr/>
        </p:nvSpPr>
        <p:spPr bwMode="auto">
          <a:xfrm flipH="1">
            <a:off x="1258888" y="1628775"/>
            <a:ext cx="3603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latin typeface="宋体" panose="02010600030101010101" pitchFamily="2" charset="-122"/>
              </a:rPr>
              <a:t>投</a:t>
            </a:r>
            <a:r>
              <a:rPr lang="zh-CN" altLang="en-US" sz="1600" b="1"/>
              <a:t>资</a:t>
            </a:r>
          </a:p>
        </p:txBody>
      </p:sp>
      <p:sp>
        <p:nvSpPr>
          <p:cNvPr id="39945" name="Rectangle 11"/>
          <p:cNvSpPr>
            <a:spLocks noChangeArrowheads="1"/>
          </p:cNvSpPr>
          <p:nvPr/>
        </p:nvSpPr>
        <p:spPr bwMode="auto">
          <a:xfrm>
            <a:off x="5203825" y="5576888"/>
            <a:ext cx="1349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B</a:t>
            </a:r>
            <a:endParaRPr lang="en-US" altLang="zh-CN" sz="1600" b="1"/>
          </a:p>
        </p:txBody>
      </p:sp>
      <p:sp>
        <p:nvSpPr>
          <p:cNvPr id="39946" name="Rectangle 12"/>
          <p:cNvSpPr>
            <a:spLocks noChangeArrowheads="1"/>
          </p:cNvSpPr>
          <p:nvPr/>
        </p:nvSpPr>
        <p:spPr bwMode="auto">
          <a:xfrm>
            <a:off x="5291138" y="5637213"/>
            <a:ext cx="22225" cy="10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700">
                <a:latin typeface="Times New Roman" panose="02020603050405020304" pitchFamily="18" charset="0"/>
              </a:rPr>
              <a:t> </a:t>
            </a:r>
            <a:endParaRPr lang="en-US" altLang="zh-CN" sz="2600"/>
          </a:p>
        </p:txBody>
      </p:sp>
      <p:sp>
        <p:nvSpPr>
          <p:cNvPr id="39947" name="Rectangle 13"/>
          <p:cNvSpPr>
            <a:spLocks noChangeArrowheads="1"/>
          </p:cNvSpPr>
          <p:nvPr/>
        </p:nvSpPr>
        <p:spPr bwMode="auto">
          <a:xfrm>
            <a:off x="3817938" y="5576888"/>
            <a:ext cx="1349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E</a:t>
            </a:r>
            <a:endParaRPr lang="en-US" altLang="zh-CN" sz="1600" b="1"/>
          </a:p>
        </p:txBody>
      </p:sp>
      <p:sp>
        <p:nvSpPr>
          <p:cNvPr id="472078" name="Rectangle 14"/>
          <p:cNvSpPr>
            <a:spLocks noChangeArrowheads="1"/>
          </p:cNvSpPr>
          <p:nvPr/>
        </p:nvSpPr>
        <p:spPr bwMode="auto">
          <a:xfrm>
            <a:off x="3898900" y="5637213"/>
            <a:ext cx="508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 </a:t>
            </a:r>
            <a:endParaRPr lang="en-US" altLang="zh-CN" sz="1600" b="1"/>
          </a:p>
        </p:txBody>
      </p:sp>
      <p:sp>
        <p:nvSpPr>
          <p:cNvPr id="472079" name="Line 15"/>
          <p:cNvSpPr>
            <a:spLocks noChangeShapeType="1"/>
          </p:cNvSpPr>
          <p:nvPr/>
        </p:nvSpPr>
        <p:spPr bwMode="auto">
          <a:xfrm>
            <a:off x="1798638" y="2201863"/>
            <a:ext cx="2078037" cy="3297237"/>
          </a:xfrm>
          <a:prstGeom prst="line">
            <a:avLst/>
          </a:prstGeom>
          <a:noFill/>
          <a:ln w="34925">
            <a:solidFill>
              <a:srgbClr val="FFC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50" name="Line 16"/>
          <p:cNvSpPr>
            <a:spLocks noChangeShapeType="1"/>
          </p:cNvSpPr>
          <p:nvPr/>
        </p:nvSpPr>
        <p:spPr bwMode="auto">
          <a:xfrm>
            <a:off x="1816100" y="2219325"/>
            <a:ext cx="3444875" cy="3279775"/>
          </a:xfrm>
          <a:prstGeom prst="line">
            <a:avLst/>
          </a:prstGeom>
          <a:noFill/>
          <a:ln w="349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2081" name="Freeform 17"/>
          <p:cNvSpPr>
            <a:spLocks/>
          </p:cNvSpPr>
          <p:nvPr/>
        </p:nvSpPr>
        <p:spPr bwMode="auto">
          <a:xfrm>
            <a:off x="2043113" y="1855788"/>
            <a:ext cx="1743075" cy="2640012"/>
          </a:xfrm>
          <a:custGeom>
            <a:avLst/>
            <a:gdLst>
              <a:gd name="T0" fmla="*/ 2147483646 w 2197"/>
              <a:gd name="T1" fmla="*/ 0 h 3325"/>
              <a:gd name="T2" fmla="*/ 2147483646 w 2197"/>
              <a:gd name="T3" fmla="*/ 2147483646 h 3325"/>
              <a:gd name="T4" fmla="*/ 0 w 2197"/>
              <a:gd name="T5" fmla="*/ 2147483646 h 3325"/>
              <a:gd name="T6" fmla="*/ 0 w 2197"/>
              <a:gd name="T7" fmla="*/ 2147483646 h 3325"/>
              <a:gd name="T8" fmla="*/ 2147483646 w 2197"/>
              <a:gd name="T9" fmla="*/ 2147483646 h 3325"/>
              <a:gd name="T10" fmla="*/ 2147483646 w 2197"/>
              <a:gd name="T11" fmla="*/ 2147483646 h 3325"/>
              <a:gd name="T12" fmla="*/ 2147483646 w 2197"/>
              <a:gd name="T13" fmla="*/ 2147483646 h 3325"/>
              <a:gd name="T14" fmla="*/ 2147483646 w 2197"/>
              <a:gd name="T15" fmla="*/ 2147483646 h 3325"/>
              <a:gd name="T16" fmla="*/ 2147483646 w 2197"/>
              <a:gd name="T17" fmla="*/ 2147483646 h 3325"/>
              <a:gd name="T18" fmla="*/ 2147483646 w 2197"/>
              <a:gd name="T19" fmla="*/ 2147483646 h 3325"/>
              <a:gd name="T20" fmla="*/ 2147483646 w 2197"/>
              <a:gd name="T21" fmla="*/ 2147483646 h 3325"/>
              <a:gd name="T22" fmla="*/ 2147483646 w 2197"/>
              <a:gd name="T23" fmla="*/ 2147483646 h 3325"/>
              <a:gd name="T24" fmla="*/ 2147483646 w 2197"/>
              <a:gd name="T25" fmla="*/ 2147483646 h 3325"/>
              <a:gd name="T26" fmla="*/ 2147483646 w 2197"/>
              <a:gd name="T27" fmla="*/ 2147483646 h 3325"/>
              <a:gd name="T28" fmla="*/ 2147483646 w 2197"/>
              <a:gd name="T29" fmla="*/ 2147483646 h 3325"/>
              <a:gd name="T30" fmla="*/ 2147483646 w 2197"/>
              <a:gd name="T31" fmla="*/ 2147483646 h 3325"/>
              <a:gd name="T32" fmla="*/ 2147483646 w 2197"/>
              <a:gd name="T33" fmla="*/ 2147483646 h 3325"/>
              <a:gd name="T34" fmla="*/ 2147483646 w 2197"/>
              <a:gd name="T35" fmla="*/ 2147483646 h 3325"/>
              <a:gd name="T36" fmla="*/ 2147483646 w 2197"/>
              <a:gd name="T37" fmla="*/ 2147483646 h 3325"/>
              <a:gd name="T38" fmla="*/ 2147483646 w 2197"/>
              <a:gd name="T39" fmla="*/ 2147483646 h 3325"/>
              <a:gd name="T40" fmla="*/ 2147483646 w 2197"/>
              <a:gd name="T41" fmla="*/ 2147483646 h 3325"/>
              <a:gd name="T42" fmla="*/ 2147483646 w 2197"/>
              <a:gd name="T43" fmla="*/ 2147483646 h 3325"/>
              <a:gd name="T44" fmla="*/ 2147483646 w 2197"/>
              <a:gd name="T45" fmla="*/ 2147483646 h 3325"/>
              <a:gd name="T46" fmla="*/ 2147483646 w 2197"/>
              <a:gd name="T47" fmla="*/ 2147483646 h 3325"/>
              <a:gd name="T48" fmla="*/ 2147483646 w 2197"/>
              <a:gd name="T49" fmla="*/ 2147483646 h 3325"/>
              <a:gd name="T50" fmla="*/ 2147483646 w 2197"/>
              <a:gd name="T51" fmla="*/ 2147483646 h 3325"/>
              <a:gd name="T52" fmla="*/ 2147483646 w 2197"/>
              <a:gd name="T53" fmla="*/ 2147483646 h 3325"/>
              <a:gd name="T54" fmla="*/ 2147483646 w 2197"/>
              <a:gd name="T55" fmla="*/ 2147483646 h 3325"/>
              <a:gd name="T56" fmla="*/ 2147483646 w 2197"/>
              <a:gd name="T57" fmla="*/ 2147483646 h 3325"/>
              <a:gd name="T58" fmla="*/ 2147483646 w 2197"/>
              <a:gd name="T59" fmla="*/ 2147483646 h 3325"/>
              <a:gd name="T60" fmla="*/ 2147483646 w 2197"/>
              <a:gd name="T61" fmla="*/ 2147483646 h 3325"/>
              <a:gd name="T62" fmla="*/ 2147483646 w 2197"/>
              <a:gd name="T63" fmla="*/ 2147483646 h 3325"/>
              <a:gd name="T64" fmla="*/ 2147483646 w 2197"/>
              <a:gd name="T65" fmla="*/ 2147483646 h 3325"/>
              <a:gd name="T66" fmla="*/ 2147483646 w 2197"/>
              <a:gd name="T67" fmla="*/ 2147483646 h 3325"/>
              <a:gd name="T68" fmla="*/ 2147483646 w 2197"/>
              <a:gd name="T69" fmla="*/ 2147483646 h 332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197" h="3325">
                <a:moveTo>
                  <a:pt x="20" y="0"/>
                </a:moveTo>
                <a:lnTo>
                  <a:pt x="6" y="88"/>
                </a:lnTo>
                <a:lnTo>
                  <a:pt x="0" y="179"/>
                </a:lnTo>
                <a:lnTo>
                  <a:pt x="0" y="274"/>
                </a:lnTo>
                <a:lnTo>
                  <a:pt x="4" y="371"/>
                </a:lnTo>
                <a:lnTo>
                  <a:pt x="16" y="473"/>
                </a:lnTo>
                <a:lnTo>
                  <a:pt x="31" y="578"/>
                </a:lnTo>
                <a:lnTo>
                  <a:pt x="55" y="685"/>
                </a:lnTo>
                <a:lnTo>
                  <a:pt x="82" y="793"/>
                </a:lnTo>
                <a:lnTo>
                  <a:pt x="115" y="904"/>
                </a:lnTo>
                <a:lnTo>
                  <a:pt x="154" y="1018"/>
                </a:lnTo>
                <a:lnTo>
                  <a:pt x="198" y="1131"/>
                </a:lnTo>
                <a:lnTo>
                  <a:pt x="247" y="1245"/>
                </a:lnTo>
                <a:lnTo>
                  <a:pt x="301" y="1361"/>
                </a:lnTo>
                <a:lnTo>
                  <a:pt x="359" y="1478"/>
                </a:lnTo>
                <a:lnTo>
                  <a:pt x="423" y="1592"/>
                </a:lnTo>
                <a:lnTo>
                  <a:pt x="491" y="1706"/>
                </a:lnTo>
                <a:lnTo>
                  <a:pt x="565" y="1821"/>
                </a:lnTo>
                <a:lnTo>
                  <a:pt x="640" y="1933"/>
                </a:lnTo>
                <a:lnTo>
                  <a:pt x="720" y="2046"/>
                </a:lnTo>
                <a:lnTo>
                  <a:pt x="803" y="2154"/>
                </a:lnTo>
                <a:lnTo>
                  <a:pt x="890" y="2263"/>
                </a:lnTo>
                <a:lnTo>
                  <a:pt x="981" y="2368"/>
                </a:lnTo>
                <a:lnTo>
                  <a:pt x="1074" y="2468"/>
                </a:lnTo>
                <a:lnTo>
                  <a:pt x="1169" y="2569"/>
                </a:lnTo>
                <a:lnTo>
                  <a:pt x="1266" y="2664"/>
                </a:lnTo>
                <a:lnTo>
                  <a:pt x="1367" y="2755"/>
                </a:lnTo>
                <a:lnTo>
                  <a:pt x="1468" y="2843"/>
                </a:lnTo>
                <a:lnTo>
                  <a:pt x="1571" y="2926"/>
                </a:lnTo>
                <a:lnTo>
                  <a:pt x="1673" y="3005"/>
                </a:lnTo>
                <a:lnTo>
                  <a:pt x="1778" y="3079"/>
                </a:lnTo>
                <a:lnTo>
                  <a:pt x="1883" y="3149"/>
                </a:lnTo>
                <a:lnTo>
                  <a:pt x="1988" y="3213"/>
                </a:lnTo>
                <a:lnTo>
                  <a:pt x="2092" y="3273"/>
                </a:lnTo>
                <a:lnTo>
                  <a:pt x="2197" y="3325"/>
                </a:lnTo>
              </a:path>
            </a:pathLst>
          </a:custGeom>
          <a:noFill/>
          <a:ln w="34925" cap="flat" cmpd="sng">
            <a:solidFill>
              <a:srgbClr val="FFC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52" name="Rectangle 18"/>
          <p:cNvSpPr>
            <a:spLocks noChangeArrowheads="1"/>
          </p:cNvSpPr>
          <p:nvPr/>
        </p:nvSpPr>
        <p:spPr bwMode="auto">
          <a:xfrm>
            <a:off x="2009775" y="2074863"/>
            <a:ext cx="22225" cy="10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700">
                <a:latin typeface="Times New Roman" panose="02020603050405020304" pitchFamily="18" charset="0"/>
              </a:rPr>
              <a:t> </a:t>
            </a:r>
            <a:endParaRPr lang="en-US" altLang="zh-CN" sz="2600"/>
          </a:p>
        </p:txBody>
      </p:sp>
      <p:sp>
        <p:nvSpPr>
          <p:cNvPr id="472083" name="Rectangle 19"/>
          <p:cNvSpPr>
            <a:spLocks noChangeArrowheads="1"/>
          </p:cNvSpPr>
          <p:nvPr/>
        </p:nvSpPr>
        <p:spPr bwMode="auto">
          <a:xfrm>
            <a:off x="2484438" y="3068638"/>
            <a:ext cx="1936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P</a:t>
            </a:r>
            <a:r>
              <a:rPr lang="en-US" altLang="zh-CN" sz="1000" b="1"/>
              <a:t>2</a:t>
            </a:r>
          </a:p>
          <a:p>
            <a:pPr eaLnBrk="1" hangingPunct="1">
              <a:spcBef>
                <a:spcPct val="0"/>
              </a:spcBef>
              <a:buClrTx/>
              <a:buSzTx/>
              <a:buFontTx/>
              <a:buNone/>
            </a:pPr>
            <a:endParaRPr lang="en-US" altLang="zh-CN" sz="2600"/>
          </a:p>
        </p:txBody>
      </p:sp>
      <p:sp>
        <p:nvSpPr>
          <p:cNvPr id="39954" name="Rectangle 20"/>
          <p:cNvSpPr>
            <a:spLocks noChangeArrowheads="1"/>
          </p:cNvSpPr>
          <p:nvPr/>
        </p:nvSpPr>
        <p:spPr bwMode="auto">
          <a:xfrm>
            <a:off x="3708400" y="3716338"/>
            <a:ext cx="2254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P</a:t>
            </a:r>
            <a:r>
              <a:rPr lang="en-US" altLang="zh-CN" sz="1000" b="1">
                <a:latin typeface="Times New Roman" panose="02020603050405020304" pitchFamily="18" charset="0"/>
              </a:rPr>
              <a:t> </a:t>
            </a:r>
            <a:r>
              <a:rPr lang="en-US" altLang="zh-CN" sz="1000" b="1"/>
              <a:t>1</a:t>
            </a:r>
          </a:p>
        </p:txBody>
      </p:sp>
      <p:sp>
        <p:nvSpPr>
          <p:cNvPr id="39955" name="Rectangle 21"/>
          <p:cNvSpPr>
            <a:spLocks noChangeArrowheads="1"/>
          </p:cNvSpPr>
          <p:nvPr/>
        </p:nvSpPr>
        <p:spPr bwMode="auto">
          <a:xfrm>
            <a:off x="3883025" y="3937000"/>
            <a:ext cx="544513" cy="10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700">
                <a:latin typeface="Times New Roman" panose="02020603050405020304" pitchFamily="18" charset="0"/>
              </a:rPr>
              <a:t> </a:t>
            </a:r>
            <a:endParaRPr lang="en-US" altLang="zh-CN" sz="2600"/>
          </a:p>
        </p:txBody>
      </p:sp>
      <p:sp>
        <p:nvSpPr>
          <p:cNvPr id="39956" name="Rectangle 22"/>
          <p:cNvSpPr>
            <a:spLocks noChangeArrowheads="1"/>
          </p:cNvSpPr>
          <p:nvPr/>
        </p:nvSpPr>
        <p:spPr bwMode="auto">
          <a:xfrm>
            <a:off x="4452938" y="4397375"/>
            <a:ext cx="2000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I </a:t>
            </a:r>
            <a:r>
              <a:rPr lang="en-US" altLang="zh-CN" sz="1000" b="1"/>
              <a:t>1</a:t>
            </a:r>
          </a:p>
        </p:txBody>
      </p:sp>
      <p:sp>
        <p:nvSpPr>
          <p:cNvPr id="39957" name="Rectangle 23"/>
          <p:cNvSpPr>
            <a:spLocks noChangeArrowheads="1"/>
          </p:cNvSpPr>
          <p:nvPr/>
        </p:nvSpPr>
        <p:spPr bwMode="auto">
          <a:xfrm>
            <a:off x="4540250" y="4456113"/>
            <a:ext cx="22225" cy="10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700">
                <a:latin typeface="Times New Roman" panose="02020603050405020304" pitchFamily="18" charset="0"/>
              </a:rPr>
              <a:t> </a:t>
            </a:r>
            <a:endParaRPr lang="en-US" altLang="zh-CN" sz="2600"/>
          </a:p>
        </p:txBody>
      </p:sp>
      <p:sp>
        <p:nvSpPr>
          <p:cNvPr id="472088" name="Rectangle 24"/>
          <p:cNvSpPr>
            <a:spLocks noChangeArrowheads="1"/>
          </p:cNvSpPr>
          <p:nvPr/>
        </p:nvSpPr>
        <p:spPr bwMode="auto">
          <a:xfrm>
            <a:off x="3870325" y="4452938"/>
            <a:ext cx="1492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I</a:t>
            </a:r>
            <a:r>
              <a:rPr lang="en-US" altLang="zh-CN" sz="1000" b="1"/>
              <a:t>2</a:t>
            </a:r>
          </a:p>
          <a:p>
            <a:pPr eaLnBrk="1" hangingPunct="1">
              <a:spcBef>
                <a:spcPct val="0"/>
              </a:spcBef>
              <a:buClrTx/>
              <a:buSzTx/>
              <a:buFontTx/>
              <a:buNone/>
            </a:pPr>
            <a:endParaRPr lang="en-US" altLang="zh-CN" sz="2600"/>
          </a:p>
        </p:txBody>
      </p:sp>
      <p:sp>
        <p:nvSpPr>
          <p:cNvPr id="472089" name="Rectangle 25"/>
          <p:cNvSpPr>
            <a:spLocks noChangeArrowheads="1"/>
          </p:cNvSpPr>
          <p:nvPr/>
        </p:nvSpPr>
        <p:spPr bwMode="auto">
          <a:xfrm>
            <a:off x="2370138" y="5551488"/>
            <a:ext cx="2095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C</a:t>
            </a:r>
            <a:r>
              <a:rPr lang="en-US" altLang="zh-CN" sz="1000" b="1">
                <a:latin typeface="Times New Roman" panose="02020603050405020304" pitchFamily="18" charset="0"/>
              </a:rPr>
              <a:t>1</a:t>
            </a:r>
            <a:endParaRPr lang="en-US" altLang="zh-CN" sz="1000" b="1"/>
          </a:p>
        </p:txBody>
      </p:sp>
      <p:sp>
        <p:nvSpPr>
          <p:cNvPr id="39960" name="Rectangle 26"/>
          <p:cNvSpPr>
            <a:spLocks noChangeArrowheads="1"/>
          </p:cNvSpPr>
          <p:nvPr/>
        </p:nvSpPr>
        <p:spPr bwMode="auto">
          <a:xfrm>
            <a:off x="3530600" y="5576888"/>
            <a:ext cx="2095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C</a:t>
            </a:r>
            <a:r>
              <a:rPr lang="en-US" altLang="zh-CN" sz="1000" b="1">
                <a:latin typeface="Times New Roman" panose="02020603050405020304" pitchFamily="18" charset="0"/>
              </a:rPr>
              <a:t>2</a:t>
            </a:r>
            <a:endParaRPr lang="en-US" altLang="zh-CN" sz="1000" b="1"/>
          </a:p>
        </p:txBody>
      </p:sp>
      <p:sp>
        <p:nvSpPr>
          <p:cNvPr id="39961" name="Rectangle 27"/>
          <p:cNvSpPr>
            <a:spLocks noChangeArrowheads="1"/>
          </p:cNvSpPr>
          <p:nvPr/>
        </p:nvSpPr>
        <p:spPr bwMode="auto">
          <a:xfrm>
            <a:off x="3665538" y="5637213"/>
            <a:ext cx="22225" cy="10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700">
                <a:latin typeface="Times New Roman" panose="02020603050405020304" pitchFamily="18" charset="0"/>
              </a:rPr>
              <a:t> </a:t>
            </a:r>
            <a:endParaRPr lang="en-US" altLang="zh-CN" sz="2600"/>
          </a:p>
        </p:txBody>
      </p:sp>
      <p:sp>
        <p:nvSpPr>
          <p:cNvPr id="39962" name="Freeform 28"/>
          <p:cNvSpPr>
            <a:spLocks/>
          </p:cNvSpPr>
          <p:nvPr/>
        </p:nvSpPr>
        <p:spPr bwMode="auto">
          <a:xfrm>
            <a:off x="2894013" y="2663825"/>
            <a:ext cx="1500187" cy="1846263"/>
          </a:xfrm>
          <a:custGeom>
            <a:avLst/>
            <a:gdLst>
              <a:gd name="T0" fmla="*/ 0 w 1890"/>
              <a:gd name="T1" fmla="*/ 0 h 2327"/>
              <a:gd name="T2" fmla="*/ 2147483646 w 1890"/>
              <a:gd name="T3" fmla="*/ 2147483646 h 2327"/>
              <a:gd name="T4" fmla="*/ 2147483646 w 1890"/>
              <a:gd name="T5" fmla="*/ 2147483646 h 2327"/>
              <a:gd name="T6" fmla="*/ 2147483646 w 1890"/>
              <a:gd name="T7" fmla="*/ 2147483646 h 2327"/>
              <a:gd name="T8" fmla="*/ 2147483646 w 1890"/>
              <a:gd name="T9" fmla="*/ 2147483646 h 2327"/>
              <a:gd name="T10" fmla="*/ 2147483646 w 1890"/>
              <a:gd name="T11" fmla="*/ 2147483646 h 2327"/>
              <a:gd name="T12" fmla="*/ 2147483646 w 1890"/>
              <a:gd name="T13" fmla="*/ 2147483646 h 2327"/>
              <a:gd name="T14" fmla="*/ 2147483646 w 1890"/>
              <a:gd name="T15" fmla="*/ 2147483646 h 2327"/>
              <a:gd name="T16" fmla="*/ 2147483646 w 1890"/>
              <a:gd name="T17" fmla="*/ 2147483646 h 2327"/>
              <a:gd name="T18" fmla="*/ 2147483646 w 1890"/>
              <a:gd name="T19" fmla="*/ 2147483646 h 2327"/>
              <a:gd name="T20" fmla="*/ 2147483646 w 1890"/>
              <a:gd name="T21" fmla="*/ 2147483646 h 2327"/>
              <a:gd name="T22" fmla="*/ 2147483646 w 1890"/>
              <a:gd name="T23" fmla="*/ 2147483646 h 2327"/>
              <a:gd name="T24" fmla="*/ 2147483646 w 1890"/>
              <a:gd name="T25" fmla="*/ 2147483646 h 2327"/>
              <a:gd name="T26" fmla="*/ 2147483646 w 1890"/>
              <a:gd name="T27" fmla="*/ 2147483646 h 2327"/>
              <a:gd name="T28" fmla="*/ 2147483646 w 1890"/>
              <a:gd name="T29" fmla="*/ 2147483646 h 2327"/>
              <a:gd name="T30" fmla="*/ 2147483646 w 1890"/>
              <a:gd name="T31" fmla="*/ 2147483646 h 2327"/>
              <a:gd name="T32" fmla="*/ 2147483646 w 1890"/>
              <a:gd name="T33" fmla="*/ 2147483646 h 2327"/>
              <a:gd name="T34" fmla="*/ 2147483646 w 1890"/>
              <a:gd name="T35" fmla="*/ 2147483646 h 2327"/>
              <a:gd name="T36" fmla="*/ 2147483646 w 1890"/>
              <a:gd name="T37" fmla="*/ 2147483646 h 2327"/>
              <a:gd name="T38" fmla="*/ 2147483646 w 1890"/>
              <a:gd name="T39" fmla="*/ 2147483646 h 2327"/>
              <a:gd name="T40" fmla="*/ 2147483646 w 1890"/>
              <a:gd name="T41" fmla="*/ 2147483646 h 2327"/>
              <a:gd name="T42" fmla="*/ 2147483646 w 1890"/>
              <a:gd name="T43" fmla="*/ 2147483646 h 2327"/>
              <a:gd name="T44" fmla="*/ 2147483646 w 1890"/>
              <a:gd name="T45" fmla="*/ 2147483646 h 2327"/>
              <a:gd name="T46" fmla="*/ 2147483646 w 1890"/>
              <a:gd name="T47" fmla="*/ 2147483646 h 2327"/>
              <a:gd name="T48" fmla="*/ 2147483646 w 1890"/>
              <a:gd name="T49" fmla="*/ 2147483646 h 2327"/>
              <a:gd name="T50" fmla="*/ 2147483646 w 1890"/>
              <a:gd name="T51" fmla="*/ 2147483646 h 2327"/>
              <a:gd name="T52" fmla="*/ 2147483646 w 1890"/>
              <a:gd name="T53" fmla="*/ 2147483646 h 2327"/>
              <a:gd name="T54" fmla="*/ 2147483646 w 1890"/>
              <a:gd name="T55" fmla="*/ 2147483646 h 2327"/>
              <a:gd name="T56" fmla="*/ 2147483646 w 1890"/>
              <a:gd name="T57" fmla="*/ 2147483646 h 2327"/>
              <a:gd name="T58" fmla="*/ 2147483646 w 1890"/>
              <a:gd name="T59" fmla="*/ 2147483646 h 2327"/>
              <a:gd name="T60" fmla="*/ 2147483646 w 1890"/>
              <a:gd name="T61" fmla="*/ 2147483646 h 232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890" h="2327">
                <a:moveTo>
                  <a:pt x="0" y="0"/>
                </a:moveTo>
                <a:lnTo>
                  <a:pt x="7" y="68"/>
                </a:lnTo>
                <a:lnTo>
                  <a:pt x="19" y="140"/>
                </a:lnTo>
                <a:lnTo>
                  <a:pt x="36" y="213"/>
                </a:lnTo>
                <a:lnTo>
                  <a:pt x="60" y="293"/>
                </a:lnTo>
                <a:lnTo>
                  <a:pt x="89" y="372"/>
                </a:lnTo>
                <a:lnTo>
                  <a:pt x="122" y="456"/>
                </a:lnTo>
                <a:lnTo>
                  <a:pt x="160" y="541"/>
                </a:lnTo>
                <a:lnTo>
                  <a:pt x="203" y="628"/>
                </a:lnTo>
                <a:lnTo>
                  <a:pt x="252" y="718"/>
                </a:lnTo>
                <a:lnTo>
                  <a:pt x="304" y="809"/>
                </a:lnTo>
                <a:lnTo>
                  <a:pt x="360" y="898"/>
                </a:lnTo>
                <a:lnTo>
                  <a:pt x="422" y="989"/>
                </a:lnTo>
                <a:lnTo>
                  <a:pt x="486" y="1082"/>
                </a:lnTo>
                <a:lnTo>
                  <a:pt x="554" y="1171"/>
                </a:lnTo>
                <a:lnTo>
                  <a:pt x="626" y="1262"/>
                </a:lnTo>
                <a:lnTo>
                  <a:pt x="701" y="1351"/>
                </a:lnTo>
                <a:lnTo>
                  <a:pt x="777" y="1441"/>
                </a:lnTo>
                <a:lnTo>
                  <a:pt x="858" y="1528"/>
                </a:lnTo>
                <a:lnTo>
                  <a:pt x="940" y="1611"/>
                </a:lnTo>
                <a:lnTo>
                  <a:pt x="1023" y="1695"/>
                </a:lnTo>
                <a:lnTo>
                  <a:pt x="1108" y="1774"/>
                </a:lnTo>
                <a:lnTo>
                  <a:pt x="1196" y="1850"/>
                </a:lnTo>
                <a:lnTo>
                  <a:pt x="1283" y="1923"/>
                </a:lnTo>
                <a:lnTo>
                  <a:pt x="1370" y="1993"/>
                </a:lnTo>
                <a:lnTo>
                  <a:pt x="1459" y="2061"/>
                </a:lnTo>
                <a:lnTo>
                  <a:pt x="1547" y="2123"/>
                </a:lnTo>
                <a:lnTo>
                  <a:pt x="1634" y="2181"/>
                </a:lnTo>
                <a:lnTo>
                  <a:pt x="1721" y="2234"/>
                </a:lnTo>
                <a:lnTo>
                  <a:pt x="1806" y="2282"/>
                </a:lnTo>
                <a:lnTo>
                  <a:pt x="1890" y="2327"/>
                </a:lnTo>
              </a:path>
            </a:pathLst>
          </a:custGeom>
          <a:noFill/>
          <a:ln w="3492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72093" name="Rectangle 29"/>
          <p:cNvSpPr>
            <a:spLocks noChangeArrowheads="1"/>
          </p:cNvSpPr>
          <p:nvPr/>
        </p:nvSpPr>
        <p:spPr bwMode="auto">
          <a:xfrm>
            <a:off x="1403350" y="3141663"/>
            <a:ext cx="28733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I</a:t>
            </a:r>
            <a:r>
              <a:rPr lang="en-US" altLang="zh-CN" sz="1000" b="1"/>
              <a:t>2</a:t>
            </a:r>
          </a:p>
          <a:p>
            <a:pPr eaLnBrk="1" hangingPunct="1">
              <a:spcBef>
                <a:spcPct val="0"/>
              </a:spcBef>
              <a:buClrTx/>
              <a:buSzTx/>
              <a:buFontTx/>
              <a:buNone/>
            </a:pPr>
            <a:endParaRPr lang="en-US" altLang="zh-CN" sz="2600"/>
          </a:p>
        </p:txBody>
      </p:sp>
      <p:sp>
        <p:nvSpPr>
          <p:cNvPr id="39964" name="Rectangle 30"/>
          <p:cNvSpPr>
            <a:spLocks noChangeArrowheads="1"/>
          </p:cNvSpPr>
          <p:nvPr/>
        </p:nvSpPr>
        <p:spPr bwMode="auto">
          <a:xfrm>
            <a:off x="1765300" y="3213100"/>
            <a:ext cx="22225" cy="10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700">
                <a:latin typeface="Times New Roman" panose="02020603050405020304" pitchFamily="18" charset="0"/>
              </a:rPr>
              <a:t> </a:t>
            </a:r>
            <a:endParaRPr lang="en-US" altLang="zh-CN" sz="2600"/>
          </a:p>
        </p:txBody>
      </p:sp>
      <p:sp>
        <p:nvSpPr>
          <p:cNvPr id="39965" name="Rectangle 31"/>
          <p:cNvSpPr>
            <a:spLocks noChangeArrowheads="1"/>
          </p:cNvSpPr>
          <p:nvPr/>
        </p:nvSpPr>
        <p:spPr bwMode="auto">
          <a:xfrm>
            <a:off x="1403350" y="3860800"/>
            <a:ext cx="1809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1">
                <a:latin typeface="Times New Roman" panose="02020603050405020304" pitchFamily="18" charset="0"/>
              </a:rPr>
              <a:t>I</a:t>
            </a:r>
            <a:r>
              <a:rPr lang="en-US" altLang="zh-CN" sz="1000" b="1">
                <a:latin typeface="Times New Roman" panose="02020603050405020304" pitchFamily="18" charset="0"/>
              </a:rPr>
              <a:t> </a:t>
            </a:r>
            <a:r>
              <a:rPr lang="en-US" altLang="zh-CN" sz="1000" b="1"/>
              <a:t>1</a:t>
            </a:r>
          </a:p>
        </p:txBody>
      </p:sp>
      <p:sp>
        <p:nvSpPr>
          <p:cNvPr id="39966" name="Rectangle 32"/>
          <p:cNvSpPr>
            <a:spLocks noChangeArrowheads="1"/>
          </p:cNvSpPr>
          <p:nvPr/>
        </p:nvSpPr>
        <p:spPr bwMode="auto">
          <a:xfrm>
            <a:off x="1771650" y="3921125"/>
            <a:ext cx="22225" cy="10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700">
                <a:latin typeface="Times New Roman" panose="02020603050405020304" pitchFamily="18" charset="0"/>
              </a:rPr>
              <a:t> </a:t>
            </a:r>
            <a:endParaRPr lang="en-US" altLang="zh-CN" sz="2600"/>
          </a:p>
        </p:txBody>
      </p:sp>
      <p:sp>
        <p:nvSpPr>
          <p:cNvPr id="472097" name="Line 33"/>
          <p:cNvSpPr>
            <a:spLocks noChangeShapeType="1"/>
          </p:cNvSpPr>
          <p:nvPr/>
        </p:nvSpPr>
        <p:spPr bwMode="auto">
          <a:xfrm flipV="1">
            <a:off x="1835150" y="3284538"/>
            <a:ext cx="649288" cy="0"/>
          </a:xfrm>
          <a:prstGeom prst="line">
            <a:avLst/>
          </a:prstGeom>
          <a:noFill/>
          <a:ln w="38100">
            <a:solidFill>
              <a:srgbClr val="FFC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72098" name="Line 34"/>
          <p:cNvSpPr>
            <a:spLocks noChangeShapeType="1"/>
          </p:cNvSpPr>
          <p:nvPr/>
        </p:nvSpPr>
        <p:spPr bwMode="auto">
          <a:xfrm>
            <a:off x="2484438" y="3284538"/>
            <a:ext cx="0" cy="2232025"/>
          </a:xfrm>
          <a:prstGeom prst="line">
            <a:avLst/>
          </a:prstGeom>
          <a:noFill/>
          <a:ln w="38100">
            <a:solidFill>
              <a:srgbClr val="FFC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69" name="Line 35"/>
          <p:cNvSpPr>
            <a:spLocks noChangeShapeType="1"/>
          </p:cNvSpPr>
          <p:nvPr/>
        </p:nvSpPr>
        <p:spPr bwMode="auto">
          <a:xfrm flipH="1">
            <a:off x="1835150" y="3933825"/>
            <a:ext cx="1728788"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70" name="Line 36"/>
          <p:cNvSpPr>
            <a:spLocks noChangeShapeType="1"/>
          </p:cNvSpPr>
          <p:nvPr/>
        </p:nvSpPr>
        <p:spPr bwMode="auto">
          <a:xfrm>
            <a:off x="3563938" y="3860800"/>
            <a:ext cx="0" cy="1655763"/>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71" name="Text Box 37"/>
          <p:cNvSpPr txBox="1">
            <a:spLocks noChangeArrowheads="1"/>
          </p:cNvSpPr>
          <p:nvPr/>
        </p:nvSpPr>
        <p:spPr bwMode="auto">
          <a:xfrm>
            <a:off x="1403350" y="2060575"/>
            <a:ext cx="2873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1600" b="1"/>
              <a:t>A</a:t>
            </a:r>
          </a:p>
        </p:txBody>
      </p:sp>
      <p:sp>
        <p:nvSpPr>
          <p:cNvPr id="39972" name="Rectangle 38"/>
          <p:cNvSpPr>
            <a:spLocks noChangeArrowheads="1"/>
          </p:cNvSpPr>
          <p:nvPr/>
        </p:nvSpPr>
        <p:spPr bwMode="auto">
          <a:xfrm>
            <a:off x="2700338" y="5805488"/>
            <a:ext cx="308927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600" b="1"/>
              <a:t>  </a:t>
            </a:r>
            <a:r>
              <a:rPr lang="zh-CN" altLang="en-US" sz="1600" b="1"/>
              <a:t>图</a:t>
            </a:r>
            <a:r>
              <a:rPr lang="en-US" altLang="zh-CN" sz="1600" b="1"/>
              <a:t>9</a:t>
            </a:r>
            <a:r>
              <a:rPr lang="zh-CN" altLang="en-US" sz="1600" b="1"/>
              <a:t>－</a:t>
            </a:r>
            <a:r>
              <a:rPr lang="en-US" altLang="zh-CN" sz="1600" b="1"/>
              <a:t>5 </a:t>
            </a:r>
            <a:r>
              <a:rPr lang="zh-CN" altLang="en-US" sz="1600" b="1"/>
              <a:t>税收对投资的收入效应</a:t>
            </a:r>
          </a:p>
        </p:txBody>
      </p:sp>
      <p:sp>
        <p:nvSpPr>
          <p:cNvPr id="2" name="上箭头 1"/>
          <p:cNvSpPr>
            <a:spLocks noChangeArrowheads="1"/>
          </p:cNvSpPr>
          <p:nvPr/>
        </p:nvSpPr>
        <p:spPr bwMode="auto">
          <a:xfrm>
            <a:off x="2009775" y="3284538"/>
            <a:ext cx="360363" cy="636587"/>
          </a:xfrm>
          <a:prstGeom prst="upArrow">
            <a:avLst>
              <a:gd name="adj1" fmla="val 50000"/>
              <a:gd name="adj2" fmla="val 50002"/>
            </a:avLst>
          </a:prstGeom>
          <a:solidFill>
            <a:srgbClr val="FFC000"/>
          </a:solidFill>
          <a:ln w="9525" algn="ctr">
            <a:solidFill>
              <a:srgbClr val="000000"/>
            </a:solidFill>
            <a:round/>
            <a:headEnd/>
            <a:tailEnd type="triangle" w="med" len="me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472079"/>
                                        </p:tgtEl>
                                        <p:attrNameLst>
                                          <p:attrName>style.visibility</p:attrName>
                                        </p:attrNameLst>
                                      </p:cBhvr>
                                      <p:to>
                                        <p:strVal val="visible"/>
                                      </p:to>
                                    </p:set>
                                    <p:animEffect transition="in" filter="strips(downLeft)">
                                      <p:cBhvr>
                                        <p:cTn id="7" dur="1000"/>
                                        <p:tgtEl>
                                          <p:spTgt spid="472079"/>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472078"/>
                                        </p:tgtEl>
                                        <p:attrNameLst>
                                          <p:attrName>style.visibility</p:attrName>
                                        </p:attrNameLst>
                                      </p:cBhvr>
                                      <p:to>
                                        <p:strVal val="visible"/>
                                      </p:to>
                                    </p:set>
                                    <p:animEffect transition="in" filter="strips(downLeft)">
                                      <p:cBhvr>
                                        <p:cTn id="10" dur="1000"/>
                                        <p:tgtEl>
                                          <p:spTgt spid="47207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7208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7208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209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20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7209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208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7208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4" presetClass="entr" presetSubtype="1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randombar(horizontal)">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78" grpId="0"/>
      <p:bldP spid="472083" grpId="0"/>
      <p:bldP spid="472088" grpId="0"/>
      <p:bldP spid="472089" grpId="0"/>
      <p:bldP spid="472093" grpId="0"/>
      <p:bldP spid="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zh-CN" altLang="en-US" sz="3600" b="1" smtClean="0"/>
              <a:t>（三）税收对吸引国外直接投资的影响</a:t>
            </a:r>
          </a:p>
        </p:txBody>
      </p:sp>
      <p:sp>
        <p:nvSpPr>
          <p:cNvPr id="492547" name="Rectangle 3"/>
          <p:cNvSpPr>
            <a:spLocks noGrp="1" noChangeArrowheads="1"/>
          </p:cNvSpPr>
          <p:nvPr>
            <p:ph idx="1"/>
          </p:nvPr>
        </p:nvSpPr>
        <p:spPr>
          <a:xfrm>
            <a:off x="609600" y="1412875"/>
            <a:ext cx="7924800" cy="4606925"/>
          </a:xfrm>
        </p:spPr>
        <p:txBody>
          <a:bodyPr/>
          <a:lstStyle/>
          <a:p>
            <a:pPr eaLnBrk="1" hangingPunct="1"/>
            <a:r>
              <a:rPr lang="zh-CN" altLang="en-US" b="1" smtClean="0"/>
              <a:t>加速折旧；</a:t>
            </a:r>
          </a:p>
          <a:p>
            <a:pPr eaLnBrk="1" hangingPunct="1"/>
            <a:r>
              <a:rPr lang="zh-CN" altLang="en-US" b="1" smtClean="0"/>
              <a:t>未分配利润减税或再投资退税；</a:t>
            </a:r>
          </a:p>
          <a:p>
            <a:pPr eaLnBrk="1" hangingPunct="1"/>
            <a:r>
              <a:rPr lang="zh-CN" altLang="en-US" b="1" smtClean="0"/>
              <a:t>减低税率或定期免税。</a:t>
            </a:r>
          </a:p>
          <a:p>
            <a:pPr eaLnBrk="1" hangingPunct="1"/>
            <a:r>
              <a:rPr lang="zh-CN" altLang="en-US" b="1" smtClean="0"/>
              <a:t>居住国和投资国之间的国际税收关系：</a:t>
            </a:r>
            <a:endParaRPr lang="en-US" altLang="zh-CN" b="1" smtClean="0"/>
          </a:p>
          <a:p>
            <a:pPr lvl="1" eaLnBrk="1" hangingPunct="1"/>
            <a:r>
              <a:rPr lang="zh-CN" altLang="en-US" b="1" smtClean="0"/>
              <a:t>免税法：对来自于投资国的利润免税；</a:t>
            </a:r>
            <a:endParaRPr lang="en-US" altLang="zh-CN" b="1" smtClean="0"/>
          </a:p>
          <a:p>
            <a:pPr lvl="1" eaLnBrk="1" hangingPunct="1"/>
            <a:r>
              <a:rPr lang="zh-CN" altLang="en-US" b="1" smtClean="0"/>
              <a:t>扣除法：应税所得中扣除在投资国已缴纳税收；</a:t>
            </a:r>
            <a:endParaRPr lang="en-US" altLang="zh-CN" b="1" smtClean="0"/>
          </a:p>
          <a:p>
            <a:pPr lvl="1" eaLnBrk="1" hangingPunct="1"/>
            <a:r>
              <a:rPr lang="zh-CN" altLang="en-US" b="1" smtClean="0"/>
              <a:t>抵免法：从税额中扣除已缴纳税额。</a:t>
            </a:r>
          </a:p>
          <a:p>
            <a:pPr eaLnBrk="1" hangingPunct="1"/>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92547">
                                            <p:txEl>
                                              <p:pRg st="0" end="0"/>
                                            </p:txEl>
                                          </p:spTgt>
                                        </p:tgtEl>
                                        <p:attrNameLst>
                                          <p:attrName>style.visibility</p:attrName>
                                        </p:attrNameLst>
                                      </p:cBhvr>
                                      <p:to>
                                        <p:strVal val="visible"/>
                                      </p:to>
                                    </p:set>
                                    <p:animEffect transition="in" filter="box(in)">
                                      <p:cBhvr>
                                        <p:cTn id="7" dur="500"/>
                                        <p:tgtEl>
                                          <p:spTgt spid="4925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92547">
                                            <p:txEl>
                                              <p:pRg st="1" end="1"/>
                                            </p:txEl>
                                          </p:spTgt>
                                        </p:tgtEl>
                                        <p:attrNameLst>
                                          <p:attrName>style.visibility</p:attrName>
                                        </p:attrNameLst>
                                      </p:cBhvr>
                                      <p:to>
                                        <p:strVal val="visible"/>
                                      </p:to>
                                    </p:set>
                                    <p:animEffect transition="in" filter="box(in)">
                                      <p:cBhvr>
                                        <p:cTn id="12" dur="500"/>
                                        <p:tgtEl>
                                          <p:spTgt spid="4925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92547">
                                            <p:txEl>
                                              <p:pRg st="2" end="2"/>
                                            </p:txEl>
                                          </p:spTgt>
                                        </p:tgtEl>
                                        <p:attrNameLst>
                                          <p:attrName>style.visibility</p:attrName>
                                        </p:attrNameLst>
                                      </p:cBhvr>
                                      <p:to>
                                        <p:strVal val="visible"/>
                                      </p:to>
                                    </p:set>
                                    <p:animEffect transition="in" filter="box(in)">
                                      <p:cBhvr>
                                        <p:cTn id="17" dur="500"/>
                                        <p:tgtEl>
                                          <p:spTgt spid="49254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92547">
                                            <p:txEl>
                                              <p:pRg st="3" end="3"/>
                                            </p:txEl>
                                          </p:spTgt>
                                        </p:tgtEl>
                                        <p:attrNameLst>
                                          <p:attrName>style.visibility</p:attrName>
                                        </p:attrNameLst>
                                      </p:cBhvr>
                                      <p:to>
                                        <p:strVal val="visible"/>
                                      </p:to>
                                    </p:set>
                                    <p:animEffect transition="in" filter="box(in)">
                                      <p:cBhvr>
                                        <p:cTn id="22" dur="500"/>
                                        <p:tgtEl>
                                          <p:spTgt spid="492547">
                                            <p:txEl>
                                              <p:pRg st="3" end="3"/>
                                            </p:txEl>
                                          </p:spTgt>
                                        </p:tgtEl>
                                      </p:cBhvr>
                                    </p:animEffect>
                                  </p:childTnLst>
                                </p:cTn>
                              </p:par>
                              <p:par>
                                <p:cTn id="23" presetID="4" presetClass="entr" presetSubtype="16" fill="hold" grpId="0" nodeType="withEffect">
                                  <p:stCondLst>
                                    <p:cond delay="0"/>
                                  </p:stCondLst>
                                  <p:childTnLst>
                                    <p:set>
                                      <p:cBhvr>
                                        <p:cTn id="24" dur="1" fill="hold">
                                          <p:stCondLst>
                                            <p:cond delay="0"/>
                                          </p:stCondLst>
                                        </p:cTn>
                                        <p:tgtEl>
                                          <p:spTgt spid="492547">
                                            <p:txEl>
                                              <p:pRg st="4" end="4"/>
                                            </p:txEl>
                                          </p:spTgt>
                                        </p:tgtEl>
                                        <p:attrNameLst>
                                          <p:attrName>style.visibility</p:attrName>
                                        </p:attrNameLst>
                                      </p:cBhvr>
                                      <p:to>
                                        <p:strVal val="visible"/>
                                      </p:to>
                                    </p:set>
                                    <p:animEffect transition="in" filter="box(in)">
                                      <p:cBhvr>
                                        <p:cTn id="25" dur="500"/>
                                        <p:tgtEl>
                                          <p:spTgt spid="492547">
                                            <p:txEl>
                                              <p:pRg st="4" end="4"/>
                                            </p:txEl>
                                          </p:spTgt>
                                        </p:tgtEl>
                                      </p:cBhvr>
                                    </p:animEffect>
                                  </p:childTnLst>
                                </p:cTn>
                              </p:par>
                              <p:par>
                                <p:cTn id="26" presetID="4" presetClass="entr" presetSubtype="16" fill="hold" grpId="0" nodeType="withEffect">
                                  <p:stCondLst>
                                    <p:cond delay="0"/>
                                  </p:stCondLst>
                                  <p:childTnLst>
                                    <p:set>
                                      <p:cBhvr>
                                        <p:cTn id="27" dur="1" fill="hold">
                                          <p:stCondLst>
                                            <p:cond delay="0"/>
                                          </p:stCondLst>
                                        </p:cTn>
                                        <p:tgtEl>
                                          <p:spTgt spid="492547">
                                            <p:txEl>
                                              <p:pRg st="5" end="5"/>
                                            </p:txEl>
                                          </p:spTgt>
                                        </p:tgtEl>
                                        <p:attrNameLst>
                                          <p:attrName>style.visibility</p:attrName>
                                        </p:attrNameLst>
                                      </p:cBhvr>
                                      <p:to>
                                        <p:strVal val="visible"/>
                                      </p:to>
                                    </p:set>
                                    <p:animEffect transition="in" filter="box(in)">
                                      <p:cBhvr>
                                        <p:cTn id="28" dur="500"/>
                                        <p:tgtEl>
                                          <p:spTgt spid="492547">
                                            <p:txEl>
                                              <p:pRg st="5" end="5"/>
                                            </p:txEl>
                                          </p:spTgt>
                                        </p:tgtEl>
                                      </p:cBhvr>
                                    </p:animEffect>
                                  </p:childTnLst>
                                </p:cTn>
                              </p:par>
                              <p:par>
                                <p:cTn id="29" presetID="4" presetClass="entr" presetSubtype="16" fill="hold" grpId="0" nodeType="withEffect">
                                  <p:stCondLst>
                                    <p:cond delay="0"/>
                                  </p:stCondLst>
                                  <p:childTnLst>
                                    <p:set>
                                      <p:cBhvr>
                                        <p:cTn id="30" dur="1" fill="hold">
                                          <p:stCondLst>
                                            <p:cond delay="0"/>
                                          </p:stCondLst>
                                        </p:cTn>
                                        <p:tgtEl>
                                          <p:spTgt spid="492547">
                                            <p:txEl>
                                              <p:pRg st="6" end="6"/>
                                            </p:txEl>
                                          </p:spTgt>
                                        </p:tgtEl>
                                        <p:attrNameLst>
                                          <p:attrName>style.visibility</p:attrName>
                                        </p:attrNameLst>
                                      </p:cBhvr>
                                      <p:to>
                                        <p:strVal val="visible"/>
                                      </p:to>
                                    </p:set>
                                    <p:animEffect transition="in" filter="box(in)">
                                      <p:cBhvr>
                                        <p:cTn id="31" dur="500"/>
                                        <p:tgtEl>
                                          <p:spTgt spid="49254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2547"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noFill/>
        </p:spPr>
        <p:txBody>
          <a:bodyPr/>
          <a:lstStyle/>
          <a:p>
            <a:pPr eaLnBrk="1" hangingPunct="1"/>
            <a:r>
              <a:rPr lang="zh-CN" altLang="en-US" sz="3800" b="1" smtClean="0"/>
              <a:t>四、税收对个人收入分配的影响</a:t>
            </a:r>
          </a:p>
        </p:txBody>
      </p:sp>
      <p:sp>
        <p:nvSpPr>
          <p:cNvPr id="473091" name="Rectangle 3"/>
          <p:cNvSpPr>
            <a:spLocks noGrp="1" noChangeArrowheads="1"/>
          </p:cNvSpPr>
          <p:nvPr>
            <p:ph idx="1"/>
          </p:nvPr>
        </p:nvSpPr>
        <p:spPr>
          <a:xfrm>
            <a:off x="468313" y="1412875"/>
            <a:ext cx="7924800" cy="4419600"/>
          </a:xfrm>
        </p:spPr>
        <p:txBody>
          <a:bodyPr/>
          <a:lstStyle/>
          <a:p>
            <a:pPr eaLnBrk="1" hangingPunct="1"/>
            <a:r>
              <a:rPr lang="en-US" altLang="zh-CN" b="1" smtClean="0"/>
              <a:t>1</a:t>
            </a:r>
            <a:r>
              <a:rPr lang="zh-CN" altLang="en-US" b="1" smtClean="0"/>
              <a:t>、个人所得税是调节收入分配的最有力工具</a:t>
            </a:r>
          </a:p>
          <a:p>
            <a:pPr eaLnBrk="1" hangingPunct="1"/>
            <a:r>
              <a:rPr lang="en-US" altLang="zh-CN" b="1" smtClean="0"/>
              <a:t>2</a:t>
            </a:r>
            <a:r>
              <a:rPr lang="zh-CN" altLang="en-US" b="1" smtClean="0"/>
              <a:t>、税收支出也是影响收入分配的重要工具</a:t>
            </a:r>
          </a:p>
          <a:p>
            <a:pPr eaLnBrk="1" hangingPunct="1"/>
            <a:r>
              <a:rPr lang="en-US" altLang="zh-CN" b="1" smtClean="0"/>
              <a:t>3</a:t>
            </a:r>
            <a:r>
              <a:rPr lang="zh-CN" altLang="en-US" b="1" smtClean="0"/>
              <a:t>、社会保险税是实现收入再分配的良好手段</a:t>
            </a:r>
          </a:p>
          <a:p>
            <a:pPr eaLnBrk="1" hangingPunct="1"/>
            <a:r>
              <a:rPr lang="en-US" altLang="zh-CN" b="1" smtClean="0"/>
              <a:t>4</a:t>
            </a:r>
            <a:r>
              <a:rPr lang="zh-CN" altLang="en-US" b="1" smtClean="0"/>
              <a:t>、所得税指数化是减轻通货膨胀的收入分配扭曲效应的一种方法</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73091">
                                            <p:txEl>
                                              <p:pRg st="0" end="0"/>
                                            </p:txEl>
                                          </p:spTgt>
                                        </p:tgtEl>
                                        <p:attrNameLst>
                                          <p:attrName>style.visibility</p:attrName>
                                        </p:attrNameLst>
                                      </p:cBhvr>
                                      <p:to>
                                        <p:strVal val="visible"/>
                                      </p:to>
                                    </p:set>
                                    <p:animEffect transition="in" filter="box(in)">
                                      <p:cBhvr>
                                        <p:cTn id="7" dur="500"/>
                                        <p:tgtEl>
                                          <p:spTgt spid="4730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73091">
                                            <p:txEl>
                                              <p:pRg st="1" end="1"/>
                                            </p:txEl>
                                          </p:spTgt>
                                        </p:tgtEl>
                                        <p:attrNameLst>
                                          <p:attrName>style.visibility</p:attrName>
                                        </p:attrNameLst>
                                      </p:cBhvr>
                                      <p:to>
                                        <p:strVal val="visible"/>
                                      </p:to>
                                    </p:set>
                                    <p:animEffect transition="in" filter="box(in)">
                                      <p:cBhvr>
                                        <p:cTn id="12" dur="500"/>
                                        <p:tgtEl>
                                          <p:spTgt spid="4730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73091">
                                            <p:txEl>
                                              <p:pRg st="2" end="2"/>
                                            </p:txEl>
                                          </p:spTgt>
                                        </p:tgtEl>
                                        <p:attrNameLst>
                                          <p:attrName>style.visibility</p:attrName>
                                        </p:attrNameLst>
                                      </p:cBhvr>
                                      <p:to>
                                        <p:strVal val="visible"/>
                                      </p:to>
                                    </p:set>
                                    <p:animEffect transition="in" filter="box(in)">
                                      <p:cBhvr>
                                        <p:cTn id="17" dur="500"/>
                                        <p:tgtEl>
                                          <p:spTgt spid="4730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73091">
                                            <p:txEl>
                                              <p:pRg st="3" end="3"/>
                                            </p:txEl>
                                          </p:spTgt>
                                        </p:tgtEl>
                                        <p:attrNameLst>
                                          <p:attrName>style.visibility</p:attrName>
                                        </p:attrNameLst>
                                      </p:cBhvr>
                                      <p:to>
                                        <p:strVal val="visible"/>
                                      </p:to>
                                    </p:set>
                                    <p:animEffect transition="in" filter="box(in)">
                                      <p:cBhvr>
                                        <p:cTn id="22" dur="500"/>
                                        <p:tgtEl>
                                          <p:spTgt spid="4730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3091"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r>
              <a:rPr lang="en-US" altLang="zh-CN" sz="2800" b="1" smtClean="0"/>
              <a:t>1</a:t>
            </a:r>
            <a:r>
              <a:rPr lang="zh-CN" altLang="en-US" sz="2800" b="1" smtClean="0"/>
              <a:t>、个人所得税是调节收入分配的最有力工具</a:t>
            </a:r>
            <a:endParaRPr lang="zh-CN" altLang="en-US" smtClean="0"/>
          </a:p>
        </p:txBody>
      </p:sp>
      <p:sp>
        <p:nvSpPr>
          <p:cNvPr id="3" name="内容占位符 2"/>
          <p:cNvSpPr>
            <a:spLocks noGrp="1"/>
          </p:cNvSpPr>
          <p:nvPr>
            <p:ph idx="1"/>
          </p:nvPr>
        </p:nvSpPr>
        <p:spPr/>
        <p:txBody>
          <a:bodyPr/>
          <a:lstStyle/>
          <a:p>
            <a:r>
              <a:rPr lang="zh-CN" altLang="en-US" b="1" smtClean="0"/>
              <a:t>直接对纳税人的所得综合或分类征税，即使是比例税率，也体现了支付能力原则；</a:t>
            </a:r>
            <a:endParaRPr lang="en-US" altLang="zh-CN" b="1" smtClean="0"/>
          </a:p>
          <a:p>
            <a:r>
              <a:rPr lang="zh-CN" altLang="en-US" b="1" smtClean="0"/>
              <a:t>一般实行累进税率制度，具有较强的再分配作用。</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r>
              <a:rPr lang="en-US" altLang="zh-CN" sz="3200" b="1" smtClean="0"/>
              <a:t>2</a:t>
            </a:r>
            <a:r>
              <a:rPr lang="zh-CN" altLang="en-US" sz="3200" b="1" smtClean="0"/>
              <a:t>、税收支出也是影响收入分配的重要工具</a:t>
            </a:r>
            <a:endParaRPr lang="zh-CN" altLang="en-US" sz="3200" smtClean="0"/>
          </a:p>
        </p:txBody>
      </p:sp>
      <p:sp>
        <p:nvSpPr>
          <p:cNvPr id="3" name="内容占位符 2"/>
          <p:cNvSpPr>
            <a:spLocks noGrp="1"/>
          </p:cNvSpPr>
          <p:nvPr>
            <p:ph idx="1"/>
          </p:nvPr>
        </p:nvSpPr>
        <p:spPr/>
        <p:txBody>
          <a:bodyPr/>
          <a:lstStyle/>
          <a:p>
            <a:r>
              <a:rPr lang="zh-CN" altLang="en-US" b="1" smtClean="0"/>
              <a:t>政府通过对许多项目作出不予课税、税额减免、所得扣除等特殊规定增加低收入阶层的实际收入。</a:t>
            </a:r>
            <a:endParaRPr lang="en-US" altLang="zh-CN" b="1" smtClean="0"/>
          </a:p>
          <a:p>
            <a:r>
              <a:rPr lang="zh-CN" altLang="en-US" b="1" smtClean="0"/>
              <a:t>途径：</a:t>
            </a:r>
            <a:endParaRPr lang="en-US" altLang="zh-CN" b="1" smtClean="0"/>
          </a:p>
          <a:p>
            <a:pPr lvl="1"/>
            <a:r>
              <a:rPr lang="zh-CN" altLang="en-US" b="1" smtClean="0"/>
              <a:t>直接对低收入阶层的许多纳税项目给予优惠。如</a:t>
            </a:r>
            <a:r>
              <a:rPr lang="zh-CN" altLang="en-US" b="1" smtClean="0">
                <a:solidFill>
                  <a:srgbClr val="FFC000"/>
                </a:solidFill>
              </a:rPr>
              <a:t>医疗费用扣除、儿童抚养费扣除、劳动所得抵免等；</a:t>
            </a:r>
            <a:endParaRPr lang="en-US" altLang="zh-CN" b="1" smtClean="0">
              <a:solidFill>
                <a:srgbClr val="FFC000"/>
              </a:solidFill>
            </a:endParaRPr>
          </a:p>
          <a:p>
            <a:pPr lvl="1"/>
            <a:r>
              <a:rPr lang="zh-CN" altLang="en-US" b="1" smtClean="0"/>
              <a:t>对间接增加低收入阶层收入或减少低收入阶层支出的行为给予免税或优惠照顾。</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5" dur="500"/>
                                        <p:tgtEl>
                                          <p:spTgt spid="3">
                                            <p:txEl>
                                              <p:pRg st="2" end="2"/>
                                            </p:txEl>
                                          </p:spTgt>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xfrm>
            <a:off x="195263" y="228600"/>
            <a:ext cx="8193087" cy="914400"/>
          </a:xfrm>
        </p:spPr>
        <p:txBody>
          <a:bodyPr/>
          <a:lstStyle/>
          <a:p>
            <a:r>
              <a:rPr lang="en-US" altLang="zh-CN" sz="3200" b="1" smtClean="0"/>
              <a:t>3</a:t>
            </a:r>
            <a:r>
              <a:rPr lang="zh-CN" altLang="en-US" sz="3200" b="1" smtClean="0"/>
              <a:t>、社会保险税是实现收入再分配的良好手段</a:t>
            </a:r>
            <a:endParaRPr lang="zh-CN" altLang="en-US" sz="3200" smtClean="0"/>
          </a:p>
        </p:txBody>
      </p:sp>
      <p:sp>
        <p:nvSpPr>
          <p:cNvPr id="45059" name="内容占位符 2"/>
          <p:cNvSpPr>
            <a:spLocks noGrp="1"/>
          </p:cNvSpPr>
          <p:nvPr>
            <p:ph idx="1"/>
          </p:nvPr>
        </p:nvSpPr>
        <p:spPr/>
        <p:txBody>
          <a:bodyPr/>
          <a:lstStyle/>
          <a:p>
            <a:r>
              <a:rPr lang="zh-CN" altLang="en-US" b="1" smtClean="0"/>
              <a:t>以工薪所得为征税对象，为全体居民提供社会保障基金的同时，发挥了再分配的作用。</a:t>
            </a: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pPr algn="ctr"/>
            <a:r>
              <a:rPr lang="en-US" altLang="zh-CN" sz="2800" b="1" smtClean="0"/>
              <a:t>4</a:t>
            </a:r>
            <a:r>
              <a:rPr lang="zh-CN" altLang="en-US" sz="2800" b="1" smtClean="0"/>
              <a:t>、所得税指数化是减轻通货膨胀的收入分配扭曲效应的一种方法</a:t>
            </a:r>
            <a:endParaRPr lang="zh-CN" altLang="en-US" sz="2800" smtClean="0"/>
          </a:p>
        </p:txBody>
      </p:sp>
      <p:sp>
        <p:nvSpPr>
          <p:cNvPr id="3" name="内容占位符 2"/>
          <p:cNvSpPr>
            <a:spLocks noGrp="1"/>
          </p:cNvSpPr>
          <p:nvPr>
            <p:ph idx="1"/>
          </p:nvPr>
        </p:nvSpPr>
        <p:spPr>
          <a:xfrm>
            <a:off x="395288" y="1341438"/>
            <a:ext cx="8280400" cy="4678362"/>
          </a:xfrm>
        </p:spPr>
        <p:txBody>
          <a:bodyPr/>
          <a:lstStyle/>
          <a:p>
            <a:r>
              <a:rPr lang="zh-CN" altLang="en-US" b="1" smtClean="0"/>
              <a:t>指数化：按照每年价格指数，调整应税所得的适用税率和纳税扣除额，以便剔除通货膨胀所造成的的名义所得上涨的影响。</a:t>
            </a:r>
            <a:endParaRPr lang="en-US" altLang="zh-CN" b="1" smtClean="0"/>
          </a:p>
          <a:p>
            <a:r>
              <a:rPr lang="zh-CN" altLang="en-US" b="1" smtClean="0"/>
              <a:t>特别扣除法：扣除名义所得</a:t>
            </a:r>
            <a:endParaRPr lang="en-US" altLang="zh-CN" b="1" smtClean="0"/>
          </a:p>
          <a:p>
            <a:r>
              <a:rPr lang="zh-CN" altLang="en-US" b="1" smtClean="0"/>
              <a:t>税率调整：降低边际税率</a:t>
            </a:r>
            <a:endParaRPr lang="en-US" altLang="zh-CN" b="1" smtClean="0"/>
          </a:p>
          <a:p>
            <a:r>
              <a:rPr lang="zh-CN" altLang="en-US" b="1" smtClean="0"/>
              <a:t>指数调整法：调整免税额、扣除额、级距等</a:t>
            </a:r>
            <a:endParaRPr lang="en-US" altLang="zh-CN" b="1" smtClean="0"/>
          </a:p>
          <a:p>
            <a:r>
              <a:rPr lang="zh-CN" altLang="en-US" b="1" smtClean="0"/>
              <a:t>实际所得调整法：应税所得还原为基年所得。</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noFill/>
        </p:spPr>
        <p:txBody>
          <a:bodyPr/>
          <a:lstStyle/>
          <a:p>
            <a:pPr eaLnBrk="1" hangingPunct="1"/>
            <a:r>
              <a:rPr lang="zh-CN" altLang="en-US" b="1" smtClean="0"/>
              <a:t>第三节 税收与经济发展</a:t>
            </a:r>
          </a:p>
        </p:txBody>
      </p:sp>
      <p:sp>
        <p:nvSpPr>
          <p:cNvPr id="47107" name="Rectangle 3"/>
          <p:cNvSpPr>
            <a:spLocks noGrp="1" noChangeArrowheads="1"/>
          </p:cNvSpPr>
          <p:nvPr>
            <p:ph idx="1"/>
          </p:nvPr>
        </p:nvSpPr>
        <p:spPr>
          <a:xfrm>
            <a:off x="539750" y="1395413"/>
            <a:ext cx="7924800" cy="4779962"/>
          </a:xfrm>
        </p:spPr>
        <p:txBody>
          <a:bodyPr/>
          <a:lstStyle/>
          <a:p>
            <a:pPr eaLnBrk="1" hangingPunct="1"/>
            <a:r>
              <a:rPr lang="zh-CN" altLang="en-US" b="1" smtClean="0"/>
              <a:t>一、税收与经济发展关系的理论观点</a:t>
            </a:r>
          </a:p>
          <a:p>
            <a:pPr eaLnBrk="1" hangingPunct="1"/>
            <a:r>
              <a:rPr lang="zh-CN" altLang="en-US" b="1" smtClean="0"/>
              <a:t>二、供给学派的税收观点</a:t>
            </a:r>
          </a:p>
          <a:p>
            <a:pPr eaLnBrk="1" hangingPunct="1"/>
            <a:r>
              <a:rPr lang="zh-CN" altLang="en-US" b="1" smtClean="0"/>
              <a:t>三、减税政策评析</a:t>
            </a:r>
          </a:p>
          <a:p>
            <a:pPr eaLnBrk="1" hangingPunct="1"/>
            <a:endParaRPr lang="en-US" altLang="zh-CN" b="1" smtClean="0"/>
          </a:p>
        </p:txBody>
      </p:sp>
      <p:pic>
        <p:nvPicPr>
          <p:cNvPr id="474116" name="Picture 4" descr="laff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0063" y="2816225"/>
            <a:ext cx="2524125" cy="334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9" name="Text Box 5"/>
          <p:cNvSpPr txBox="1">
            <a:spLocks noChangeArrowheads="1"/>
          </p:cNvSpPr>
          <p:nvPr/>
        </p:nvSpPr>
        <p:spPr bwMode="auto">
          <a:xfrm>
            <a:off x="971550" y="4868863"/>
            <a:ext cx="388778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800" b="1"/>
              <a:t>供给学派代表人物：</a:t>
            </a:r>
            <a:r>
              <a:rPr lang="en-US" altLang="zh-CN" sz="2800" b="1"/>
              <a:t>Arthur B Laffer</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9" presetClass="entr" presetSubtype="10" fill="hold" nodeType="clickEffect">
                                  <p:stCondLst>
                                    <p:cond delay="0"/>
                                  </p:stCondLst>
                                  <p:childTnLst>
                                    <p:set>
                                      <p:cBhvr>
                                        <p:cTn id="6" dur="1" fill="hold">
                                          <p:stCondLst>
                                            <p:cond delay="0"/>
                                          </p:stCondLst>
                                        </p:cTn>
                                        <p:tgtEl>
                                          <p:spTgt spid="474116"/>
                                        </p:tgtEl>
                                        <p:attrNameLst>
                                          <p:attrName>style.visibility</p:attrName>
                                        </p:attrNameLst>
                                      </p:cBhvr>
                                      <p:to>
                                        <p:strVal val="visible"/>
                                      </p:to>
                                    </p:set>
                                    <p:anim calcmode="lin" valueType="num">
                                      <p:cBhvr>
                                        <p:cTn id="7" dur="5000" fill="hold"/>
                                        <p:tgtEl>
                                          <p:spTgt spid="474116"/>
                                        </p:tgtEl>
                                        <p:attrNameLst>
                                          <p:attrName>ppt_w</p:attrName>
                                        </p:attrNameLst>
                                      </p:cBhvr>
                                      <p:tavLst>
                                        <p:tav tm="0" fmla="#ppt_w*sin(2.5*pi*$)">
                                          <p:val>
                                            <p:fltVal val="0"/>
                                          </p:val>
                                        </p:tav>
                                        <p:tav tm="100000">
                                          <p:val>
                                            <p:fltVal val="1"/>
                                          </p:val>
                                        </p:tav>
                                      </p:tavLst>
                                    </p:anim>
                                    <p:anim calcmode="lin" valueType="num">
                                      <p:cBhvr>
                                        <p:cTn id="8" dur="5000" fill="hold"/>
                                        <p:tgtEl>
                                          <p:spTgt spid="47411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noFill/>
        </p:spPr>
        <p:txBody>
          <a:bodyPr/>
          <a:lstStyle/>
          <a:p>
            <a:pPr eaLnBrk="1" hangingPunct="1"/>
            <a:r>
              <a:rPr lang="zh-CN" altLang="en-US" sz="3800" b="1" smtClean="0"/>
              <a:t>一、税收与经济发展关系的理论观点</a:t>
            </a:r>
          </a:p>
        </p:txBody>
      </p:sp>
      <p:sp>
        <p:nvSpPr>
          <p:cNvPr id="475139" name="Rectangle 3"/>
          <p:cNvSpPr>
            <a:spLocks noGrp="1" noChangeArrowheads="1"/>
          </p:cNvSpPr>
          <p:nvPr>
            <p:ph idx="1"/>
          </p:nvPr>
        </p:nvSpPr>
        <p:spPr>
          <a:xfrm>
            <a:off x="250825" y="1308100"/>
            <a:ext cx="8569325" cy="5073650"/>
          </a:xfrm>
        </p:spPr>
        <p:txBody>
          <a:bodyPr/>
          <a:lstStyle/>
          <a:p>
            <a:pPr marL="762000" indent="-762000" eaLnBrk="1" hangingPunct="1"/>
            <a:r>
              <a:rPr lang="en-US" altLang="zh-CN" sz="2800" b="1" smtClean="0"/>
              <a:t>1.  </a:t>
            </a:r>
            <a:r>
              <a:rPr lang="zh-CN" altLang="en-US" sz="2800" b="1" smtClean="0"/>
              <a:t>古典经济学的观点</a:t>
            </a:r>
          </a:p>
          <a:p>
            <a:pPr marL="1004888" lvl="1" indent="-660400" eaLnBrk="1" hangingPunct="1"/>
            <a:r>
              <a:rPr lang="zh-CN" altLang="en-US" b="1" smtClean="0"/>
              <a:t>亚当</a:t>
            </a:r>
            <a:r>
              <a:rPr lang="en-US" altLang="zh-CN" b="1" smtClean="0"/>
              <a:t>·</a:t>
            </a:r>
            <a:r>
              <a:rPr lang="zh-CN" altLang="en-US" b="1" smtClean="0"/>
              <a:t>斯密，</a:t>
            </a:r>
            <a:r>
              <a:rPr lang="zh-CN" altLang="en-US" b="1" smtClean="0">
                <a:solidFill>
                  <a:srgbClr val="FFC000"/>
                </a:solidFill>
              </a:rPr>
              <a:t>税不重征</a:t>
            </a:r>
            <a:r>
              <a:rPr lang="zh-CN" altLang="en-US" b="1" smtClean="0"/>
              <a:t>，税收是财政收入的手段</a:t>
            </a:r>
          </a:p>
          <a:p>
            <a:pPr marL="762000" indent="-762000" eaLnBrk="1" hangingPunct="1"/>
            <a:r>
              <a:rPr lang="en-US" altLang="zh-CN" sz="2800" b="1" smtClean="0"/>
              <a:t>2.  </a:t>
            </a:r>
            <a:r>
              <a:rPr lang="zh-CN" altLang="en-US" sz="2800" b="1" smtClean="0"/>
              <a:t>社会政策学派的观点</a:t>
            </a:r>
          </a:p>
          <a:p>
            <a:pPr marL="1004888" lvl="1" indent="-660400" eaLnBrk="1" hangingPunct="1"/>
            <a:r>
              <a:rPr lang="zh-CN" altLang="en-US" sz="2400" b="1" smtClean="0"/>
              <a:t>阿道夫</a:t>
            </a:r>
            <a:r>
              <a:rPr lang="en-US" altLang="zh-CN" sz="2400" b="1" smtClean="0"/>
              <a:t>·</a:t>
            </a:r>
            <a:r>
              <a:rPr lang="zh-CN" altLang="en-US" sz="2400" b="1" smtClean="0"/>
              <a:t>瓦格纳，税收是财政的需要，也是经济调节的手段。瓦格纳指出“从社会政策的意义说，所谓赋税，就是以满足财政上的必要的同时，或不问财政上有无必要，以规定国民收入的分配及国民财产的分配，</a:t>
            </a:r>
            <a:r>
              <a:rPr lang="zh-CN" altLang="en-US" sz="2400" b="1" smtClean="0">
                <a:solidFill>
                  <a:srgbClr val="FFC000"/>
                </a:solidFill>
              </a:rPr>
              <a:t>借以矫正个人所得与个人财产的消费为目的所征收</a:t>
            </a:r>
            <a:r>
              <a:rPr lang="zh-CN" altLang="en-US" sz="2400" b="1" smtClean="0"/>
              <a:t>的赋课物</a:t>
            </a:r>
            <a:r>
              <a:rPr lang="zh-CN" altLang="en-US" sz="2400" b="1" smtClean="0">
                <a:solidFill>
                  <a:srgbClr val="FFC000"/>
                </a:solidFill>
              </a:rPr>
              <a:t>。”</a:t>
            </a:r>
          </a:p>
          <a:p>
            <a:pPr marL="762000" indent="-762000" eaLnBrk="1" hangingPunct="1"/>
            <a:r>
              <a:rPr lang="en-US" altLang="zh-CN" sz="2800" b="1" smtClean="0"/>
              <a:t>3.  </a:t>
            </a:r>
            <a:r>
              <a:rPr lang="zh-CN" altLang="en-US" sz="2800" b="1" smtClean="0"/>
              <a:t>凯恩斯学派的观点</a:t>
            </a:r>
          </a:p>
          <a:p>
            <a:pPr marL="1004888" lvl="1" indent="-660400" eaLnBrk="1" hangingPunct="1"/>
            <a:r>
              <a:rPr lang="zh-CN" altLang="en-US" b="1" smtClean="0"/>
              <a:t>有效需求，主张政府干预，实施需求管理政策</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75139">
                                            <p:txEl>
                                              <p:pRg st="0" end="0"/>
                                            </p:txEl>
                                          </p:spTgt>
                                        </p:tgtEl>
                                        <p:attrNameLst>
                                          <p:attrName>style.visibility</p:attrName>
                                        </p:attrNameLst>
                                      </p:cBhvr>
                                      <p:to>
                                        <p:strVal val="visible"/>
                                      </p:to>
                                    </p:set>
                                    <p:animEffect transition="in" filter="box(in)">
                                      <p:cBhvr>
                                        <p:cTn id="7" dur="500"/>
                                        <p:tgtEl>
                                          <p:spTgt spid="475139">
                                            <p:txEl>
                                              <p:pRg st="0" end="0"/>
                                            </p:txEl>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475139">
                                            <p:txEl>
                                              <p:pRg st="1" end="1"/>
                                            </p:txEl>
                                          </p:spTgt>
                                        </p:tgtEl>
                                        <p:attrNameLst>
                                          <p:attrName>style.visibility</p:attrName>
                                        </p:attrNameLst>
                                      </p:cBhvr>
                                      <p:to>
                                        <p:strVal val="visible"/>
                                      </p:to>
                                    </p:set>
                                    <p:animEffect transition="in" filter="box(in)">
                                      <p:cBhvr>
                                        <p:cTn id="10" dur="500"/>
                                        <p:tgtEl>
                                          <p:spTgt spid="475139">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475139">
                                            <p:txEl>
                                              <p:pRg st="2" end="2"/>
                                            </p:txEl>
                                          </p:spTgt>
                                        </p:tgtEl>
                                        <p:attrNameLst>
                                          <p:attrName>style.visibility</p:attrName>
                                        </p:attrNameLst>
                                      </p:cBhvr>
                                      <p:to>
                                        <p:strVal val="visible"/>
                                      </p:to>
                                    </p:set>
                                    <p:animEffect transition="in" filter="box(in)">
                                      <p:cBhvr>
                                        <p:cTn id="15" dur="500"/>
                                        <p:tgtEl>
                                          <p:spTgt spid="475139">
                                            <p:txEl>
                                              <p:pRg st="2" end="2"/>
                                            </p:txEl>
                                          </p:spTgt>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475139">
                                            <p:txEl>
                                              <p:pRg st="3" end="3"/>
                                            </p:txEl>
                                          </p:spTgt>
                                        </p:tgtEl>
                                        <p:attrNameLst>
                                          <p:attrName>style.visibility</p:attrName>
                                        </p:attrNameLst>
                                      </p:cBhvr>
                                      <p:to>
                                        <p:strVal val="visible"/>
                                      </p:to>
                                    </p:set>
                                    <p:animEffect transition="in" filter="box(in)">
                                      <p:cBhvr>
                                        <p:cTn id="18" dur="500"/>
                                        <p:tgtEl>
                                          <p:spTgt spid="475139">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475139">
                                            <p:txEl>
                                              <p:pRg st="4" end="4"/>
                                            </p:txEl>
                                          </p:spTgt>
                                        </p:tgtEl>
                                        <p:attrNameLst>
                                          <p:attrName>style.visibility</p:attrName>
                                        </p:attrNameLst>
                                      </p:cBhvr>
                                      <p:to>
                                        <p:strVal val="visible"/>
                                      </p:to>
                                    </p:set>
                                    <p:animEffect transition="in" filter="box(in)">
                                      <p:cBhvr>
                                        <p:cTn id="23" dur="500"/>
                                        <p:tgtEl>
                                          <p:spTgt spid="475139">
                                            <p:txEl>
                                              <p:pRg st="4" end="4"/>
                                            </p:txEl>
                                          </p:spTgt>
                                        </p:tgtEl>
                                      </p:cBhvr>
                                    </p:animEffect>
                                  </p:childTnLst>
                                </p:cTn>
                              </p:par>
                              <p:par>
                                <p:cTn id="24" presetID="4" presetClass="entr" presetSubtype="16" fill="hold" grpId="0" nodeType="withEffect">
                                  <p:stCondLst>
                                    <p:cond delay="0"/>
                                  </p:stCondLst>
                                  <p:childTnLst>
                                    <p:set>
                                      <p:cBhvr>
                                        <p:cTn id="25" dur="1" fill="hold">
                                          <p:stCondLst>
                                            <p:cond delay="0"/>
                                          </p:stCondLst>
                                        </p:cTn>
                                        <p:tgtEl>
                                          <p:spTgt spid="475139">
                                            <p:txEl>
                                              <p:pRg st="5" end="5"/>
                                            </p:txEl>
                                          </p:spTgt>
                                        </p:tgtEl>
                                        <p:attrNameLst>
                                          <p:attrName>style.visibility</p:attrName>
                                        </p:attrNameLst>
                                      </p:cBhvr>
                                      <p:to>
                                        <p:strVal val="visible"/>
                                      </p:to>
                                    </p:set>
                                    <p:animEffect transition="in" filter="box(in)">
                                      <p:cBhvr>
                                        <p:cTn id="26" dur="500"/>
                                        <p:tgtEl>
                                          <p:spTgt spid="4751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5139"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noFill/>
        </p:spPr>
        <p:txBody>
          <a:bodyPr/>
          <a:lstStyle/>
          <a:p>
            <a:pPr eaLnBrk="1" hangingPunct="1"/>
            <a:r>
              <a:rPr lang="zh-CN" altLang="en-US" sz="3400" b="1" smtClean="0"/>
              <a:t>二、供给学派的税收观点</a:t>
            </a:r>
          </a:p>
        </p:txBody>
      </p:sp>
      <p:sp>
        <p:nvSpPr>
          <p:cNvPr id="476163" name="Rectangle 3"/>
          <p:cNvSpPr>
            <a:spLocks noGrp="1" noChangeArrowheads="1"/>
          </p:cNvSpPr>
          <p:nvPr>
            <p:ph idx="1"/>
          </p:nvPr>
        </p:nvSpPr>
        <p:spPr/>
        <p:txBody>
          <a:bodyPr/>
          <a:lstStyle/>
          <a:p>
            <a:pPr marL="762000" indent="-762000" eaLnBrk="1" hangingPunct="1"/>
            <a:r>
              <a:rPr lang="zh-CN" altLang="en-US" sz="3600" b="1" smtClean="0"/>
              <a:t>（一）供给学派的三个基本命题</a:t>
            </a:r>
          </a:p>
          <a:p>
            <a:pPr marL="762000" indent="-762000" eaLnBrk="1" hangingPunct="1"/>
            <a:r>
              <a:rPr lang="zh-CN" altLang="en-US" sz="3600" b="1" smtClean="0"/>
              <a:t>（二）拉弗曲线</a:t>
            </a:r>
            <a:endParaRPr lang="en-US" altLang="zh-CN" sz="3600" b="1" smtClean="0"/>
          </a:p>
          <a:p>
            <a:pPr marL="762000" indent="-762000" eaLnBrk="1" hangingPunct="1"/>
            <a:r>
              <a:rPr lang="zh-CN" altLang="en-US" sz="3600" b="1" smtClean="0"/>
              <a:t>（三）马斯顿的经验分析</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76163">
                                            <p:txEl>
                                              <p:pRg st="0" end="0"/>
                                            </p:txEl>
                                          </p:spTgt>
                                        </p:tgtEl>
                                        <p:attrNameLst>
                                          <p:attrName>style.visibility</p:attrName>
                                        </p:attrNameLst>
                                      </p:cBhvr>
                                      <p:to>
                                        <p:strVal val="visible"/>
                                      </p:to>
                                    </p:set>
                                    <p:animEffect transition="in" filter="box(in)">
                                      <p:cBhvr>
                                        <p:cTn id="7" dur="500"/>
                                        <p:tgtEl>
                                          <p:spTgt spid="4761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76163">
                                            <p:txEl>
                                              <p:pRg st="1" end="1"/>
                                            </p:txEl>
                                          </p:spTgt>
                                        </p:tgtEl>
                                        <p:attrNameLst>
                                          <p:attrName>style.visibility</p:attrName>
                                        </p:attrNameLst>
                                      </p:cBhvr>
                                      <p:to>
                                        <p:strVal val="visible"/>
                                      </p:to>
                                    </p:set>
                                    <p:animEffect transition="in" filter="box(in)">
                                      <p:cBhvr>
                                        <p:cTn id="12" dur="500"/>
                                        <p:tgtEl>
                                          <p:spTgt spid="4761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76163">
                                            <p:txEl>
                                              <p:pRg st="2" end="2"/>
                                            </p:txEl>
                                          </p:spTgt>
                                        </p:tgtEl>
                                        <p:attrNameLst>
                                          <p:attrName>style.visibility</p:attrName>
                                        </p:attrNameLst>
                                      </p:cBhvr>
                                      <p:to>
                                        <p:strVal val="visible"/>
                                      </p:to>
                                    </p:set>
                                    <p:animEffect transition="in" filter="box(in)">
                                      <p:cBhvr>
                                        <p:cTn id="17" dur="500"/>
                                        <p:tgtEl>
                                          <p:spTgt spid="4761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r>
              <a:rPr lang="zh-CN" altLang="en-US" smtClean="0"/>
              <a:t>（一）供给学派的三个基本命题</a:t>
            </a:r>
          </a:p>
        </p:txBody>
      </p:sp>
      <p:sp>
        <p:nvSpPr>
          <p:cNvPr id="3" name="内容占位符 2"/>
          <p:cNvSpPr>
            <a:spLocks noGrp="1"/>
          </p:cNvSpPr>
          <p:nvPr>
            <p:ph idx="1"/>
          </p:nvPr>
        </p:nvSpPr>
        <p:spPr/>
        <p:txBody>
          <a:bodyPr/>
          <a:lstStyle/>
          <a:p>
            <a:r>
              <a:rPr lang="en-US" altLang="zh-CN" b="1" smtClean="0"/>
              <a:t>1.</a:t>
            </a:r>
            <a:r>
              <a:rPr lang="zh-CN" altLang="en-US" b="1" smtClean="0"/>
              <a:t>高边际税率会降低人们的工作积极性，低边际税率会提高人们的工作积极性；</a:t>
            </a:r>
          </a:p>
          <a:p>
            <a:r>
              <a:rPr lang="en-US" altLang="zh-CN" b="1" smtClean="0"/>
              <a:t>2.</a:t>
            </a:r>
            <a:r>
              <a:rPr lang="zh-CN" altLang="en-US" b="1" smtClean="0"/>
              <a:t>高边际税率会阻碍投资，减少资本存量，而低边际税率会鼓励投资，增加资本存量；</a:t>
            </a:r>
          </a:p>
          <a:p>
            <a:r>
              <a:rPr lang="en-US" altLang="zh-CN" b="1" smtClean="0"/>
              <a:t>3.</a:t>
            </a:r>
            <a:r>
              <a:rPr lang="zh-CN" altLang="en-US" b="1" smtClean="0"/>
              <a:t>边际税率的高低和税收收入的多少不一定按同一方向变化，甚至可能按反方向变化供给学派的“减税”为核心的理论。</a:t>
            </a:r>
          </a:p>
          <a:p>
            <a:endParaRPr lang="zh-CN" altLang="en-US" smtClean="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Text Box 2"/>
          <p:cNvSpPr txBox="1">
            <a:spLocks noChangeArrowheads="1"/>
          </p:cNvSpPr>
          <p:nvPr/>
        </p:nvSpPr>
        <p:spPr bwMode="auto">
          <a:xfrm>
            <a:off x="4067175" y="2757488"/>
            <a:ext cx="701675"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1600" b="1" i="1">
                <a:latin typeface="Times New Roman" panose="02020603050405020304" pitchFamily="18" charset="0"/>
              </a:rPr>
              <a:t>A</a:t>
            </a:r>
            <a:endParaRPr lang="en-US" altLang="zh-CN" sz="1600" b="1"/>
          </a:p>
        </p:txBody>
      </p:sp>
      <p:sp>
        <p:nvSpPr>
          <p:cNvPr id="500739" name="Freeform 3"/>
          <p:cNvSpPr>
            <a:spLocks/>
          </p:cNvSpPr>
          <p:nvPr/>
        </p:nvSpPr>
        <p:spPr bwMode="auto">
          <a:xfrm>
            <a:off x="2411413" y="3117850"/>
            <a:ext cx="3983037" cy="2236788"/>
          </a:xfrm>
          <a:custGeom>
            <a:avLst/>
            <a:gdLst>
              <a:gd name="T0" fmla="*/ 0 w 3060"/>
              <a:gd name="T1" fmla="*/ 2147483646 h 1716"/>
              <a:gd name="T2" fmla="*/ 2147483646 w 3060"/>
              <a:gd name="T3" fmla="*/ 0 h 1716"/>
              <a:gd name="T4" fmla="*/ 2147483646 w 3060"/>
              <a:gd name="T5" fmla="*/ 2147483646 h 1716"/>
              <a:gd name="T6" fmla="*/ 0 60000 65536"/>
              <a:gd name="T7" fmla="*/ 0 60000 65536"/>
              <a:gd name="T8" fmla="*/ 0 60000 65536"/>
            </a:gdLst>
            <a:ahLst/>
            <a:cxnLst>
              <a:cxn ang="T6">
                <a:pos x="T0" y="T1"/>
              </a:cxn>
              <a:cxn ang="T7">
                <a:pos x="T2" y="T3"/>
              </a:cxn>
              <a:cxn ang="T8">
                <a:pos x="T4" y="T5"/>
              </a:cxn>
            </a:cxnLst>
            <a:rect l="0" t="0" r="r" b="b"/>
            <a:pathLst>
              <a:path w="3060" h="1716">
                <a:moveTo>
                  <a:pt x="0" y="1716"/>
                </a:moveTo>
                <a:cubicBezTo>
                  <a:pt x="465" y="858"/>
                  <a:pt x="930" y="0"/>
                  <a:pt x="1440" y="0"/>
                </a:cubicBezTo>
                <a:cubicBezTo>
                  <a:pt x="1950" y="0"/>
                  <a:pt x="2790" y="1430"/>
                  <a:pt x="3060" y="1716"/>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0740" name="Line 4"/>
          <p:cNvSpPr>
            <a:spLocks noChangeShapeType="1"/>
          </p:cNvSpPr>
          <p:nvPr/>
        </p:nvSpPr>
        <p:spPr bwMode="auto">
          <a:xfrm flipV="1">
            <a:off x="2987675" y="4270375"/>
            <a:ext cx="2579688" cy="30163"/>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0741" name="Line 5"/>
          <p:cNvSpPr>
            <a:spLocks noChangeShapeType="1"/>
          </p:cNvSpPr>
          <p:nvPr/>
        </p:nvSpPr>
        <p:spPr bwMode="auto">
          <a:xfrm flipH="1">
            <a:off x="4211638" y="3117850"/>
            <a:ext cx="0" cy="2232025"/>
          </a:xfrm>
          <a:prstGeom prst="line">
            <a:avLst/>
          </a:prstGeom>
          <a:noFill/>
          <a:ln w="28575">
            <a:solidFill>
              <a:srgbClr val="FF006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0742" name="Text Box 6"/>
          <p:cNvSpPr txBox="1">
            <a:spLocks noChangeArrowheads="1"/>
          </p:cNvSpPr>
          <p:nvPr/>
        </p:nvSpPr>
        <p:spPr bwMode="auto">
          <a:xfrm>
            <a:off x="1825625" y="5478463"/>
            <a:ext cx="288925"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1600" b="1" i="1">
                <a:latin typeface="Times New Roman" panose="02020603050405020304" pitchFamily="18" charset="0"/>
              </a:rPr>
              <a:t>O</a:t>
            </a:r>
            <a:endParaRPr lang="en-US" altLang="zh-CN" sz="1600" b="1"/>
          </a:p>
        </p:txBody>
      </p:sp>
      <p:sp>
        <p:nvSpPr>
          <p:cNvPr id="500743" name="Text Box 7"/>
          <p:cNvSpPr txBox="1">
            <a:spLocks noChangeArrowheads="1"/>
          </p:cNvSpPr>
          <p:nvPr/>
        </p:nvSpPr>
        <p:spPr bwMode="auto">
          <a:xfrm>
            <a:off x="3924300" y="5300663"/>
            <a:ext cx="70167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1600" b="1" i="1">
                <a:latin typeface="Times New Roman" panose="02020603050405020304" pitchFamily="18" charset="0"/>
              </a:rPr>
              <a:t>C</a:t>
            </a:r>
            <a:endParaRPr lang="en-US" altLang="zh-CN" sz="1600" b="1"/>
          </a:p>
        </p:txBody>
      </p:sp>
      <p:sp>
        <p:nvSpPr>
          <p:cNvPr id="500744" name="Text Box 8"/>
          <p:cNvSpPr txBox="1">
            <a:spLocks noChangeArrowheads="1"/>
          </p:cNvSpPr>
          <p:nvPr/>
        </p:nvSpPr>
        <p:spPr bwMode="auto">
          <a:xfrm>
            <a:off x="6248400" y="5370513"/>
            <a:ext cx="70167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1600" b="1" i="1">
                <a:latin typeface="Times New Roman" panose="02020603050405020304" pitchFamily="18" charset="0"/>
              </a:rPr>
              <a:t>B</a:t>
            </a:r>
            <a:endParaRPr lang="en-US" altLang="zh-CN" sz="1600" b="1"/>
          </a:p>
        </p:txBody>
      </p:sp>
      <p:sp>
        <p:nvSpPr>
          <p:cNvPr id="500745" name="Line 9"/>
          <p:cNvSpPr>
            <a:spLocks noChangeShapeType="1"/>
          </p:cNvSpPr>
          <p:nvPr/>
        </p:nvSpPr>
        <p:spPr bwMode="auto">
          <a:xfrm flipH="1" flipV="1">
            <a:off x="2411413" y="1822450"/>
            <a:ext cx="0" cy="3527425"/>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0746" name="Line 10"/>
          <p:cNvSpPr>
            <a:spLocks noChangeShapeType="1"/>
          </p:cNvSpPr>
          <p:nvPr/>
        </p:nvSpPr>
        <p:spPr bwMode="auto">
          <a:xfrm>
            <a:off x="2401888" y="5334000"/>
            <a:ext cx="4392612" cy="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00747" name="Text Box 11"/>
          <p:cNvSpPr txBox="1">
            <a:spLocks noChangeArrowheads="1"/>
          </p:cNvSpPr>
          <p:nvPr/>
        </p:nvSpPr>
        <p:spPr bwMode="auto">
          <a:xfrm>
            <a:off x="1752600" y="2093913"/>
            <a:ext cx="4333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zh-CN" altLang="en-US" sz="1600" b="1">
                <a:latin typeface="Times New Roman" panose="02020603050405020304" pitchFamily="18" charset="0"/>
              </a:rPr>
              <a:t>税收收入</a:t>
            </a:r>
            <a:endParaRPr lang="zh-CN" altLang="en-US" sz="1600" b="1"/>
          </a:p>
        </p:txBody>
      </p:sp>
      <p:grpSp>
        <p:nvGrpSpPr>
          <p:cNvPr id="500748" name="Group 12"/>
          <p:cNvGrpSpPr>
            <a:grpSpLocks/>
          </p:cNvGrpSpPr>
          <p:nvPr/>
        </p:nvGrpSpPr>
        <p:grpSpPr bwMode="auto">
          <a:xfrm>
            <a:off x="4211638" y="3500438"/>
            <a:ext cx="1719262" cy="1665287"/>
            <a:chOff x="2640" y="2304"/>
            <a:chExt cx="1083" cy="791"/>
          </a:xfrm>
        </p:grpSpPr>
        <p:sp>
          <p:nvSpPr>
            <p:cNvPr id="51217" name="Line 13"/>
            <p:cNvSpPr>
              <a:spLocks noChangeShapeType="1"/>
            </p:cNvSpPr>
            <p:nvPr/>
          </p:nvSpPr>
          <p:spPr bwMode="auto">
            <a:xfrm flipV="1">
              <a:off x="2654" y="2364"/>
              <a:ext cx="541" cy="3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8" name="Line 14"/>
            <p:cNvSpPr>
              <a:spLocks noChangeShapeType="1"/>
            </p:cNvSpPr>
            <p:nvPr/>
          </p:nvSpPr>
          <p:spPr bwMode="auto">
            <a:xfrm flipV="1">
              <a:off x="2640" y="2496"/>
              <a:ext cx="705" cy="4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9" name="Line 15"/>
            <p:cNvSpPr>
              <a:spLocks noChangeShapeType="1"/>
            </p:cNvSpPr>
            <p:nvPr/>
          </p:nvSpPr>
          <p:spPr bwMode="auto">
            <a:xfrm flipV="1">
              <a:off x="2745" y="2621"/>
              <a:ext cx="737"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0" name="Line 16"/>
            <p:cNvSpPr>
              <a:spLocks noChangeShapeType="1"/>
            </p:cNvSpPr>
            <p:nvPr/>
          </p:nvSpPr>
          <p:spPr bwMode="auto">
            <a:xfrm flipV="1">
              <a:off x="3155" y="2816"/>
              <a:ext cx="443" cy="2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1" name="Line 17"/>
            <p:cNvSpPr>
              <a:spLocks noChangeShapeType="1"/>
            </p:cNvSpPr>
            <p:nvPr/>
          </p:nvSpPr>
          <p:spPr bwMode="auto">
            <a:xfrm flipV="1">
              <a:off x="3429" y="2917"/>
              <a:ext cx="294" cy="1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2" name="Line 18"/>
            <p:cNvSpPr>
              <a:spLocks noChangeShapeType="1"/>
            </p:cNvSpPr>
            <p:nvPr/>
          </p:nvSpPr>
          <p:spPr bwMode="auto">
            <a:xfrm flipV="1">
              <a:off x="2640" y="2304"/>
              <a:ext cx="411" cy="2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00755" name="Text Box 19"/>
          <p:cNvSpPr txBox="1">
            <a:spLocks noChangeArrowheads="1"/>
          </p:cNvSpPr>
          <p:nvPr/>
        </p:nvSpPr>
        <p:spPr bwMode="auto">
          <a:xfrm>
            <a:off x="6577013" y="5551488"/>
            <a:ext cx="73977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zh-CN" altLang="en-US" sz="1600" b="1">
                <a:latin typeface="Times New Roman" panose="02020603050405020304" pitchFamily="18" charset="0"/>
              </a:rPr>
              <a:t>税  率</a:t>
            </a:r>
            <a:endParaRPr lang="zh-CN" altLang="en-US" sz="1600" b="1"/>
          </a:p>
        </p:txBody>
      </p:sp>
      <p:sp>
        <p:nvSpPr>
          <p:cNvPr id="500756" name="Text Box 20"/>
          <p:cNvSpPr txBox="1">
            <a:spLocks noChangeArrowheads="1"/>
          </p:cNvSpPr>
          <p:nvPr/>
        </p:nvSpPr>
        <p:spPr bwMode="auto">
          <a:xfrm>
            <a:off x="2627313" y="4054475"/>
            <a:ext cx="342900"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1600" b="1" i="1">
                <a:latin typeface="Times New Roman" panose="02020603050405020304" pitchFamily="18" charset="0"/>
              </a:rPr>
              <a:t>D</a:t>
            </a:r>
          </a:p>
        </p:txBody>
      </p:sp>
      <p:sp>
        <p:nvSpPr>
          <p:cNvPr id="500757" name="Rectangle 21"/>
          <p:cNvSpPr>
            <a:spLocks noChangeArrowheads="1"/>
          </p:cNvSpPr>
          <p:nvPr/>
        </p:nvSpPr>
        <p:spPr bwMode="auto">
          <a:xfrm>
            <a:off x="5724525" y="4054475"/>
            <a:ext cx="381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600" b="1" i="1">
                <a:latin typeface="Times New Roman" panose="02020603050405020304" pitchFamily="18" charset="0"/>
                <a:cs typeface="Times New Roman" panose="02020603050405020304" pitchFamily="18" charset="0"/>
              </a:rPr>
              <a:t>E</a:t>
            </a:r>
            <a:r>
              <a:rPr lang="en-US" altLang="zh-CN" sz="1600" b="1"/>
              <a:t> </a:t>
            </a:r>
          </a:p>
        </p:txBody>
      </p:sp>
      <p:sp>
        <p:nvSpPr>
          <p:cNvPr id="51216" name="Rectangle 25"/>
          <p:cNvSpPr>
            <a:spLocks noChangeArrowheads="1"/>
          </p:cNvSpPr>
          <p:nvPr/>
        </p:nvSpPr>
        <p:spPr bwMode="auto">
          <a:xfrm>
            <a:off x="323850" y="476250"/>
            <a:ext cx="7127875"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3600" b="1"/>
              <a:t>（二）拉弗曲线</a:t>
            </a:r>
            <a:endParaRPr lang="zh-CN" altLang="en-US" sz="3600" b="1">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00742"/>
                                        </p:tgtEl>
                                        <p:attrNameLst>
                                          <p:attrName>style.visibility</p:attrName>
                                        </p:attrNameLst>
                                      </p:cBhvr>
                                      <p:to>
                                        <p:strVal val="visible"/>
                                      </p:to>
                                    </p:set>
                                    <p:animEffect transition="in" filter="strips(downRight)">
                                      <p:cBhvr>
                                        <p:cTn id="7" dur="500"/>
                                        <p:tgtEl>
                                          <p:spTgt spid="500742"/>
                                        </p:tgtEl>
                                      </p:cBhvr>
                                    </p:animEffect>
                                  </p:childTnLst>
                                </p:cTn>
                              </p:par>
                              <p:par>
                                <p:cTn id="8" presetID="18" presetClass="entr" presetSubtype="9" fill="hold" nodeType="withEffect">
                                  <p:stCondLst>
                                    <p:cond delay="0"/>
                                  </p:stCondLst>
                                  <p:childTnLst>
                                    <p:set>
                                      <p:cBhvr>
                                        <p:cTn id="9" dur="1" fill="hold">
                                          <p:stCondLst>
                                            <p:cond delay="0"/>
                                          </p:stCondLst>
                                        </p:cTn>
                                        <p:tgtEl>
                                          <p:spTgt spid="500745"/>
                                        </p:tgtEl>
                                        <p:attrNameLst>
                                          <p:attrName>style.visibility</p:attrName>
                                        </p:attrNameLst>
                                      </p:cBhvr>
                                      <p:to>
                                        <p:strVal val="visible"/>
                                      </p:to>
                                    </p:set>
                                    <p:animEffect transition="in" filter="strips(upLeft)">
                                      <p:cBhvr>
                                        <p:cTn id="10" dur="500"/>
                                        <p:tgtEl>
                                          <p:spTgt spid="500745"/>
                                        </p:tgtEl>
                                      </p:cBhvr>
                                    </p:animEffect>
                                  </p:childTnLst>
                                </p:cTn>
                              </p:par>
                              <p:par>
                                <p:cTn id="11" presetID="18" presetClass="entr" presetSubtype="6" fill="hold" grpId="0" nodeType="withEffect">
                                  <p:stCondLst>
                                    <p:cond delay="0"/>
                                  </p:stCondLst>
                                  <p:childTnLst>
                                    <p:set>
                                      <p:cBhvr>
                                        <p:cTn id="12" dur="1" fill="hold">
                                          <p:stCondLst>
                                            <p:cond delay="0"/>
                                          </p:stCondLst>
                                        </p:cTn>
                                        <p:tgtEl>
                                          <p:spTgt spid="500747"/>
                                        </p:tgtEl>
                                        <p:attrNameLst>
                                          <p:attrName>style.visibility</p:attrName>
                                        </p:attrNameLst>
                                      </p:cBhvr>
                                      <p:to>
                                        <p:strVal val="visible"/>
                                      </p:to>
                                    </p:set>
                                    <p:animEffect transition="in" filter="strips(downRight)">
                                      <p:cBhvr>
                                        <p:cTn id="13" dur="500"/>
                                        <p:tgtEl>
                                          <p:spTgt spid="500747"/>
                                        </p:tgtEl>
                                      </p:cBhvr>
                                    </p:animEffect>
                                  </p:childTnLst>
                                </p:cTn>
                              </p:par>
                              <p:par>
                                <p:cTn id="14" presetID="18" presetClass="entr" presetSubtype="6" fill="hold" nodeType="withEffect">
                                  <p:stCondLst>
                                    <p:cond delay="0"/>
                                  </p:stCondLst>
                                  <p:childTnLst>
                                    <p:set>
                                      <p:cBhvr>
                                        <p:cTn id="15" dur="1" fill="hold">
                                          <p:stCondLst>
                                            <p:cond delay="0"/>
                                          </p:stCondLst>
                                        </p:cTn>
                                        <p:tgtEl>
                                          <p:spTgt spid="500746"/>
                                        </p:tgtEl>
                                        <p:attrNameLst>
                                          <p:attrName>style.visibility</p:attrName>
                                        </p:attrNameLst>
                                      </p:cBhvr>
                                      <p:to>
                                        <p:strVal val="visible"/>
                                      </p:to>
                                    </p:set>
                                    <p:animEffect transition="in" filter="strips(downRight)">
                                      <p:cBhvr>
                                        <p:cTn id="16" dur="500"/>
                                        <p:tgtEl>
                                          <p:spTgt spid="500746"/>
                                        </p:tgtEl>
                                      </p:cBhvr>
                                    </p:animEffect>
                                  </p:childTnLst>
                                </p:cTn>
                              </p:par>
                              <p:par>
                                <p:cTn id="17" presetID="18" presetClass="entr" presetSubtype="6" fill="hold" grpId="0" nodeType="withEffect">
                                  <p:stCondLst>
                                    <p:cond delay="0"/>
                                  </p:stCondLst>
                                  <p:childTnLst>
                                    <p:set>
                                      <p:cBhvr>
                                        <p:cTn id="18" dur="1" fill="hold">
                                          <p:stCondLst>
                                            <p:cond delay="0"/>
                                          </p:stCondLst>
                                        </p:cTn>
                                        <p:tgtEl>
                                          <p:spTgt spid="500755"/>
                                        </p:tgtEl>
                                        <p:attrNameLst>
                                          <p:attrName>style.visibility</p:attrName>
                                        </p:attrNameLst>
                                      </p:cBhvr>
                                      <p:to>
                                        <p:strVal val="visible"/>
                                      </p:to>
                                    </p:set>
                                    <p:animEffect transition="in" filter="strips(downRight)">
                                      <p:cBhvr>
                                        <p:cTn id="19" dur="500"/>
                                        <p:tgtEl>
                                          <p:spTgt spid="50075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8" presetClass="entr" presetSubtype="6" fill="hold" nodeType="clickEffect">
                                  <p:stCondLst>
                                    <p:cond delay="0"/>
                                  </p:stCondLst>
                                  <p:childTnLst>
                                    <p:set>
                                      <p:cBhvr>
                                        <p:cTn id="23" dur="1" fill="hold">
                                          <p:stCondLst>
                                            <p:cond delay="0"/>
                                          </p:stCondLst>
                                        </p:cTn>
                                        <p:tgtEl>
                                          <p:spTgt spid="500739"/>
                                        </p:tgtEl>
                                        <p:attrNameLst>
                                          <p:attrName>style.visibility</p:attrName>
                                        </p:attrNameLst>
                                      </p:cBhvr>
                                      <p:to>
                                        <p:strVal val="visible"/>
                                      </p:to>
                                    </p:set>
                                    <p:animEffect transition="in" filter="strips(downRight)">
                                      <p:cBhvr>
                                        <p:cTn id="24" dur="500"/>
                                        <p:tgtEl>
                                          <p:spTgt spid="500739"/>
                                        </p:tgtEl>
                                      </p:cBhvr>
                                    </p:animEffect>
                                  </p:childTnLst>
                                </p:cTn>
                              </p:par>
                              <p:par>
                                <p:cTn id="25" presetID="18" presetClass="entr" presetSubtype="6" fill="hold" grpId="0" nodeType="withEffect">
                                  <p:stCondLst>
                                    <p:cond delay="0"/>
                                  </p:stCondLst>
                                  <p:childTnLst>
                                    <p:set>
                                      <p:cBhvr>
                                        <p:cTn id="26" dur="1" fill="hold">
                                          <p:stCondLst>
                                            <p:cond delay="0"/>
                                          </p:stCondLst>
                                        </p:cTn>
                                        <p:tgtEl>
                                          <p:spTgt spid="500744"/>
                                        </p:tgtEl>
                                        <p:attrNameLst>
                                          <p:attrName>style.visibility</p:attrName>
                                        </p:attrNameLst>
                                      </p:cBhvr>
                                      <p:to>
                                        <p:strVal val="visible"/>
                                      </p:to>
                                    </p:set>
                                    <p:animEffect transition="in" filter="strips(downRight)">
                                      <p:cBhvr>
                                        <p:cTn id="27" dur="500"/>
                                        <p:tgtEl>
                                          <p:spTgt spid="500744"/>
                                        </p:tgtEl>
                                      </p:cBhvr>
                                    </p:animEffect>
                                  </p:childTnLst>
                                </p:cTn>
                              </p:par>
                              <p:par>
                                <p:cTn id="28" presetID="18" presetClass="entr" presetSubtype="6" fill="hold" grpId="0" nodeType="withEffect">
                                  <p:stCondLst>
                                    <p:cond delay="0"/>
                                  </p:stCondLst>
                                  <p:childTnLst>
                                    <p:set>
                                      <p:cBhvr>
                                        <p:cTn id="29" dur="1" fill="hold">
                                          <p:stCondLst>
                                            <p:cond delay="0"/>
                                          </p:stCondLst>
                                        </p:cTn>
                                        <p:tgtEl>
                                          <p:spTgt spid="500738"/>
                                        </p:tgtEl>
                                        <p:attrNameLst>
                                          <p:attrName>style.visibility</p:attrName>
                                        </p:attrNameLst>
                                      </p:cBhvr>
                                      <p:to>
                                        <p:strVal val="visible"/>
                                      </p:to>
                                    </p:set>
                                    <p:animEffect transition="in" filter="strips(downRight)">
                                      <p:cBhvr>
                                        <p:cTn id="30" dur="500"/>
                                        <p:tgtEl>
                                          <p:spTgt spid="500738"/>
                                        </p:tgtEl>
                                      </p:cBhvr>
                                    </p:animEffect>
                                  </p:childTnLst>
                                </p:cTn>
                              </p:par>
                              <p:par>
                                <p:cTn id="31" presetID="18" presetClass="entr" presetSubtype="6" fill="hold" nodeType="withEffect">
                                  <p:stCondLst>
                                    <p:cond delay="0"/>
                                  </p:stCondLst>
                                  <p:childTnLst>
                                    <p:set>
                                      <p:cBhvr>
                                        <p:cTn id="32" dur="1" fill="hold">
                                          <p:stCondLst>
                                            <p:cond delay="0"/>
                                          </p:stCondLst>
                                        </p:cTn>
                                        <p:tgtEl>
                                          <p:spTgt spid="500741"/>
                                        </p:tgtEl>
                                        <p:attrNameLst>
                                          <p:attrName>style.visibility</p:attrName>
                                        </p:attrNameLst>
                                      </p:cBhvr>
                                      <p:to>
                                        <p:strVal val="visible"/>
                                      </p:to>
                                    </p:set>
                                    <p:animEffect transition="in" filter="strips(downRight)">
                                      <p:cBhvr>
                                        <p:cTn id="33" dur="500"/>
                                        <p:tgtEl>
                                          <p:spTgt spid="500741"/>
                                        </p:tgtEl>
                                      </p:cBhvr>
                                    </p:animEffect>
                                  </p:childTnLst>
                                </p:cTn>
                              </p:par>
                              <p:par>
                                <p:cTn id="34" presetID="18" presetClass="entr" presetSubtype="6" fill="hold" grpId="0" nodeType="withEffect">
                                  <p:stCondLst>
                                    <p:cond delay="0"/>
                                  </p:stCondLst>
                                  <p:childTnLst>
                                    <p:set>
                                      <p:cBhvr>
                                        <p:cTn id="35" dur="1" fill="hold">
                                          <p:stCondLst>
                                            <p:cond delay="0"/>
                                          </p:stCondLst>
                                        </p:cTn>
                                        <p:tgtEl>
                                          <p:spTgt spid="500743"/>
                                        </p:tgtEl>
                                        <p:attrNameLst>
                                          <p:attrName>style.visibility</p:attrName>
                                        </p:attrNameLst>
                                      </p:cBhvr>
                                      <p:to>
                                        <p:strVal val="visible"/>
                                      </p:to>
                                    </p:set>
                                    <p:animEffect transition="in" filter="strips(downRight)">
                                      <p:cBhvr>
                                        <p:cTn id="36" dur="500"/>
                                        <p:tgtEl>
                                          <p:spTgt spid="50074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500748"/>
                                        </p:tgtEl>
                                        <p:attrNameLst>
                                          <p:attrName>style.visibility</p:attrName>
                                        </p:attrNameLst>
                                      </p:cBhvr>
                                      <p:to>
                                        <p:strVal val="visible"/>
                                      </p:to>
                                    </p:set>
                                    <p:animEffect transition="in" filter="wipe(left)">
                                      <p:cBhvr>
                                        <p:cTn id="41" dur="500"/>
                                        <p:tgtEl>
                                          <p:spTgt spid="50074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8" presetClass="entr" presetSubtype="6" fill="hold" nodeType="clickEffect">
                                  <p:stCondLst>
                                    <p:cond delay="0"/>
                                  </p:stCondLst>
                                  <p:childTnLst>
                                    <p:set>
                                      <p:cBhvr>
                                        <p:cTn id="45" dur="1" fill="hold">
                                          <p:stCondLst>
                                            <p:cond delay="0"/>
                                          </p:stCondLst>
                                        </p:cTn>
                                        <p:tgtEl>
                                          <p:spTgt spid="500740"/>
                                        </p:tgtEl>
                                        <p:attrNameLst>
                                          <p:attrName>style.visibility</p:attrName>
                                        </p:attrNameLst>
                                      </p:cBhvr>
                                      <p:to>
                                        <p:strVal val="visible"/>
                                      </p:to>
                                    </p:set>
                                    <p:animEffect transition="in" filter="strips(downRight)">
                                      <p:cBhvr>
                                        <p:cTn id="46" dur="500"/>
                                        <p:tgtEl>
                                          <p:spTgt spid="500740"/>
                                        </p:tgtEl>
                                      </p:cBhvr>
                                    </p:animEffect>
                                  </p:childTnLst>
                                </p:cTn>
                              </p:par>
                              <p:par>
                                <p:cTn id="47" presetID="18" presetClass="entr" presetSubtype="6" fill="hold" grpId="0" nodeType="withEffect">
                                  <p:stCondLst>
                                    <p:cond delay="0"/>
                                  </p:stCondLst>
                                  <p:childTnLst>
                                    <p:set>
                                      <p:cBhvr>
                                        <p:cTn id="48" dur="1" fill="hold">
                                          <p:stCondLst>
                                            <p:cond delay="0"/>
                                          </p:stCondLst>
                                        </p:cTn>
                                        <p:tgtEl>
                                          <p:spTgt spid="500756"/>
                                        </p:tgtEl>
                                        <p:attrNameLst>
                                          <p:attrName>style.visibility</p:attrName>
                                        </p:attrNameLst>
                                      </p:cBhvr>
                                      <p:to>
                                        <p:strVal val="visible"/>
                                      </p:to>
                                    </p:set>
                                    <p:animEffect transition="in" filter="strips(downRight)">
                                      <p:cBhvr>
                                        <p:cTn id="49" dur="500"/>
                                        <p:tgtEl>
                                          <p:spTgt spid="500756"/>
                                        </p:tgtEl>
                                      </p:cBhvr>
                                    </p:animEffect>
                                  </p:childTnLst>
                                </p:cTn>
                              </p:par>
                              <p:par>
                                <p:cTn id="50" presetID="18" presetClass="entr" presetSubtype="6" fill="hold" grpId="0" nodeType="withEffect">
                                  <p:stCondLst>
                                    <p:cond delay="0"/>
                                  </p:stCondLst>
                                  <p:childTnLst>
                                    <p:set>
                                      <p:cBhvr>
                                        <p:cTn id="51" dur="1" fill="hold">
                                          <p:stCondLst>
                                            <p:cond delay="0"/>
                                          </p:stCondLst>
                                        </p:cTn>
                                        <p:tgtEl>
                                          <p:spTgt spid="500757"/>
                                        </p:tgtEl>
                                        <p:attrNameLst>
                                          <p:attrName>style.visibility</p:attrName>
                                        </p:attrNameLst>
                                      </p:cBhvr>
                                      <p:to>
                                        <p:strVal val="visible"/>
                                      </p:to>
                                    </p:set>
                                    <p:animEffect transition="in" filter="strips(downRight)">
                                      <p:cBhvr>
                                        <p:cTn id="52" dur="500"/>
                                        <p:tgtEl>
                                          <p:spTgt spid="5007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738" grpId="0"/>
      <p:bldP spid="500742" grpId="0"/>
      <p:bldP spid="500743" grpId="0"/>
      <p:bldP spid="500744" grpId="0"/>
      <p:bldP spid="500747" grpId="0"/>
      <p:bldP spid="500755" grpId="0"/>
      <p:bldP spid="500756" grpId="0"/>
      <p:bldP spid="500757"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noFill/>
        </p:spPr>
        <p:txBody>
          <a:bodyPr/>
          <a:lstStyle/>
          <a:p>
            <a:pPr eaLnBrk="1" hangingPunct="1"/>
            <a:r>
              <a:rPr lang="zh-CN" altLang="en-US" sz="3800" b="1" smtClean="0"/>
              <a:t>拉弗曲线的经济含义 </a:t>
            </a:r>
            <a:r>
              <a:rPr lang="en-US" altLang="zh-CN" sz="3800" b="1" smtClean="0"/>
              <a:t>:</a:t>
            </a:r>
          </a:p>
        </p:txBody>
      </p:sp>
      <p:sp>
        <p:nvSpPr>
          <p:cNvPr id="478211" name="Rectangle 3"/>
          <p:cNvSpPr>
            <a:spLocks noGrp="1" noChangeArrowheads="1"/>
          </p:cNvSpPr>
          <p:nvPr>
            <p:ph idx="1"/>
          </p:nvPr>
        </p:nvSpPr>
        <p:spPr/>
        <p:txBody>
          <a:bodyPr/>
          <a:lstStyle/>
          <a:p>
            <a:pPr eaLnBrk="1" hangingPunct="1"/>
            <a:r>
              <a:rPr lang="en-US" altLang="zh-CN" b="1" smtClean="0"/>
              <a:t>1</a:t>
            </a:r>
            <a:r>
              <a:rPr lang="zh-CN" altLang="en-US" b="1" smtClean="0"/>
              <a:t>、高税率不一定取得高税收收入，而高税收收入也不一定要实行高税率；</a:t>
            </a:r>
          </a:p>
          <a:p>
            <a:pPr eaLnBrk="1" hangingPunct="1"/>
            <a:r>
              <a:rPr lang="en-US" altLang="zh-CN" b="1" smtClean="0"/>
              <a:t>2</a:t>
            </a:r>
            <a:r>
              <a:rPr lang="zh-CN" altLang="en-US" b="1" smtClean="0"/>
              <a:t>、取得同样多的税收收入，可以采取两种不同的税率；</a:t>
            </a:r>
          </a:p>
          <a:p>
            <a:pPr eaLnBrk="1" hangingPunct="1"/>
            <a:r>
              <a:rPr lang="en-US" altLang="zh-CN" b="1" smtClean="0"/>
              <a:t>3</a:t>
            </a:r>
            <a:r>
              <a:rPr lang="zh-CN" altLang="en-US" b="1" smtClean="0"/>
              <a:t>、保持适度的宏观税负水平是促进经济增长的一个重要条件。</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78211">
                                            <p:txEl>
                                              <p:pRg st="0" end="0"/>
                                            </p:txEl>
                                          </p:spTgt>
                                        </p:tgtEl>
                                        <p:attrNameLst>
                                          <p:attrName>style.visibility</p:attrName>
                                        </p:attrNameLst>
                                      </p:cBhvr>
                                      <p:to>
                                        <p:strVal val="visible"/>
                                      </p:to>
                                    </p:set>
                                    <p:animEffect transition="in" filter="box(in)">
                                      <p:cBhvr>
                                        <p:cTn id="7" dur="500"/>
                                        <p:tgtEl>
                                          <p:spTgt spid="4782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78211">
                                            <p:txEl>
                                              <p:pRg st="1" end="1"/>
                                            </p:txEl>
                                          </p:spTgt>
                                        </p:tgtEl>
                                        <p:attrNameLst>
                                          <p:attrName>style.visibility</p:attrName>
                                        </p:attrNameLst>
                                      </p:cBhvr>
                                      <p:to>
                                        <p:strVal val="visible"/>
                                      </p:to>
                                    </p:set>
                                    <p:animEffect transition="in" filter="box(in)">
                                      <p:cBhvr>
                                        <p:cTn id="12" dur="500"/>
                                        <p:tgtEl>
                                          <p:spTgt spid="4782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78211">
                                            <p:txEl>
                                              <p:pRg st="2" end="2"/>
                                            </p:txEl>
                                          </p:spTgt>
                                        </p:tgtEl>
                                        <p:attrNameLst>
                                          <p:attrName>style.visibility</p:attrName>
                                        </p:attrNameLst>
                                      </p:cBhvr>
                                      <p:to>
                                        <p:strVal val="visible"/>
                                      </p:to>
                                    </p:set>
                                    <p:animEffect transition="in" filter="box(in)">
                                      <p:cBhvr>
                                        <p:cTn id="17" dur="500"/>
                                        <p:tgtEl>
                                          <p:spTgt spid="4782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11"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a:lstStyle/>
          <a:p>
            <a:r>
              <a:rPr lang="zh-CN" altLang="en-US" smtClean="0"/>
              <a:t>（三）马斯顿的经验分析</a:t>
            </a:r>
          </a:p>
        </p:txBody>
      </p:sp>
      <p:sp>
        <p:nvSpPr>
          <p:cNvPr id="3" name="内容占位符 2"/>
          <p:cNvSpPr>
            <a:spLocks noGrp="1"/>
          </p:cNvSpPr>
          <p:nvPr>
            <p:ph idx="1"/>
          </p:nvPr>
        </p:nvSpPr>
        <p:spPr/>
        <p:txBody>
          <a:bodyPr/>
          <a:lstStyle/>
          <a:p>
            <a:r>
              <a:rPr lang="zh-CN" altLang="en-US" b="1" smtClean="0"/>
              <a:t>世界银行经济学家马斯顿选择了具有可比性的</a:t>
            </a:r>
            <a:r>
              <a:rPr lang="en-US" altLang="zh-CN" b="1" smtClean="0"/>
              <a:t>20</a:t>
            </a:r>
            <a:r>
              <a:rPr lang="zh-CN" altLang="en-US" b="1" smtClean="0"/>
              <a:t>个国家</a:t>
            </a:r>
            <a:r>
              <a:rPr lang="en-US" altLang="zh-CN" b="1" smtClean="0"/>
              <a:t>20</a:t>
            </a:r>
            <a:r>
              <a:rPr lang="zh-CN" altLang="en-US" b="1" smtClean="0"/>
              <a:t>世纪</a:t>
            </a:r>
            <a:r>
              <a:rPr lang="en-US" altLang="zh-CN" b="1" smtClean="0"/>
              <a:t>70</a:t>
            </a:r>
            <a:r>
              <a:rPr lang="zh-CN" altLang="en-US" b="1" smtClean="0"/>
              <a:t>年代的经济数据，对宏观税率（税收占</a:t>
            </a:r>
            <a:r>
              <a:rPr lang="en-US" altLang="zh-CN" b="1" smtClean="0"/>
              <a:t>GDP</a:t>
            </a:r>
            <a:r>
              <a:rPr lang="zh-CN" altLang="en-US" b="1" smtClean="0"/>
              <a:t>比重）的高低对经济增长率的影响进行了实证分析。</a:t>
            </a:r>
            <a:endParaRPr lang="en-US" altLang="zh-CN" b="1" smtClean="0"/>
          </a:p>
          <a:p>
            <a:r>
              <a:rPr lang="zh-CN" altLang="en-US" b="1" smtClean="0"/>
              <a:t>结论：</a:t>
            </a:r>
            <a:r>
              <a:rPr lang="zh-CN" altLang="en-US" b="1" smtClean="0">
                <a:solidFill>
                  <a:srgbClr val="FFC000"/>
                </a:solidFill>
              </a:rPr>
              <a:t>较低的宏观税率对提高本国的经济增长具有积极的促进作用。</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395288" y="188913"/>
            <a:ext cx="8229600" cy="431800"/>
          </a:xfrm>
          <a:noFill/>
        </p:spPr>
        <p:txBody>
          <a:bodyPr/>
          <a:lstStyle/>
          <a:p>
            <a:pPr eaLnBrk="1" hangingPunct="1"/>
            <a:r>
              <a:rPr lang="zh-CN" altLang="en-US" sz="3400" b="1" smtClean="0">
                <a:solidFill>
                  <a:schemeClr val="tx1"/>
                </a:solidFill>
              </a:rPr>
              <a:t>样本国家宏观税率与经济增长率的对比</a:t>
            </a:r>
          </a:p>
        </p:txBody>
      </p:sp>
      <p:sp>
        <p:nvSpPr>
          <p:cNvPr id="54275" name="Rectangle 3"/>
          <p:cNvSpPr>
            <a:spLocks noChangeArrowheads="1"/>
          </p:cNvSpPr>
          <p:nvPr/>
        </p:nvSpPr>
        <p:spPr bwMode="auto">
          <a:xfrm>
            <a:off x="2195513" y="6213475"/>
            <a:ext cx="50403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latin typeface="Times New Roman" panose="02020603050405020304" pitchFamily="18" charset="0"/>
                <a:cs typeface="Times New Roman" panose="02020603050405020304" pitchFamily="18" charset="0"/>
              </a:rPr>
              <a:t>表</a:t>
            </a:r>
            <a:r>
              <a:rPr lang="en-US" altLang="zh-CN" sz="1600" b="1">
                <a:latin typeface="Times New Roman" panose="02020603050405020304" pitchFamily="18" charset="0"/>
                <a:cs typeface="Times New Roman" panose="02020603050405020304" pitchFamily="18" charset="0"/>
              </a:rPr>
              <a:t>9-1  </a:t>
            </a:r>
            <a:r>
              <a:rPr lang="zh-CN" altLang="en-US" sz="1600" b="1">
                <a:latin typeface="Times New Roman" panose="02020603050405020304" pitchFamily="18" charset="0"/>
                <a:cs typeface="Times New Roman" panose="02020603050405020304" pitchFamily="18" charset="0"/>
              </a:rPr>
              <a:t>样本国家宏观税率与经济增长率的对比</a:t>
            </a:r>
            <a:endParaRPr lang="zh-CN" altLang="en-US" sz="1600" b="1"/>
          </a:p>
        </p:txBody>
      </p:sp>
      <p:graphicFrame>
        <p:nvGraphicFramePr>
          <p:cNvPr id="479311" name="Group 79"/>
          <p:cNvGraphicFramePr>
            <a:graphicFrameLocks noGrp="1"/>
          </p:cNvGraphicFramePr>
          <p:nvPr/>
        </p:nvGraphicFramePr>
        <p:xfrm>
          <a:off x="395288" y="836613"/>
          <a:ext cx="8208962" cy="5394325"/>
        </p:xfrm>
        <a:graphic>
          <a:graphicData uri="http://schemas.openxmlformats.org/drawingml/2006/table">
            <a:tbl>
              <a:tblPr/>
              <a:tblGrid>
                <a:gridCol w="1439862">
                  <a:extLst>
                    <a:ext uri="{9D8B030D-6E8A-4147-A177-3AD203B41FA5}">
                      <a16:colId xmlns:a16="http://schemas.microsoft.com/office/drawing/2014/main" val="20000"/>
                    </a:ext>
                  </a:extLst>
                </a:gridCol>
                <a:gridCol w="1944688">
                  <a:extLst>
                    <a:ext uri="{9D8B030D-6E8A-4147-A177-3AD203B41FA5}">
                      <a16:colId xmlns:a16="http://schemas.microsoft.com/office/drawing/2014/main" val="20001"/>
                    </a:ext>
                  </a:extLst>
                </a:gridCol>
                <a:gridCol w="2305050">
                  <a:extLst>
                    <a:ext uri="{9D8B030D-6E8A-4147-A177-3AD203B41FA5}">
                      <a16:colId xmlns:a16="http://schemas.microsoft.com/office/drawing/2014/main" val="20002"/>
                    </a:ext>
                  </a:extLst>
                </a:gridCol>
                <a:gridCol w="2519362">
                  <a:extLst>
                    <a:ext uri="{9D8B030D-6E8A-4147-A177-3AD203B41FA5}">
                      <a16:colId xmlns:a16="http://schemas.microsoft.com/office/drawing/2014/main" val="20003"/>
                    </a:ext>
                  </a:extLst>
                </a:gridCol>
              </a:tblGrid>
              <a:tr h="518102">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样本国</a:t>
                      </a:r>
                      <a:endParaRPr kumimoji="0" lang="zh-CN" altLang="en-US"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人均收入</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（按</a:t>
                      </a: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1979</a:t>
                      </a:r>
                      <a:r>
                        <a:rPr kumimoji="0"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年美元计算）</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税收收入占</a:t>
                      </a: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GDP </a:t>
                      </a:r>
                      <a:r>
                        <a:rPr kumimoji="0"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比重</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1970-1979 </a:t>
                      </a:r>
                      <a:r>
                        <a:rPr kumimoji="0"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年</a:t>
                      </a: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GDP</a:t>
                      </a:r>
                      <a:r>
                        <a:rPr kumimoji="0"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实  际增长</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7622">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马拉维（低税）</a:t>
                      </a:r>
                      <a:endParaRPr kumimoji="0" lang="zh-CN" altLang="en-US"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扎伊尔（高税）</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200-300</a:t>
                      </a: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11.8</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21.5</a:t>
                      </a:r>
                      <a:endParaRPr kumimoji="0" lang="en-US" altLang="zh-CN" sz="13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3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6.3</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3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3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0.7</a:t>
                      </a:r>
                      <a:endParaRPr kumimoji="0" lang="en-US" altLang="zh-CN" sz="13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7622">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客麦隆（低税）</a:t>
                      </a:r>
                      <a:endParaRPr kumimoji="0" lang="zh-CN" altLang="en-US"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利比里亚（高税）</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500-600</a:t>
                      </a: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15.1   </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21.2   </a:t>
                      </a:r>
                      <a:endParaRPr kumimoji="0" lang="en-US" altLang="zh-CN" sz="13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3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5.4</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3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1.8</a:t>
                      </a: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7622">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泰国（低税）</a:t>
                      </a:r>
                      <a:endParaRPr kumimoji="0" lang="zh-CN" altLang="en-US"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赞比亚（高税）</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5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500-600</a:t>
                      </a: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11.7</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22.7</a:t>
                      </a:r>
                      <a:endParaRPr kumimoji="0" lang="en-US" altLang="zh-CN" sz="13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3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7.7</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3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0" lang="en-US" altLang="zh-CN" sz="13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7622">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巴拉圭（低税）</a:t>
                      </a:r>
                      <a:endParaRPr kumimoji="0" lang="zh-CN" altLang="en-US"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秘鲁（高税）</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700-1100</a:t>
                      </a:r>
                      <a:endParaRPr kumimoji="0" lang="en-US" altLang="zh-CN" sz="15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3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10.3</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3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14.4</a:t>
                      </a:r>
                      <a:endParaRPr kumimoji="0" lang="en-US" altLang="zh-CN" sz="13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8.3</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3.1</a:t>
                      </a:r>
                      <a:endParaRPr kumimoji="0" lang="en-US" altLang="zh-CN" sz="13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7622">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毛里求斯（低税）</a:t>
                      </a:r>
                      <a:endParaRPr kumimoji="0" lang="zh-CN" altLang="en-US"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牙买加（高税）</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1100-1300</a:t>
                      </a: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18.6</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23.8</a:t>
                      </a: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8.2</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0.9</a:t>
                      </a:r>
                      <a:endParaRPr kumimoji="0" lang="en-US" altLang="zh-CN" sz="13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7622">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韩国（低税）</a:t>
                      </a:r>
                      <a:endParaRPr kumimoji="0" lang="zh-CN" altLang="en-US"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智利（高税）</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1400-1700</a:t>
                      </a:r>
                      <a:endParaRPr kumimoji="0" lang="en-US" altLang="zh-CN" sz="15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14.2</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22.4</a:t>
                      </a:r>
                      <a:endParaRPr kumimoji="0" lang="en-US" altLang="zh-CN" sz="13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10.3</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a:t>
                      </a:r>
                      <a:endParaRPr kumimoji="0" lang="en-US" altLang="zh-CN" sz="13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87622">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巴西（低税）</a:t>
                      </a:r>
                      <a:endParaRPr kumimoji="0" lang="zh-CN" altLang="en-US"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乌拉圭（高税）</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1700-2100</a:t>
                      </a: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17.1</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8.7</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a:t>
                      </a:r>
                      <a:endParaRPr kumimoji="0" lang="en-US" altLang="zh-CN" sz="13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87622">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新加坡（低税）</a:t>
                      </a:r>
                      <a:endParaRPr kumimoji="0" lang="zh-CN" altLang="en-US"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新西兰（高税）</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1800-5950</a:t>
                      </a:r>
                      <a:endParaRPr kumimoji="0" lang="en-US" altLang="zh-CN" sz="15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16.2</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27.5</a:t>
                      </a:r>
                      <a:endParaRPr kumimoji="0" lang="en-US" altLang="zh-CN" sz="13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8.3</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2.4</a:t>
                      </a:r>
                      <a:endParaRPr kumimoji="0" lang="en-US" altLang="zh-CN" sz="13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87622">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西班牙（低税）</a:t>
                      </a:r>
                      <a:endParaRPr kumimoji="0" lang="zh-CN" altLang="en-US"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英国（高税）</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4300-6350</a:t>
                      </a: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19.1</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30.4</a:t>
                      </a: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4.4</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2.1</a:t>
                      </a:r>
                      <a:endParaRPr kumimoji="0" lang="en-US" altLang="zh-CN" sz="13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87622">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日本（低税）</a:t>
                      </a:r>
                      <a:endParaRPr kumimoji="0" lang="zh-CN" altLang="en-US"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瑞典（高税）</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8800-11950</a:t>
                      </a: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10.6</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30.9</a:t>
                      </a:r>
                      <a:endParaRPr kumimoji="0" lang="en-US" altLang="zh-CN" sz="13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3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5.2</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13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endParaRPr kumimoji="0" lang="en-US" altLang="zh-CN" sz="13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693" marB="4569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noFill/>
        </p:spPr>
        <p:txBody>
          <a:bodyPr/>
          <a:lstStyle/>
          <a:p>
            <a:pPr eaLnBrk="1" hangingPunct="1"/>
            <a:r>
              <a:rPr lang="zh-CN" altLang="en-US" sz="3800" b="1" smtClean="0"/>
              <a:t>三、减税政策评析</a:t>
            </a:r>
          </a:p>
        </p:txBody>
      </p:sp>
      <p:sp>
        <p:nvSpPr>
          <p:cNvPr id="55299" name="Rectangle 3"/>
          <p:cNvSpPr>
            <a:spLocks noGrp="1" noChangeArrowheads="1"/>
          </p:cNvSpPr>
          <p:nvPr>
            <p:ph idx="1"/>
          </p:nvPr>
        </p:nvSpPr>
        <p:spPr>
          <a:xfrm>
            <a:off x="468313" y="1412875"/>
            <a:ext cx="8066087" cy="4824413"/>
          </a:xfrm>
        </p:spPr>
        <p:txBody>
          <a:bodyPr/>
          <a:lstStyle/>
          <a:p>
            <a:pPr eaLnBrk="1" hangingPunct="1"/>
            <a:r>
              <a:rPr lang="zh-CN" altLang="en-US" sz="3400" b="1" smtClean="0"/>
              <a:t>（一）对供给学派税收主张的理论争议</a:t>
            </a:r>
            <a:endParaRPr lang="en-US" altLang="zh-CN" sz="3400" b="1" smtClean="0"/>
          </a:p>
          <a:p>
            <a:pPr lvl="1" eaLnBrk="1" hangingPunct="1"/>
            <a:r>
              <a:rPr lang="zh-CN" altLang="en-US" sz="3000" b="1" smtClean="0"/>
              <a:t>收入效应和替代效应的双重作用</a:t>
            </a:r>
            <a:endParaRPr lang="en-US" altLang="zh-CN" sz="3000" b="1" smtClean="0"/>
          </a:p>
          <a:p>
            <a:pPr eaLnBrk="1" hangingPunct="1"/>
            <a:r>
              <a:rPr lang="zh-CN" altLang="en-US" sz="3400" b="1" smtClean="0"/>
              <a:t>（二）美国减税政策实例分析 </a:t>
            </a:r>
            <a:r>
              <a:rPr lang="en-US" altLang="zh-CN" sz="3400" b="1" smtClean="0"/>
              <a:t>——</a:t>
            </a:r>
            <a:r>
              <a:rPr lang="zh-CN" altLang="en-US" sz="3400" b="1" smtClean="0"/>
              <a:t>减税政策并非万能的灵丹妙药</a:t>
            </a:r>
            <a:endParaRPr lang="en-US" altLang="zh-CN" sz="3400" b="1" smtClean="0"/>
          </a:p>
          <a:p>
            <a:pPr lvl="1" eaLnBrk="1" hangingPunct="1"/>
            <a:r>
              <a:rPr lang="zh-CN" altLang="en-US" sz="3000" b="1" smtClean="0"/>
              <a:t>罗斯福新政</a:t>
            </a:r>
            <a:endParaRPr lang="en-US" altLang="zh-CN" sz="3000" b="1" smtClean="0"/>
          </a:p>
          <a:p>
            <a:pPr lvl="1" eaLnBrk="1" hangingPunct="1"/>
            <a:r>
              <a:rPr lang="zh-CN" altLang="en-US" sz="3000" b="1" smtClean="0"/>
              <a:t>肯尼基</a:t>
            </a:r>
            <a:r>
              <a:rPr lang="en-US" altLang="zh-CN" sz="3000" b="1" smtClean="0"/>
              <a:t>—</a:t>
            </a:r>
            <a:r>
              <a:rPr lang="zh-CN" altLang="en-US" sz="3000" b="1" smtClean="0"/>
              <a:t>约翰逊的减税政策</a:t>
            </a:r>
            <a:endParaRPr lang="en-US" altLang="zh-CN" sz="3000" b="1" smtClean="0"/>
          </a:p>
          <a:p>
            <a:pPr lvl="1" eaLnBrk="1" hangingPunct="1"/>
            <a:r>
              <a:rPr lang="zh-CN" altLang="en-US" sz="3000" b="1" smtClean="0"/>
              <a:t>里根与</a:t>
            </a:r>
            <a:r>
              <a:rPr lang="en-US" altLang="zh-CN" sz="3000" b="1" smtClean="0"/>
              <a:t>《</a:t>
            </a:r>
            <a:r>
              <a:rPr lang="zh-CN" altLang="en-US" sz="3000" b="1" smtClean="0"/>
              <a:t>经济复兴税法</a:t>
            </a:r>
            <a:r>
              <a:rPr lang="en-US" altLang="zh-CN" sz="3000" b="1" smtClean="0"/>
              <a:t>》</a:t>
            </a:r>
            <a:endParaRPr lang="zh-CN" altLang="en-US" sz="3000" b="1" smtClean="0"/>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r>
              <a:rPr lang="zh-CN" altLang="en-US" sz="3600" b="1" smtClean="0"/>
              <a:t>（一）对供给学派税收主张的理论争议</a:t>
            </a:r>
            <a:endParaRPr lang="zh-CN" altLang="en-US" sz="3600" smtClean="0"/>
          </a:p>
        </p:txBody>
      </p:sp>
      <p:sp>
        <p:nvSpPr>
          <p:cNvPr id="3" name="内容占位符 2"/>
          <p:cNvSpPr>
            <a:spLocks noGrp="1"/>
          </p:cNvSpPr>
          <p:nvPr>
            <p:ph idx="1"/>
          </p:nvPr>
        </p:nvSpPr>
        <p:spPr/>
        <p:txBody>
          <a:bodyPr/>
          <a:lstStyle/>
          <a:p>
            <a:pPr eaLnBrk="1" hangingPunct="1"/>
            <a:r>
              <a:rPr lang="zh-CN" altLang="en-US" sz="3400" b="1" smtClean="0"/>
              <a:t>收入效应和替代效应的双重作用</a:t>
            </a:r>
            <a:endParaRPr lang="en-US" altLang="zh-CN" sz="3400" b="1" smtClean="0"/>
          </a:p>
          <a:p>
            <a:pPr eaLnBrk="1" hangingPunct="1"/>
            <a:r>
              <a:rPr lang="zh-CN" altLang="en-US" sz="3400" b="1" smtClean="0"/>
              <a:t>凯恩斯主义减税与供给学派减税异同</a:t>
            </a:r>
          </a:p>
          <a:p>
            <a:endParaRPr lang="zh-CN" altLang="en-US" smtClean="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p:txBody>
          <a:bodyPr/>
          <a:lstStyle/>
          <a:p>
            <a:r>
              <a:rPr lang="zh-CN" altLang="en-US" sz="4400" b="1" smtClean="0"/>
              <a:t>（二）美国减税政策实例分析</a:t>
            </a:r>
            <a:endParaRPr lang="zh-CN" altLang="en-US" smtClean="0"/>
          </a:p>
        </p:txBody>
      </p:sp>
      <p:sp>
        <p:nvSpPr>
          <p:cNvPr id="3" name="内容占位符 2"/>
          <p:cNvSpPr>
            <a:spLocks noGrp="1"/>
          </p:cNvSpPr>
          <p:nvPr>
            <p:ph idx="1"/>
          </p:nvPr>
        </p:nvSpPr>
        <p:spPr>
          <a:xfrm>
            <a:off x="468313" y="1412875"/>
            <a:ext cx="8066087" cy="4606925"/>
          </a:xfrm>
        </p:spPr>
        <p:txBody>
          <a:bodyPr/>
          <a:lstStyle/>
          <a:p>
            <a:pPr eaLnBrk="1" hangingPunct="1"/>
            <a:r>
              <a:rPr lang="zh-CN" altLang="en-US" sz="3400" b="1" smtClean="0"/>
              <a:t>罗斯福新政</a:t>
            </a:r>
            <a:endParaRPr lang="en-US" altLang="zh-CN" sz="3400" b="1" smtClean="0"/>
          </a:p>
          <a:p>
            <a:pPr eaLnBrk="1" hangingPunct="1"/>
            <a:r>
              <a:rPr lang="zh-CN" altLang="en-US" sz="3400" b="1" smtClean="0"/>
              <a:t>肯尼基</a:t>
            </a:r>
            <a:r>
              <a:rPr lang="en-US" altLang="zh-CN" sz="3400" b="1" smtClean="0"/>
              <a:t>—</a:t>
            </a:r>
            <a:r>
              <a:rPr lang="zh-CN" altLang="en-US" sz="3400" b="1" smtClean="0"/>
              <a:t>约翰逊的减税政策</a:t>
            </a:r>
            <a:endParaRPr lang="en-US" altLang="zh-CN" sz="3400" b="1" smtClean="0"/>
          </a:p>
          <a:p>
            <a:pPr eaLnBrk="1" hangingPunct="1"/>
            <a:r>
              <a:rPr lang="zh-CN" altLang="en-US" sz="3400" b="1" smtClean="0"/>
              <a:t>里根与</a:t>
            </a:r>
            <a:r>
              <a:rPr lang="en-US" altLang="zh-CN" sz="3400" b="1" smtClean="0"/>
              <a:t>《</a:t>
            </a:r>
            <a:r>
              <a:rPr lang="zh-CN" altLang="en-US" sz="3400" b="1" smtClean="0"/>
              <a:t>经济复兴税法</a:t>
            </a:r>
            <a:r>
              <a:rPr lang="en-US" altLang="zh-CN" sz="3400" b="1" smtClean="0"/>
              <a:t>》</a:t>
            </a:r>
            <a:endParaRPr lang="zh-CN" altLang="en-US" sz="3400" b="1" smtClean="0"/>
          </a:p>
          <a:p>
            <a:endParaRPr lang="zh-CN" altLang="en-US" smtClean="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noFill/>
        </p:spPr>
        <p:txBody>
          <a:bodyPr/>
          <a:lstStyle/>
          <a:p>
            <a:pPr eaLnBrk="1" hangingPunct="1"/>
            <a:r>
              <a:rPr lang="zh-CN" altLang="en-US" smtClean="0">
                <a:latin typeface="宋体" panose="02010600030101010101" pitchFamily="2" charset="-122"/>
              </a:rPr>
              <a:t>本章小结</a:t>
            </a:r>
          </a:p>
        </p:txBody>
      </p:sp>
      <p:sp>
        <p:nvSpPr>
          <p:cNvPr id="58371" name="Rectangle 3"/>
          <p:cNvSpPr>
            <a:spLocks noGrp="1" noChangeArrowheads="1"/>
          </p:cNvSpPr>
          <p:nvPr>
            <p:ph idx="1"/>
          </p:nvPr>
        </p:nvSpPr>
        <p:spPr>
          <a:xfrm>
            <a:off x="611188" y="1557338"/>
            <a:ext cx="7924800" cy="4419600"/>
          </a:xfrm>
        </p:spPr>
        <p:txBody>
          <a:bodyPr/>
          <a:lstStyle/>
          <a:p>
            <a:pPr eaLnBrk="1" hangingPunct="1"/>
            <a:r>
              <a:rPr lang="en-US" altLang="zh-CN" b="1" smtClean="0"/>
              <a:t>【</a:t>
            </a:r>
            <a:r>
              <a:rPr lang="zh-CN" altLang="en-US" b="1" smtClean="0"/>
              <a:t>关键词</a:t>
            </a:r>
            <a:r>
              <a:rPr lang="en-US" altLang="zh-CN" b="1" smtClean="0"/>
              <a:t>】</a:t>
            </a:r>
          </a:p>
          <a:p>
            <a:pPr lvl="1" eaLnBrk="1" hangingPunct="1">
              <a:buFont typeface="Wingdings" panose="05000000000000000000" pitchFamily="2" charset="2"/>
              <a:buNone/>
            </a:pPr>
            <a:r>
              <a:rPr lang="en-US" altLang="zh-CN" smtClean="0">
                <a:solidFill>
                  <a:srgbClr val="FFC000"/>
                </a:solidFill>
              </a:rPr>
              <a:t>     </a:t>
            </a:r>
            <a:r>
              <a:rPr lang="zh-CN" altLang="en-US" b="1" smtClean="0">
                <a:solidFill>
                  <a:srgbClr val="FFC000"/>
                </a:solidFill>
              </a:rPr>
              <a:t>税收的收入效应            </a:t>
            </a:r>
          </a:p>
          <a:p>
            <a:pPr lvl="1" eaLnBrk="1" hangingPunct="1">
              <a:buFont typeface="Wingdings" panose="05000000000000000000" pitchFamily="2" charset="2"/>
              <a:buNone/>
            </a:pPr>
            <a:r>
              <a:rPr lang="zh-CN" altLang="en-US" b="1" smtClean="0">
                <a:solidFill>
                  <a:srgbClr val="FFC000"/>
                </a:solidFill>
              </a:rPr>
              <a:t>     税收的替代效应 </a:t>
            </a:r>
          </a:p>
          <a:p>
            <a:pPr lvl="1" eaLnBrk="1" hangingPunct="1">
              <a:buFont typeface="Wingdings" panose="05000000000000000000" pitchFamily="2" charset="2"/>
              <a:buNone/>
            </a:pPr>
            <a:r>
              <a:rPr lang="zh-CN" altLang="en-US" b="1" smtClean="0"/>
              <a:t>     “拉弗曲线”</a:t>
            </a:r>
            <a:r>
              <a:rPr lang="zh-CN" altLang="en-US" smtClean="0"/>
              <a:t> </a:t>
            </a:r>
            <a:endParaRPr lang="zh-CN" altLang="en-US" b="1" smtClean="0"/>
          </a:p>
          <a:p>
            <a:pPr eaLnBrk="1" hangingPunct="1">
              <a:buFont typeface="Wingdings" panose="05000000000000000000" pitchFamily="2" charset="2"/>
              <a:buNone/>
            </a:pPr>
            <a:endParaRPr lang="en-US" altLang="zh-CN" smtClean="0"/>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noFill/>
        </p:spPr>
        <p:txBody>
          <a:bodyPr/>
          <a:lstStyle/>
          <a:p>
            <a:pPr eaLnBrk="1" hangingPunct="1"/>
            <a:r>
              <a:rPr lang="en-US" altLang="zh-CN" sz="3800" b="1" smtClean="0"/>
              <a:t>【</a:t>
            </a:r>
            <a:r>
              <a:rPr lang="zh-CN" altLang="en-US" sz="3800" b="1" smtClean="0"/>
              <a:t>复习与思考</a:t>
            </a:r>
            <a:r>
              <a:rPr lang="en-US" altLang="zh-CN" sz="3800" b="1" smtClean="0"/>
              <a:t>】</a:t>
            </a:r>
          </a:p>
        </p:txBody>
      </p:sp>
      <p:sp>
        <p:nvSpPr>
          <p:cNvPr id="59395" name="Rectangle 3"/>
          <p:cNvSpPr>
            <a:spLocks noGrp="1" noChangeArrowheads="1"/>
          </p:cNvSpPr>
          <p:nvPr>
            <p:ph idx="1"/>
          </p:nvPr>
        </p:nvSpPr>
        <p:spPr>
          <a:xfrm>
            <a:off x="395288" y="1412875"/>
            <a:ext cx="8229600" cy="4733925"/>
          </a:xfrm>
        </p:spPr>
        <p:txBody>
          <a:bodyPr/>
          <a:lstStyle/>
          <a:p>
            <a:pPr eaLnBrk="1" hangingPunct="1"/>
            <a:r>
              <a:rPr lang="en-US" altLang="zh-CN" b="1" smtClean="0"/>
              <a:t>1</a:t>
            </a:r>
            <a:r>
              <a:rPr lang="zh-CN" altLang="en-US" b="1" smtClean="0"/>
              <a:t>、试述税收的收入效应。</a:t>
            </a:r>
          </a:p>
          <a:p>
            <a:pPr eaLnBrk="1" hangingPunct="1"/>
            <a:r>
              <a:rPr lang="en-US" altLang="zh-CN" b="1" smtClean="0"/>
              <a:t>2</a:t>
            </a:r>
            <a:r>
              <a:rPr lang="zh-CN" altLang="en-US" b="1" smtClean="0"/>
              <a:t>、试述税收的替代效应。</a:t>
            </a:r>
          </a:p>
          <a:p>
            <a:pPr eaLnBrk="1" hangingPunct="1"/>
            <a:r>
              <a:rPr lang="en-US" altLang="zh-CN" b="1" smtClean="0">
                <a:solidFill>
                  <a:schemeClr val="hlink"/>
                </a:solidFill>
              </a:rPr>
              <a:t>3</a:t>
            </a:r>
            <a:r>
              <a:rPr lang="zh-CN" altLang="en-US" b="1" smtClean="0">
                <a:solidFill>
                  <a:schemeClr val="hlink"/>
                </a:solidFill>
              </a:rPr>
              <a:t>、试述税收对劳动供给的影响。</a:t>
            </a:r>
          </a:p>
          <a:p>
            <a:pPr eaLnBrk="1" hangingPunct="1"/>
            <a:r>
              <a:rPr lang="en-US" altLang="zh-CN" b="1" smtClean="0">
                <a:solidFill>
                  <a:schemeClr val="hlink"/>
                </a:solidFill>
              </a:rPr>
              <a:t>4</a:t>
            </a:r>
            <a:r>
              <a:rPr lang="zh-CN" altLang="en-US" b="1" smtClean="0">
                <a:solidFill>
                  <a:schemeClr val="hlink"/>
                </a:solidFill>
              </a:rPr>
              <a:t>、试述税收对居民储蓄的影响。</a:t>
            </a:r>
          </a:p>
          <a:p>
            <a:pPr eaLnBrk="1" hangingPunct="1"/>
            <a:r>
              <a:rPr lang="en-US" altLang="zh-CN" b="1" smtClean="0"/>
              <a:t>5</a:t>
            </a:r>
            <a:r>
              <a:rPr lang="zh-CN" altLang="en-US" b="1" smtClean="0"/>
              <a:t>、试述税收对投资的影响。</a:t>
            </a:r>
          </a:p>
          <a:p>
            <a:pPr eaLnBrk="1" hangingPunct="1"/>
            <a:r>
              <a:rPr lang="en-US" altLang="zh-CN" b="1" smtClean="0"/>
              <a:t>6</a:t>
            </a:r>
            <a:r>
              <a:rPr lang="zh-CN" altLang="en-US" b="1" smtClean="0"/>
              <a:t>、试述供给学派的税收观点。</a:t>
            </a:r>
          </a:p>
          <a:p>
            <a:pPr eaLnBrk="1" hangingPunct="1"/>
            <a:r>
              <a:rPr lang="en-US" altLang="zh-CN" b="1" smtClean="0">
                <a:solidFill>
                  <a:schemeClr val="hlink"/>
                </a:solidFill>
              </a:rPr>
              <a:t>7</a:t>
            </a:r>
            <a:r>
              <a:rPr lang="zh-CN" altLang="en-US" b="1" smtClean="0">
                <a:solidFill>
                  <a:schemeClr val="hlink"/>
                </a:solidFill>
              </a:rPr>
              <a:t>、说明“拉弗曲线”及其说明的原理。</a:t>
            </a:r>
          </a:p>
          <a:p>
            <a:pPr eaLnBrk="1" hangingPunct="1"/>
            <a:r>
              <a:rPr lang="en-US" altLang="zh-CN" b="1" smtClean="0"/>
              <a:t>8</a:t>
            </a:r>
            <a:r>
              <a:rPr lang="zh-CN" altLang="en-US" b="1" smtClean="0"/>
              <a:t>、评析减税政策。</a:t>
            </a: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Radial">
  <a:themeElements>
    <a:clrScheme name="Radial 8">
      <a:dk1>
        <a:srgbClr val="BECBD8"/>
      </a:dk1>
      <a:lt1>
        <a:srgbClr val="FFFFFF"/>
      </a:lt1>
      <a:dk2>
        <a:srgbClr val="2B335B"/>
      </a:dk2>
      <a:lt2>
        <a:srgbClr val="FFFFFF"/>
      </a:lt2>
      <a:accent1>
        <a:srgbClr val="0099CC"/>
      </a:accent1>
      <a:accent2>
        <a:srgbClr val="B5DBE3"/>
      </a:accent2>
      <a:accent3>
        <a:srgbClr val="ACADB5"/>
      </a:accent3>
      <a:accent4>
        <a:srgbClr val="DADADA"/>
      </a:accent4>
      <a:accent5>
        <a:srgbClr val="AACAE2"/>
      </a:accent5>
      <a:accent6>
        <a:srgbClr val="A4C6CE"/>
      </a:accent6>
      <a:hlink>
        <a:srgbClr val="FFCC00"/>
      </a:hlink>
      <a:folHlink>
        <a:srgbClr val="58648C"/>
      </a:folHlink>
    </a:clrScheme>
    <a:fontScheme name="Radia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rgbClr val="00000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rgbClr val="00000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Radial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clrMap bg1="lt1" tx1="dk1" bg2="lt2" tx2="dk2" accent1="accent1" accent2="accent2" accent3="accent3" accent4="accent4" accent5="accent5" accent6="accent6" hlink="hlink" folHlink="folHlink"/>
    </a:extraClrScheme>
    <a:extraClrScheme>
      <a:clrScheme name="Radial 2">
        <a:dk1>
          <a:srgbClr val="000000"/>
        </a:dk1>
        <a:lt1>
          <a:srgbClr val="FFFFFF"/>
        </a:lt1>
        <a:dk2>
          <a:srgbClr val="FFFFFF"/>
        </a:dk2>
        <a:lt2>
          <a:srgbClr val="817F3F"/>
        </a:lt2>
        <a:accent1>
          <a:srgbClr val="FFCC00"/>
        </a:accent1>
        <a:accent2>
          <a:srgbClr val="CC9900"/>
        </a:accent2>
        <a:accent3>
          <a:srgbClr val="FFFFFF"/>
        </a:accent3>
        <a:accent4>
          <a:srgbClr val="000000"/>
        </a:accent4>
        <a:accent5>
          <a:srgbClr val="FFE2AA"/>
        </a:accent5>
        <a:accent6>
          <a:srgbClr val="B98A00"/>
        </a:accent6>
        <a:hlink>
          <a:srgbClr val="996666"/>
        </a:hlink>
        <a:folHlink>
          <a:srgbClr val="C94503"/>
        </a:folHlink>
      </a:clrScheme>
      <a:clrMap bg1="lt1" tx1="dk1" bg2="lt2" tx2="dk2" accent1="accent1" accent2="accent2" accent3="accent3" accent4="accent4" accent5="accent5" accent6="accent6" hlink="hlink" folHlink="folHlink"/>
    </a:extraClrScheme>
    <a:extraClrScheme>
      <a:clrScheme name="Radial 3">
        <a:dk1>
          <a:srgbClr val="CC6600"/>
        </a:dk1>
        <a:lt1>
          <a:srgbClr val="FFFFFF"/>
        </a:lt1>
        <a:dk2>
          <a:srgbClr val="800000"/>
        </a:dk2>
        <a:lt2>
          <a:srgbClr val="FFFFFF"/>
        </a:lt2>
        <a:accent1>
          <a:srgbClr val="FF6600"/>
        </a:accent1>
        <a:accent2>
          <a:srgbClr val="33CCCC"/>
        </a:accent2>
        <a:accent3>
          <a:srgbClr val="C0AAAA"/>
        </a:accent3>
        <a:accent4>
          <a:srgbClr val="DADADA"/>
        </a:accent4>
        <a:accent5>
          <a:srgbClr val="FFB8AA"/>
        </a:accent5>
        <a:accent6>
          <a:srgbClr val="2DB9B9"/>
        </a:accent6>
        <a:hlink>
          <a:srgbClr val="99FF33"/>
        </a:hlink>
        <a:folHlink>
          <a:srgbClr val="CC3300"/>
        </a:folHlink>
      </a:clrScheme>
      <a:clrMap bg1="dk2" tx1="lt1" bg2="dk1" tx2="lt2" accent1="accent1" accent2="accent2" accent3="accent3" accent4="accent4" accent5="accent5" accent6="accent6" hlink="hlink" folHlink="folHlink"/>
    </a:extraClrScheme>
    <a:extraClrScheme>
      <a:clrScheme name="Radial 4">
        <a:dk1>
          <a:srgbClr val="993300"/>
        </a:dk1>
        <a:lt1>
          <a:srgbClr val="FFFFFF"/>
        </a:lt1>
        <a:dk2>
          <a:srgbClr val="431A01"/>
        </a:dk2>
        <a:lt2>
          <a:srgbClr val="FFFFFF"/>
        </a:lt2>
        <a:accent1>
          <a:srgbClr val="FFCC00"/>
        </a:accent1>
        <a:accent2>
          <a:srgbClr val="FF9966"/>
        </a:accent2>
        <a:accent3>
          <a:srgbClr val="B0ABAA"/>
        </a:accent3>
        <a:accent4>
          <a:srgbClr val="DADADA"/>
        </a:accent4>
        <a:accent5>
          <a:srgbClr val="FFE2AA"/>
        </a:accent5>
        <a:accent6>
          <a:srgbClr val="E78A5C"/>
        </a:accent6>
        <a:hlink>
          <a:srgbClr val="FF6600"/>
        </a:hlink>
        <a:folHlink>
          <a:srgbClr val="CC3300"/>
        </a:folHlink>
      </a:clrScheme>
      <a:clrMap bg1="dk2" tx1="lt1" bg2="dk1" tx2="lt2" accent1="accent1" accent2="accent2" accent3="accent3" accent4="accent4" accent5="accent5" accent6="accent6" hlink="hlink" folHlink="folHlink"/>
    </a:extraClrScheme>
    <a:extraClrScheme>
      <a:clrScheme name="Radial 5">
        <a:dk1>
          <a:srgbClr val="75878B"/>
        </a:dk1>
        <a:lt1>
          <a:srgbClr val="FFFFFF"/>
        </a:lt1>
        <a:dk2>
          <a:srgbClr val="260000"/>
        </a:dk2>
        <a:lt2>
          <a:srgbClr val="FFFFFF"/>
        </a:lt2>
        <a:accent1>
          <a:srgbClr val="0099CC"/>
        </a:accent1>
        <a:accent2>
          <a:srgbClr val="FF3300"/>
        </a:accent2>
        <a:accent3>
          <a:srgbClr val="ACAAAA"/>
        </a:accent3>
        <a:accent4>
          <a:srgbClr val="DADADA"/>
        </a:accent4>
        <a:accent5>
          <a:srgbClr val="AACAE2"/>
        </a:accent5>
        <a:accent6>
          <a:srgbClr val="E72D00"/>
        </a:accent6>
        <a:hlink>
          <a:srgbClr val="FFCC00"/>
        </a:hlink>
        <a:folHlink>
          <a:srgbClr val="CC0000"/>
        </a:folHlink>
      </a:clrScheme>
      <a:clrMap bg1="dk2" tx1="lt1" bg2="dk1" tx2="lt2" accent1="accent1" accent2="accent2" accent3="accent3" accent4="accent4" accent5="accent5" accent6="accent6" hlink="hlink" folHlink="folHlink"/>
    </a:extraClrScheme>
    <a:extraClrScheme>
      <a:clrScheme name="Radial 6">
        <a:dk1>
          <a:srgbClr val="666699"/>
        </a:dk1>
        <a:lt1>
          <a:srgbClr val="FFFFFF"/>
        </a:lt1>
        <a:dk2>
          <a:srgbClr val="000000"/>
        </a:dk2>
        <a:lt2>
          <a:srgbClr val="FFFFFF"/>
        </a:lt2>
        <a:accent1>
          <a:srgbClr val="9966FF"/>
        </a:accent1>
        <a:accent2>
          <a:srgbClr val="99CCFF"/>
        </a:accent2>
        <a:accent3>
          <a:srgbClr val="AAAAAA"/>
        </a:accent3>
        <a:accent4>
          <a:srgbClr val="DADADA"/>
        </a:accent4>
        <a:accent5>
          <a:srgbClr val="CAB8FF"/>
        </a:accent5>
        <a:accent6>
          <a:srgbClr val="8AB9E7"/>
        </a:accent6>
        <a:hlink>
          <a:srgbClr val="FFFFCC"/>
        </a:hlink>
        <a:folHlink>
          <a:srgbClr val="6600CC"/>
        </a:folHlink>
      </a:clrScheme>
      <a:clrMap bg1="dk2" tx1="lt1" bg2="dk1" tx2="lt2" accent1="accent1" accent2="accent2" accent3="accent3" accent4="accent4" accent5="accent5" accent6="accent6" hlink="hlink" folHlink="folHlink"/>
    </a:extraClrScheme>
    <a:extraClrScheme>
      <a:clrScheme name="Radial 7">
        <a:dk1>
          <a:srgbClr val="666699"/>
        </a:dk1>
        <a:lt1>
          <a:srgbClr val="FFFFFF"/>
        </a:lt1>
        <a:dk2>
          <a:srgbClr val="2A2A40"/>
        </a:dk2>
        <a:lt2>
          <a:srgbClr val="FFFFFF"/>
        </a:lt2>
        <a:accent1>
          <a:srgbClr val="006699"/>
        </a:accent1>
        <a:accent2>
          <a:srgbClr val="CC9900"/>
        </a:accent2>
        <a:accent3>
          <a:srgbClr val="ACACAF"/>
        </a:accent3>
        <a:accent4>
          <a:srgbClr val="DADADA"/>
        </a:accent4>
        <a:accent5>
          <a:srgbClr val="AAB8CA"/>
        </a:accent5>
        <a:accent6>
          <a:srgbClr val="B98A00"/>
        </a:accent6>
        <a:hlink>
          <a:srgbClr val="CC6600"/>
        </a:hlink>
        <a:folHlink>
          <a:srgbClr val="6C948A"/>
        </a:folHlink>
      </a:clrScheme>
      <a:clrMap bg1="dk2" tx1="lt1" bg2="dk1" tx2="lt2" accent1="accent1" accent2="accent2" accent3="accent3" accent4="accent4" accent5="accent5" accent6="accent6" hlink="hlink" folHlink="folHlink"/>
    </a:extraClrScheme>
    <a:extraClrScheme>
      <a:clrScheme name="Radial 8">
        <a:dk1>
          <a:srgbClr val="BECBD8"/>
        </a:dk1>
        <a:lt1>
          <a:srgbClr val="FFFFFF"/>
        </a:lt1>
        <a:dk2>
          <a:srgbClr val="2B335B"/>
        </a:dk2>
        <a:lt2>
          <a:srgbClr val="FFFFFF"/>
        </a:lt2>
        <a:accent1>
          <a:srgbClr val="0099CC"/>
        </a:accent1>
        <a:accent2>
          <a:srgbClr val="B5DBE3"/>
        </a:accent2>
        <a:accent3>
          <a:srgbClr val="ACADB5"/>
        </a:accent3>
        <a:accent4>
          <a:srgbClr val="DADADA"/>
        </a:accent4>
        <a:accent5>
          <a:srgbClr val="AACAE2"/>
        </a:accent5>
        <a:accent6>
          <a:srgbClr val="A4C6CE"/>
        </a:accent6>
        <a:hlink>
          <a:srgbClr val="FFCC00"/>
        </a:hlink>
        <a:folHlink>
          <a:srgbClr val="58648C"/>
        </a:folHlink>
      </a:clrScheme>
      <a:clrMap bg1="dk2" tx1="lt1" bg2="dk1" tx2="lt2" accent1="accent1" accent2="accent2" accent3="accent3" accent4="accent4" accent5="accent5" accent6="accent6" hlink="hlink" folHlink="folHlink"/>
    </a:extraClrScheme>
    <a:extraClrScheme>
      <a:clrScheme name="Radial 9">
        <a:dk1>
          <a:srgbClr val="3333FF"/>
        </a:dk1>
        <a:lt1>
          <a:srgbClr val="FFFFFF"/>
        </a:lt1>
        <a:dk2>
          <a:srgbClr val="000099"/>
        </a:dk2>
        <a:lt2>
          <a:srgbClr val="FFFFFF"/>
        </a:lt2>
        <a:accent1>
          <a:srgbClr val="339966"/>
        </a:accent1>
        <a:accent2>
          <a:srgbClr val="9999FF"/>
        </a:accent2>
        <a:accent3>
          <a:srgbClr val="AAAACA"/>
        </a:accent3>
        <a:accent4>
          <a:srgbClr val="DADADA"/>
        </a:accent4>
        <a:accent5>
          <a:srgbClr val="ADCAB8"/>
        </a:accent5>
        <a:accent6>
          <a:srgbClr val="8A8AE7"/>
        </a:accent6>
        <a:hlink>
          <a:srgbClr val="FFFF99"/>
        </a:hlink>
        <a:folHlink>
          <a:srgbClr val="17A0D1"/>
        </a:folHlink>
      </a:clrScheme>
      <a:clrMap bg1="dk2" tx1="lt1" bg2="dk1" tx2="lt2" accent1="accent1" accent2="accent2" accent3="accent3" accent4="accent4" accent5="accent5" accent6="accent6" hlink="hlink" folHlink="folHlink"/>
    </a:extraClrScheme>
    <a:extraClrScheme>
      <a:clrScheme name="Radial 10">
        <a:dk1>
          <a:srgbClr val="808000"/>
        </a:dk1>
        <a:lt1>
          <a:srgbClr val="FFFFFF"/>
        </a:lt1>
        <a:dk2>
          <a:srgbClr val="354418"/>
        </a:dk2>
        <a:lt2>
          <a:srgbClr val="FFFFFF"/>
        </a:lt2>
        <a:accent1>
          <a:srgbClr val="60897C"/>
        </a:accent1>
        <a:accent2>
          <a:srgbClr val="99CC00"/>
        </a:accent2>
        <a:accent3>
          <a:srgbClr val="AEB0AB"/>
        </a:accent3>
        <a:accent4>
          <a:srgbClr val="DADADA"/>
        </a:accent4>
        <a:accent5>
          <a:srgbClr val="B6C4BF"/>
        </a:accent5>
        <a:accent6>
          <a:srgbClr val="8AB900"/>
        </a:accent6>
        <a:hlink>
          <a:srgbClr val="CCCC00"/>
        </a:hlink>
        <a:folHlink>
          <a:srgbClr val="6699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2989</TotalTime>
  <Words>2894</Words>
  <Application>Microsoft Office PowerPoint</Application>
  <PresentationFormat>全屏显示(4:3)</PresentationFormat>
  <Paragraphs>369</Paragraphs>
  <Slides>54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54</vt:i4>
      </vt:variant>
    </vt:vector>
  </HeadingPairs>
  <TitlesOfParts>
    <vt:vector size="62" baseType="lpstr">
      <vt:lpstr>Arial</vt:lpstr>
      <vt:lpstr>宋体</vt:lpstr>
      <vt:lpstr>Wingdings</vt:lpstr>
      <vt:lpstr>Times New Roman</vt:lpstr>
      <vt:lpstr>Arial Black</vt:lpstr>
      <vt:lpstr>幼圆</vt:lpstr>
      <vt:lpstr>华文新魏</vt:lpstr>
      <vt:lpstr>Radial</vt:lpstr>
      <vt:lpstr>                          财政学</vt:lpstr>
      <vt:lpstr>                          第九章</vt:lpstr>
      <vt:lpstr>PowerPoint 演示文稿</vt:lpstr>
      <vt:lpstr>第九章 税收的经济效应</vt:lpstr>
      <vt:lpstr>第一节  税收的经济效应作用机制</vt:lpstr>
      <vt:lpstr>PowerPoint 演示文稿</vt:lpstr>
      <vt:lpstr>一、税收的收入效应</vt:lpstr>
      <vt:lpstr>PowerPoint 演示文稿</vt:lpstr>
      <vt:lpstr>二、税收的替代效应</vt:lpstr>
      <vt:lpstr>第二节 税收的经济影响</vt:lpstr>
      <vt:lpstr>一、税收对劳动供给的影响</vt:lpstr>
      <vt:lpstr>（一）税收对劳动供给的收入效应和替代效应分析</vt:lpstr>
      <vt:lpstr>PowerPoint 演示文稿</vt:lpstr>
      <vt:lpstr>PowerPoint 演示文稿</vt:lpstr>
      <vt:lpstr>PowerPoint 演示文稿</vt:lpstr>
      <vt:lpstr>收入效应大于替代效应</vt:lpstr>
      <vt:lpstr>收入效应小于替代效应</vt:lpstr>
      <vt:lpstr>（二）我国的实际情况</vt:lpstr>
      <vt:lpstr>二、税收对居民储蓄的影响</vt:lpstr>
      <vt:lpstr>（一）税收对居民储蓄的收入效应和替代效应</vt:lpstr>
      <vt:lpstr>PowerPoint 演示文稿</vt:lpstr>
      <vt:lpstr>（二）我国的实际情况</vt:lpstr>
      <vt:lpstr>2013年国家总储蓄率概览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三、税收对投资的影响</vt:lpstr>
      <vt:lpstr>（一）税收影响投资的原理</vt:lpstr>
      <vt:lpstr>（二）税收对投资的替代效应和收入效应分析</vt:lpstr>
      <vt:lpstr>征税对投资替代效应</vt:lpstr>
      <vt:lpstr>税收对投资的收入效应</vt:lpstr>
      <vt:lpstr>（三）税收对吸引国外直接投资的影响</vt:lpstr>
      <vt:lpstr>四、税收对个人收入分配的影响</vt:lpstr>
      <vt:lpstr>1、个人所得税是调节收入分配的最有力工具</vt:lpstr>
      <vt:lpstr>2、税收支出也是影响收入分配的重要工具</vt:lpstr>
      <vt:lpstr>3、社会保险税是实现收入再分配的良好手段</vt:lpstr>
      <vt:lpstr>4、所得税指数化是减轻通货膨胀的收入分配扭曲效应的一种方法</vt:lpstr>
      <vt:lpstr>第三节 税收与经济发展</vt:lpstr>
      <vt:lpstr>一、税收与经济发展关系的理论观点</vt:lpstr>
      <vt:lpstr>二、供给学派的税收观点</vt:lpstr>
      <vt:lpstr>（一）供给学派的三个基本命题</vt:lpstr>
      <vt:lpstr>PowerPoint 演示文稿</vt:lpstr>
      <vt:lpstr>拉弗曲线的经济含义 :</vt:lpstr>
      <vt:lpstr>（三）马斯顿的经验分析</vt:lpstr>
      <vt:lpstr>样本国家宏观税率与经济增长率的对比</vt:lpstr>
      <vt:lpstr>三、减税政策评析</vt:lpstr>
      <vt:lpstr>（一）对供给学派税收主张的理论争议</vt:lpstr>
      <vt:lpstr>（二）美国减税政策实例分析</vt:lpstr>
      <vt:lpstr>本章小结</vt:lpstr>
      <vt:lpstr>【复习与思考】</vt:lpstr>
    </vt:vector>
  </TitlesOfParts>
  <Company>MC 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财政学</dc:title>
  <dc:creator>MC SYSTEM</dc:creator>
  <cp:lastModifiedBy>LENOVO</cp:lastModifiedBy>
  <cp:revision>599</cp:revision>
  <dcterms:created xsi:type="dcterms:W3CDTF">2003-04-10T12:10:37Z</dcterms:created>
  <dcterms:modified xsi:type="dcterms:W3CDTF">2021-12-19T11:56:39Z</dcterms:modified>
</cp:coreProperties>
</file>